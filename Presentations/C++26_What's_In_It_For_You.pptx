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92"/>
  </p:notesMasterIdLst>
  <p:sldIdLst>
    <p:sldId id="725" r:id="rId3"/>
    <p:sldId id="338" r:id="rId4"/>
    <p:sldId id="691" r:id="rId5"/>
    <p:sldId id="596" r:id="rId6"/>
    <p:sldId id="746" r:id="rId7"/>
    <p:sldId id="774" r:id="rId8"/>
    <p:sldId id="775" r:id="rId9"/>
    <p:sldId id="787" r:id="rId10"/>
    <p:sldId id="730" r:id="rId11"/>
    <p:sldId id="741" r:id="rId12"/>
    <p:sldId id="743" r:id="rId13"/>
    <p:sldId id="744" r:id="rId14"/>
    <p:sldId id="778" r:id="rId15"/>
    <p:sldId id="742" r:id="rId16"/>
    <p:sldId id="776" r:id="rId17"/>
    <p:sldId id="777" r:id="rId18"/>
    <p:sldId id="260" r:id="rId19"/>
    <p:sldId id="259" r:id="rId20"/>
    <p:sldId id="733" r:id="rId21"/>
    <p:sldId id="266" r:id="rId22"/>
    <p:sldId id="738" r:id="rId23"/>
    <p:sldId id="269" r:id="rId24"/>
    <p:sldId id="261" r:id="rId25"/>
    <p:sldId id="740" r:id="rId26"/>
    <p:sldId id="263" r:id="rId27"/>
    <p:sldId id="739" r:id="rId28"/>
    <p:sldId id="262" r:id="rId29"/>
    <p:sldId id="734" r:id="rId30"/>
    <p:sldId id="735" r:id="rId31"/>
    <p:sldId id="729" r:id="rId32"/>
    <p:sldId id="267" r:id="rId33"/>
    <p:sldId id="257" r:id="rId34"/>
    <p:sldId id="731" r:id="rId35"/>
    <p:sldId id="732" r:id="rId36"/>
    <p:sldId id="258" r:id="rId37"/>
    <p:sldId id="265" r:id="rId38"/>
    <p:sldId id="268" r:id="rId39"/>
    <p:sldId id="736" r:id="rId40"/>
    <p:sldId id="737" r:id="rId41"/>
    <p:sldId id="785" r:id="rId42"/>
    <p:sldId id="598" r:id="rId43"/>
    <p:sldId id="753" r:id="rId44"/>
    <p:sldId id="780" r:id="rId45"/>
    <p:sldId id="771" r:id="rId46"/>
    <p:sldId id="781" r:id="rId47"/>
    <p:sldId id="782" r:id="rId48"/>
    <p:sldId id="783" r:id="rId49"/>
    <p:sldId id="772" r:id="rId50"/>
    <p:sldId id="277" r:id="rId51"/>
    <p:sldId id="764" r:id="rId52"/>
    <p:sldId id="276" r:id="rId53"/>
    <p:sldId id="784" r:id="rId54"/>
    <p:sldId id="767" r:id="rId55"/>
    <p:sldId id="768" r:id="rId56"/>
    <p:sldId id="279" r:id="rId57"/>
    <p:sldId id="761" r:id="rId58"/>
    <p:sldId id="290" r:id="rId59"/>
    <p:sldId id="762" r:id="rId60"/>
    <p:sldId id="749" r:id="rId61"/>
    <p:sldId id="273" r:id="rId62"/>
    <p:sldId id="759" r:id="rId63"/>
    <p:sldId id="284" r:id="rId64"/>
    <p:sldId id="760" r:id="rId65"/>
    <p:sldId id="748" r:id="rId66"/>
    <p:sldId id="285" r:id="rId67"/>
    <p:sldId id="756" r:id="rId68"/>
    <p:sldId id="757" r:id="rId69"/>
    <p:sldId id="286" r:id="rId70"/>
    <p:sldId id="750" r:id="rId71"/>
    <p:sldId id="751" r:id="rId72"/>
    <p:sldId id="779" r:id="rId73"/>
    <p:sldId id="763" r:id="rId74"/>
    <p:sldId id="289" r:id="rId75"/>
    <p:sldId id="281" r:id="rId76"/>
    <p:sldId id="282" r:id="rId77"/>
    <p:sldId id="752" r:id="rId78"/>
    <p:sldId id="755" r:id="rId79"/>
    <p:sldId id="770" r:id="rId80"/>
    <p:sldId id="280" r:id="rId81"/>
    <p:sldId id="754" r:id="rId82"/>
    <p:sldId id="765" r:id="rId83"/>
    <p:sldId id="287" r:id="rId84"/>
    <p:sldId id="288" r:id="rId85"/>
    <p:sldId id="275" r:id="rId86"/>
    <p:sldId id="766" r:id="rId87"/>
    <p:sldId id="786" r:id="rId88"/>
    <p:sldId id="788" r:id="rId89"/>
    <p:sldId id="789" r:id="rId90"/>
    <p:sldId id="270" r:id="rId91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521415D9-36F7-43E2-AB2F-B90AF26B5E84}">
      <p14:sectionLst xmlns:p14="http://schemas.microsoft.com/office/powerpoint/2010/main">
        <p14:section name="Default Section" id="{A1B8B23A-2FBB-44E1-BF37-7F327133B9AC}">
          <p14:sldIdLst>
            <p14:sldId id="725"/>
            <p14:sldId id="338"/>
            <p14:sldId id="691"/>
            <p14:sldId id="596"/>
            <p14:sldId id="746"/>
            <p14:sldId id="774"/>
            <p14:sldId id="775"/>
            <p14:sldId id="787"/>
            <p14:sldId id="730"/>
            <p14:sldId id="741"/>
            <p14:sldId id="743"/>
            <p14:sldId id="744"/>
            <p14:sldId id="778"/>
            <p14:sldId id="742"/>
            <p14:sldId id="776"/>
            <p14:sldId id="777"/>
            <p14:sldId id="260"/>
            <p14:sldId id="259"/>
            <p14:sldId id="733"/>
            <p14:sldId id="266"/>
            <p14:sldId id="738"/>
            <p14:sldId id="269"/>
            <p14:sldId id="261"/>
            <p14:sldId id="740"/>
            <p14:sldId id="263"/>
            <p14:sldId id="739"/>
            <p14:sldId id="262"/>
            <p14:sldId id="734"/>
            <p14:sldId id="735"/>
            <p14:sldId id="729"/>
            <p14:sldId id="267"/>
            <p14:sldId id="257"/>
            <p14:sldId id="731"/>
            <p14:sldId id="732"/>
            <p14:sldId id="258"/>
            <p14:sldId id="265"/>
            <p14:sldId id="268"/>
            <p14:sldId id="736"/>
            <p14:sldId id="737"/>
            <p14:sldId id="785"/>
            <p14:sldId id="598"/>
            <p14:sldId id="753"/>
            <p14:sldId id="780"/>
            <p14:sldId id="771"/>
            <p14:sldId id="781"/>
            <p14:sldId id="782"/>
            <p14:sldId id="783"/>
            <p14:sldId id="772"/>
            <p14:sldId id="277"/>
            <p14:sldId id="764"/>
            <p14:sldId id="276"/>
            <p14:sldId id="784"/>
            <p14:sldId id="767"/>
            <p14:sldId id="768"/>
            <p14:sldId id="279"/>
            <p14:sldId id="761"/>
            <p14:sldId id="290"/>
            <p14:sldId id="762"/>
            <p14:sldId id="749"/>
            <p14:sldId id="273"/>
            <p14:sldId id="759"/>
            <p14:sldId id="284"/>
            <p14:sldId id="760"/>
            <p14:sldId id="748"/>
            <p14:sldId id="285"/>
            <p14:sldId id="756"/>
            <p14:sldId id="757"/>
            <p14:sldId id="286"/>
            <p14:sldId id="750"/>
            <p14:sldId id="751"/>
            <p14:sldId id="779"/>
            <p14:sldId id="763"/>
            <p14:sldId id="289"/>
            <p14:sldId id="281"/>
            <p14:sldId id="282"/>
            <p14:sldId id="752"/>
            <p14:sldId id="755"/>
            <p14:sldId id="770"/>
            <p14:sldId id="280"/>
            <p14:sldId id="754"/>
            <p14:sldId id="765"/>
            <p14:sldId id="287"/>
            <p14:sldId id="288"/>
            <p14:sldId id="275"/>
            <p14:sldId id="766"/>
            <p14:sldId id="786"/>
            <p14:sldId id="788"/>
            <p14:sldId id="789"/>
            <p14:sldId id="270"/>
          </p14:sldIdLst>
        </p14:section>
        <p14:section name="Test Pattern" id="{C8AED647-93A0-4F13-926F-36869128467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A6A6A6"/>
    <a:srgbClr val="0000FF"/>
    <a:srgbClr val="FF8200"/>
    <a:srgbClr val="FFCC00"/>
    <a:srgbClr val="3399FF"/>
    <a:srgbClr val="FFFFFF"/>
    <a:srgbClr val="66FF66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0" autoAdjust="0"/>
    <p:restoredTop sz="65327" autoAdjust="0"/>
  </p:normalViewPr>
  <p:slideViewPr>
    <p:cSldViewPr>
      <p:cViewPr varScale="1">
        <p:scale>
          <a:sx n="92" d="100"/>
          <a:sy n="92" d="100"/>
        </p:scale>
        <p:origin x="2250" y="6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2025-09-18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60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87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09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baseline="0" dirty="0"/>
              <a:t>The goal is to give you a high-level overview of what’s coming with the new standard.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The talk also gives you keywords that you can use to search for more information.</a:t>
            </a:r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35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23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Reflection is </a:t>
            </a:r>
            <a:r>
              <a:rPr lang="en-US" dirty="0"/>
              <a:t>one of the big </a:t>
            </a:r>
            <a:r>
              <a:rPr lang="en-BE" dirty="0"/>
              <a:t>new </a:t>
            </a:r>
            <a:r>
              <a:rPr lang="en-US" dirty="0"/>
              <a:t>features </a:t>
            </a:r>
            <a:r>
              <a:rPr lang="en-BE" dirty="0"/>
              <a:t>coming with C++26</a:t>
            </a:r>
            <a:r>
              <a:rPr lang="nl-BE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93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contrived example, just to show the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2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748E7-DBE6-C23B-A5EF-5B312D108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9263E-F5DD-B517-F47C-388A7E130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B0863-0251-5462-0E60-C3608563D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b="1" dirty="0"/>
              <a:t>template for </a:t>
            </a:r>
            <a:r>
              <a:rPr lang="en-BE" dirty="0"/>
              <a:t>is an expansion statement (new in C++26)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BE" dirty="0"/>
              <a:t>A loop happening entirely at compile time</a:t>
            </a:r>
            <a:endParaRPr lang="en-BE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2BF7F-716F-EB15-4AD6-1B7C0FB17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01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F461-EE0D-197B-6633-921821508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C9CE9-94DB-7F30-CD05-5E457D396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BC3E9-1162-2C0A-1543-69967A928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BE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BD329-10C4-2362-3580-251676A77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80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Contracts is </a:t>
            </a:r>
            <a:r>
              <a:rPr lang="en-US" dirty="0"/>
              <a:t>another </a:t>
            </a:r>
            <a:r>
              <a:rPr lang="en-BE" dirty="0"/>
              <a:t>big </a:t>
            </a:r>
            <a:r>
              <a:rPr lang="en-US" dirty="0"/>
              <a:t>addition </a:t>
            </a:r>
            <a:r>
              <a:rPr lang="en-BE" dirty="0"/>
              <a:t>coming with C++26.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63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89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79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403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198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31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96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83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041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046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51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121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751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BE" dirty="0"/>
              <a:t>C++26 introduces several improvements related to structured bindings.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360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930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748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835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627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500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453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350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4584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387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C++26 adds a lot of constexpr </a:t>
            </a:r>
            <a:r>
              <a:rPr lang="en-US" dirty="0"/>
              <a:t>improvements both at the level of the core language and in the standard library.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923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This type erasure example comes from the standards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077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706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472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656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615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471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485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D455-9013-BA7C-2545-33F0E2B5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26BB80-0C2C-8105-928C-1DE3A36CF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F6A07D-D02F-29B1-20CF-7D91C98A0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42F673-4527-1AB4-9F66-272F440BF5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847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2914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BE" dirty="0"/>
              <a:t>The execution control library is another big addition </a:t>
            </a:r>
            <a:r>
              <a:rPr lang="en-US" dirty="0"/>
              <a:t>coming </a:t>
            </a:r>
            <a:r>
              <a:rPr lang="en-BE" dirty="0"/>
              <a:t>with C++26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43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264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BE" dirty="0"/>
              <a:t>S</a:t>
            </a:r>
            <a:r>
              <a:rPr lang="en-BE" dirty="0"/>
              <a:t>cheduler / sender are </a:t>
            </a:r>
            <a:r>
              <a:rPr lang="en-US" dirty="0"/>
              <a:t>defined in the standard as </a:t>
            </a:r>
            <a:r>
              <a:rPr lang="en-BE" dirty="0"/>
              <a:t>concepts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1670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91FA-9748-C30E-F667-9EBB1EE83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CE773-68BA-E635-25E1-4E853B5B0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6082F-BDC8-E3BE-4E79-8CF7B75AD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A8529-8856-3342-46BF-892B5E482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564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70719-02EC-077B-7219-9B886F05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58A27-E810-3953-4796-124E44A51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DEC2D-4729-CCD1-E7E9-F22FB554A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5331A-932A-844C-2EEB-26D6CC408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193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5AEE9-391C-26CC-B370-288896EA9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915B99-BC10-DEB6-5AB3-D65CD5981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F382F-C893-1115-AEA1-D7C7261FC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92506-305B-2233-EFFE-CF1624181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6115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BE" dirty="0"/>
              <a:t>We need a scheduler first, here we use a thread pool scheduler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BE" dirty="0"/>
              <a:t>Work on a scheduler is started by called schedule(), which returns a sender on the scheduler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BE" dirty="0"/>
              <a:t>We compose work using then(): a sender adapter taking and input sender and an invocable. </a:t>
            </a:r>
            <a:r>
              <a:rPr lang="en-US" dirty="0"/>
              <a:t>Our initial</a:t>
            </a:r>
            <a:r>
              <a:rPr lang="en-BE" dirty="0"/>
              <a:t> input sender returns void, so the lambda accepts no parameters.</a:t>
            </a:r>
            <a:br>
              <a:rPr lang="en-BE" dirty="0"/>
            </a:br>
            <a:r>
              <a:rPr lang="en-BE" dirty="0"/>
              <a:t>The callable prints something to the output console and returns an int.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BE" dirty="0"/>
              <a:t>We compose more work: the </a:t>
            </a:r>
            <a:r>
              <a:rPr lang="en-US" dirty="0"/>
              <a:t>previous </a:t>
            </a:r>
            <a:r>
              <a:rPr lang="en-BE" dirty="0"/>
              <a:t>input sender returns an int, so the lambda accepts an int and adds 42 to it.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r>
              <a:rPr lang="en-BE" dirty="0"/>
              <a:t>We use the </a:t>
            </a:r>
            <a:r>
              <a:rPr lang="en-BE" dirty="0" err="1"/>
              <a:t>sync_wait</a:t>
            </a:r>
            <a:r>
              <a:rPr lang="en-BE" dirty="0"/>
              <a:t> sender consumer to trigger the execution of the task graph and to wait for the asynchronous pipeline to finish and retrieve the result. Up to now, everything was </a:t>
            </a:r>
            <a:r>
              <a:rPr lang="en-BE" dirty="0" err="1"/>
              <a:t>asy</a:t>
            </a:r>
            <a:r>
              <a:rPr lang="nl-BE" dirty="0"/>
              <a:t>n</a:t>
            </a:r>
            <a:r>
              <a:rPr lang="en-BE" dirty="0" err="1"/>
              <a:t>chronous</a:t>
            </a:r>
            <a:r>
              <a:rPr lang="en-BE" dirty="0"/>
              <a:t> and no work may even have been started yet.</a:t>
            </a:r>
          </a:p>
          <a:p>
            <a:pPr marL="228600" indent="-228600">
              <a:buFont typeface="Arial" panose="020B0604020202020204" pitchFamily="34" charset="0"/>
              <a:buAutoNum type="arabicPeriod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4877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6024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DDD74-A011-B477-9C8A-7809A9748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8D994-12E5-CF04-8FF0-726441EC2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007FA-08A6-B96C-2F9E-5696FBE89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596D1-9FEE-29E2-FA8C-4053EE8EC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884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379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1105-70DF-9DA5-06C9-107C3D67C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6088C-2F10-57B3-3607-6535F51FE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6F6DB-163F-A52C-38CD-D5D5E21DE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Red elements are erased elements ready to be reused.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An implementation is free to decide how to actually implement such structures with skipfields.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A99A5-7541-63B6-25F9-C7FAF475A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05560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7139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1112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5164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Example from the standards proposal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5548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0638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2880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18892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66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231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1454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7762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195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4847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6749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7637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In 2022, 4 new SI prefixes were adopted.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9732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8641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9587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6032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BE" dirty="0"/>
              <a:t>Example based on an example from the standards 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84207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1854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9626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9072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3522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464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0212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5364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4624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07035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7611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7945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1252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A5D12-49BF-2DCB-794A-EC50F5D46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43C0D-8D82-B909-0B01-F6A08A465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0310A-69A6-9036-2779-3D02AD3DD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1EC69-876B-3648-D930-626600F51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6104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3CF75-EB75-9539-18D0-A3DCE54A9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555D8A-6FF2-4859-7CDA-F95FE2FA9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9D4E31-756C-A3EF-D9DC-8F2CF881A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8F5005-724F-920C-4F95-06C53E33D9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1636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57001-C142-00E1-7F44-2C306B6D0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ABFB70-6AE1-5A12-13F5-9DC12D254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BC6064-BA5D-377A-B3D8-AE60EB4E5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There are quite a few additional core language features that I didn’t talk about.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BD79DF-9AD8-A97C-4CDA-64C8FAF55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435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740C9-5CD3-4CA8-DA00-7B4AEF243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C74E74-F5CB-CB41-D4A4-E35050958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5FB702-0A08-091C-0635-E15444F8D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There’s actually a huge number of additional changes to the Standard Library that I didn’t talk about.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C++26 is a big update.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188302-F530-53E9-0274-640AEB19CA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01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gradFill>
          <a:gsLst>
            <a:gs pos="0">
              <a:schemeClr val="bg1"/>
            </a:gs>
            <a:gs pos="75000">
              <a:schemeClr val="bg1"/>
            </a:gs>
            <a:gs pos="100000">
              <a:srgbClr val="FF8200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rgbClr val="FF8200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7818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sz="2800" b="1" i="1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1" hangingPunct="1"/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None/>
              <a:defRPr kumimoji="0" lang="en-US" sz="2000" kern="1200" smtClean="0">
                <a:solidFill>
                  <a:srgbClr val="FFFFFF"/>
                </a:solidFill>
                <a:latin typeface="Segoe UI Light" pitchFamily="34" charset="0"/>
                <a:ea typeface="+mn-ea"/>
                <a:cs typeface="+mn-cs"/>
              </a:defRPr>
            </a:lvl1pPr>
            <a:extLst/>
          </a:lstStyle>
          <a:p>
            <a:pPr algn="ctr"/>
            <a:fld id="{047E157E-8DCB-4F70-A0AF-5EB586A91DD4}" type="datetime1">
              <a:rPr lang="en-US" smtClean="0"/>
              <a:pPr algn="ctr"/>
              <a:t>2025-09-18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en-US" smtClean="0">
                <a:solidFill>
                  <a:schemeClr val="tx2"/>
                </a:solidFill>
              </a:rPr>
              <a:pPr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cap="all" baseline="0"/>
            </a:lvl1pPr>
            <a:extLst/>
          </a:lstStyle>
          <a:p>
            <a:pPr eaLnBrk="1" latinLnBrk="1" hangingPunct="1"/>
            <a:r>
              <a:rPr lang="en-US"/>
              <a:t>Click to edit Master title style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gradFill>
          <a:gsLst>
            <a:gs pos="0">
              <a:schemeClr val="bg1"/>
            </a:gs>
            <a:gs pos="75000">
              <a:schemeClr val="bg1"/>
            </a:gs>
            <a:gs pos="100000">
              <a:srgbClr val="FF8200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4" descr="C:\Program Files\Microsoft Resource DVD Artwork\DVD_ART\Artwork_Imagery\Shapes and Graphics\Line\faded white line.png"/>
          <p:cNvPicPr>
            <a:picLocks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48121"/>
            <a:ext cx="7652766" cy="19029"/>
          </a:xfrm>
          <a:prstGeom prst="rect">
            <a:avLst/>
          </a:prstGeom>
          <a:noFill/>
        </p:spPr>
      </p:pic>
      <p:sp>
        <p:nvSpPr>
          <p:cNvPr id="1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" y="2724150"/>
            <a:ext cx="8794062" cy="1117470"/>
          </a:xfrm>
          <a:prstGeom prst="rect">
            <a:avLst/>
          </a:prstGeom>
          <a:effectLst/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>
                  <a:solidFill>
                    <a:schemeClr val="accent4">
                      <a:lumMod val="5000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363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0000" b="1" i="1" u="none" strike="noStrike" kern="1200" cap="none" spc="-642" normalizeH="0" baseline="0" noProof="0" dirty="0">
                <a:ln w="11430">
                  <a:solidFill>
                    <a:srgbClr val="88A17B">
                      <a:lumMod val="5000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click to…</a:t>
            </a:r>
          </a:p>
        </p:txBody>
      </p:sp>
    </p:spTree>
    <p:extLst>
      <p:ext uri="{BB962C8B-B14F-4D97-AF65-F5344CB8AC3E}">
        <p14:creationId xmlns:p14="http://schemas.microsoft.com/office/powerpoint/2010/main" val="2536790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1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76200" y="971550"/>
            <a:ext cx="899160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1" hangingPunct="1"/>
            <a:r>
              <a:rPr lang="en-US" dirty="0"/>
              <a:t>Click to edit Master text styles</a:t>
            </a:r>
          </a:p>
          <a:p>
            <a:pPr lvl="1" eaLnBrk="1" latinLnBrk="1" hangingPunct="1"/>
            <a:r>
              <a:rPr lang="en-US" dirty="0"/>
              <a:t>Second level</a:t>
            </a:r>
          </a:p>
          <a:p>
            <a:pPr lvl="2" eaLnBrk="1" latinLnBrk="1" hangingPunct="1"/>
            <a:r>
              <a:rPr lang="en-US" dirty="0"/>
              <a:t>Third level</a:t>
            </a:r>
          </a:p>
          <a:p>
            <a:pPr lvl="3" eaLnBrk="1" latinLnBrk="1" hangingPunct="1"/>
            <a:r>
              <a:rPr lang="en-US" dirty="0"/>
              <a:t>Fourth level</a:t>
            </a:r>
          </a:p>
          <a:p>
            <a:pPr lvl="4" eaLnBrk="1" latinLnBrk="1" hangingPunct="1"/>
            <a:r>
              <a:rPr lang="en-US" dirty="0"/>
              <a:t>Fifth level</a:t>
            </a:r>
            <a:endParaRPr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8571173" y="4881890"/>
            <a:ext cx="572826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AEE0D2A-EEC8-45D6-A9AB-6258958F4280}" type="slidenum">
              <a:rPr lang="en-US" sz="1050" smtClean="0">
                <a:latin typeface="Segoe UI Light" panose="020B0502040204020203" pitchFamily="34" charset="0"/>
                <a:cs typeface="Segoe UI Light" panose="020B0502040204020203" pitchFamily="34" charset="0"/>
              </a:rPr>
              <a:pPr algn="r"/>
              <a:t>‹#›</a:t>
            </a:fld>
            <a:endParaRPr lang="en-US" sz="105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7EA026-0152-D93D-C508-A790C916A0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 b="25000"/>
          <a:stretch/>
        </p:blipFill>
        <p:spPr>
          <a:xfrm>
            <a:off x="7772400" y="0"/>
            <a:ext cx="1371599" cy="342900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1" hangingPunct="1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/>
          <a:lstStyle/>
          <a:p>
            <a:fld id="{6FCF9F07-3BC7-4570-B054-79111B0A380C}" type="datetime1">
              <a:rPr kumimoji="0" lang="en-US" smtClean="0"/>
              <a:pPr/>
              <a:t>2025-09-18</a:t>
            </a:fld>
            <a:endParaRPr kumimoji="0"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  <a:prstGeom prst="rect">
            <a:avLst/>
          </a:prstGeom>
        </p:spPr>
        <p:txBody>
          <a:bodyPr>
            <a:noAutofit/>
          </a:bodyPr>
          <a:lstStyle>
            <a:lvl1pPr eaLnBrk="1" latinLnBrk="0" hangingPunct="1">
              <a:defRPr kumimoji="0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903BF-B50D-135A-AEB2-2B12DE151E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 b="25000"/>
          <a:stretch/>
        </p:blipFill>
        <p:spPr>
          <a:xfrm>
            <a:off x="7772400" y="0"/>
            <a:ext cx="1371599" cy="3429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1" hangingPunct="1"/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52400" y="971550"/>
            <a:ext cx="4343400" cy="4038600"/>
          </a:xfrm>
        </p:spPr>
        <p:txBody>
          <a:bodyPr/>
          <a:lstStyle/>
          <a:p>
            <a:pPr lvl="0" eaLnBrk="1" latinLnBrk="1" hangingPunct="1"/>
            <a:r>
              <a:rPr lang="en-US" dirty="0"/>
              <a:t>Click to edit Master text styles</a:t>
            </a:r>
          </a:p>
          <a:p>
            <a:pPr lvl="1" eaLnBrk="1" latinLnBrk="1" hangingPunct="1"/>
            <a:r>
              <a:rPr lang="en-US" dirty="0"/>
              <a:t>Second level</a:t>
            </a:r>
          </a:p>
          <a:p>
            <a:pPr lvl="2" eaLnBrk="1" latinLnBrk="1" hangingPunct="1"/>
            <a:r>
              <a:rPr lang="en-US" dirty="0"/>
              <a:t>Third level</a:t>
            </a:r>
          </a:p>
          <a:p>
            <a:pPr lvl="3" eaLnBrk="1" latinLnBrk="1" hangingPunct="1"/>
            <a:r>
              <a:rPr lang="en-US" dirty="0"/>
              <a:t>Fourth level</a:t>
            </a:r>
          </a:p>
          <a:p>
            <a:pPr lvl="4" eaLnBrk="1" latinLnBrk="1" hangingPunct="1"/>
            <a:r>
              <a:rPr lang="en-US" dirty="0"/>
              <a:t>Fifth level</a:t>
            </a:r>
            <a:endParaRPr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0" y="971550"/>
            <a:ext cx="4222899" cy="4038599"/>
          </a:xfrm>
        </p:spPr>
        <p:txBody>
          <a:bodyPr/>
          <a:lstStyle/>
          <a:p>
            <a:pPr lvl="0" eaLnBrk="1" latinLnBrk="1" hangingPunct="1"/>
            <a:r>
              <a:rPr lang="en-US"/>
              <a:t>Click to edit Master text styles</a:t>
            </a:r>
          </a:p>
          <a:p>
            <a:pPr lvl="1" eaLnBrk="1" latinLnBrk="1" hangingPunct="1"/>
            <a:r>
              <a:rPr lang="en-US"/>
              <a:t>Second level</a:t>
            </a:r>
          </a:p>
          <a:p>
            <a:pPr lvl="2" eaLnBrk="1" latinLnBrk="1" hangingPunct="1"/>
            <a:r>
              <a:rPr lang="en-US"/>
              <a:t>Third level</a:t>
            </a:r>
          </a:p>
          <a:p>
            <a:pPr lvl="3" eaLnBrk="1" latinLnBrk="1" hangingPunct="1"/>
            <a:r>
              <a:rPr lang="en-US"/>
              <a:t>Fourth level</a:t>
            </a:r>
          </a:p>
          <a:p>
            <a:pPr lvl="4" eaLnBrk="1" latinLnBrk="1" hangingPunct="1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/>
            </a:lvl1pPr>
            <a:extLst/>
          </a:lstStyle>
          <a:p>
            <a:pPr eaLnBrk="1" latinLnBrk="1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 eaLnBrk="1" latinLnBrk="1" hangingPunct="1"/>
            <a:r>
              <a:rPr lang="en-US"/>
              <a:t>Click to edit Master text styles</a:t>
            </a:r>
          </a:p>
          <a:p>
            <a:pPr lvl="1" eaLnBrk="1" latinLnBrk="1" hangingPunct="1"/>
            <a:r>
              <a:rPr lang="en-US"/>
              <a:t>Second level</a:t>
            </a:r>
          </a:p>
          <a:p>
            <a:pPr lvl="2" eaLnBrk="1" latinLnBrk="1" hangingPunct="1"/>
            <a:r>
              <a:rPr lang="en-US"/>
              <a:t>Third level</a:t>
            </a:r>
          </a:p>
          <a:p>
            <a:pPr lvl="3" eaLnBrk="1" latinLnBrk="1" hangingPunct="1"/>
            <a:r>
              <a:rPr lang="en-US"/>
              <a:t>Fourth level</a:t>
            </a:r>
          </a:p>
          <a:p>
            <a:pPr lvl="4" eaLnBrk="1" latinLnBrk="1" hangingPunct="1"/>
            <a:r>
              <a:rPr lang="en-US"/>
              <a:t>Fifth level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 eaLnBrk="1" latinLnBrk="1" hangingPunct="1"/>
            <a:r>
              <a:rPr lang="en-US"/>
              <a:t>Click to edit Master text styles</a:t>
            </a:r>
          </a:p>
          <a:p>
            <a:pPr lvl="1" eaLnBrk="1" latinLnBrk="1" hangingPunct="1"/>
            <a:r>
              <a:rPr lang="en-US"/>
              <a:t>Second level</a:t>
            </a:r>
          </a:p>
          <a:p>
            <a:pPr lvl="2" eaLnBrk="1" latinLnBrk="1" hangingPunct="1"/>
            <a:r>
              <a:rPr lang="en-US"/>
              <a:t>Third level</a:t>
            </a:r>
          </a:p>
          <a:p>
            <a:pPr lvl="3" eaLnBrk="1" latinLnBrk="1" hangingPunct="1"/>
            <a:r>
              <a:rPr lang="en-US"/>
              <a:t>Fourth level</a:t>
            </a:r>
          </a:p>
          <a:p>
            <a:pPr lvl="4" eaLnBrk="1" latinLnBrk="1" hangingPunct="1"/>
            <a:r>
              <a:rPr lang="en-US"/>
              <a:t>Fifth level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rtlCol="0"/>
          <a:lstStyle/>
          <a:p>
            <a:fld id="{E4606EA6-EFEA-4C30-9264-4F9291A5780D}" type="datetime1">
              <a:rPr kumimoji="0" lang="en-US" smtClean="0"/>
              <a:pPr/>
              <a:t>2025-09-18</a:t>
            </a:fld>
            <a:endParaRPr kumimoji="0"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>
          <a:xfrm>
            <a:off x="0" y="771287"/>
            <a:ext cx="533400" cy="183357"/>
          </a:xfrm>
          <a:prstGeom prst="rect">
            <a:avLst/>
          </a:prstGeom>
        </p:spPr>
        <p:txBody>
          <a:bodyPr rtlCol="0"/>
          <a:lstStyle/>
          <a:p>
            <a:pPr algn="ctr"/>
            <a:fld id="{8F82E0A0-C266-4798-8C8F-B9F91E9DA37E}" type="slidenum">
              <a:rPr kumimoji="0"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kumimoji="0"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rtlCol="0"/>
          <a:lstStyle/>
          <a:p>
            <a:endParaRPr kumimoji="0"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1" hangingPunct="1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1" hangingPunct="1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1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/>
          <a:lstStyle/>
          <a:p>
            <a:fld id="{6DFADB5D-B7A0-47E3-AD2D-B1A6F8614213}" type="datetime1">
              <a:rPr kumimoji="0" lang="en-US" smtClean="0"/>
              <a:pPr/>
              <a:t>2025-09-18</a:t>
            </a:fld>
            <a:endParaRPr kumimoji="0"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0" y="771287"/>
            <a:ext cx="533400" cy="183357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en-US" smtClean="0">
                <a:solidFill>
                  <a:srgbClr val="FFFFFF"/>
                </a:solidFill>
              </a:rPr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/>
          <a:lstStyle/>
          <a:p>
            <a:fld id="{72968126-03FC-49C0-B9B8-2B561CCC3D90}" type="datetime1">
              <a:rPr kumimoji="0" lang="en-US" smtClean="0"/>
              <a:pPr/>
              <a:t>2025-09-18</a:t>
            </a:fld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/>
          <a:lstStyle/>
          <a:p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en-US" smtClean="0">
                <a:solidFill>
                  <a:schemeClr val="tx2"/>
                </a:solidFill>
              </a:rPr>
              <a:pPr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sz="4200" b="0"/>
            </a:lvl1pPr>
            <a:extLst/>
          </a:lstStyle>
          <a:p>
            <a:pPr eaLnBrk="1" latinLnBrk="1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/>
          <a:lstStyle/>
          <a:p>
            <a:fld id="{F49A8198-4617-485E-9585-4840B69DBBA6}" type="datetime1">
              <a:rPr kumimoji="0" lang="en-US" smtClean="0"/>
              <a:pPr/>
              <a:t>2025-09-18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771287"/>
            <a:ext cx="533400" cy="183357"/>
          </a:xfrm>
          <a:prstGeom prst="rect">
            <a:avLst/>
          </a:prstGeom>
        </p:spPr>
        <p:txBody>
          <a:bodyPr/>
          <a:lstStyle>
            <a:lvl1pPr eaLnBrk="1" latinLnBrk="0" hangingPunct="1">
              <a:defRPr kumimoji="0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en-US" smtClean="0">
                <a:solidFill>
                  <a:srgbClr val="FFFFFF"/>
                </a:solidFill>
              </a:rPr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sz="1800"/>
            </a:lvl1pPr>
            <a:lvl2pPr eaLnBrk="1" latinLnBrk="0" hangingPunct="1">
              <a:buNone/>
              <a:defRPr kumimoji="0" sz="1200"/>
            </a:lvl2pPr>
            <a:lvl3pPr eaLnBrk="1" latinLnBrk="0" hangingPunct="1">
              <a:buNone/>
              <a:defRPr kumimoji="0" sz="1000"/>
            </a:lvl3pPr>
            <a:lvl4pPr eaLnBrk="1" latinLnBrk="0" hangingPunct="1">
              <a:buNone/>
              <a:defRPr kumimoji="0" sz="900"/>
            </a:lvl4pPr>
            <a:lvl5pPr eaLnBrk="1" latinLnBrk="0" hangingPunct="1">
              <a:buNone/>
              <a:defRPr kumimoji="0" sz="900"/>
            </a:lvl5pPr>
            <a:extLst/>
          </a:lstStyle>
          <a:p>
            <a:pPr lvl="0" eaLnBrk="1" latinLnBrk="1" hangingPunct="1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 eaLnBrk="1" latinLnBrk="1" hangingPunct="1"/>
            <a:r>
              <a:rPr lang="en-US"/>
              <a:t>Click to edit Master text styles</a:t>
            </a:r>
          </a:p>
          <a:p>
            <a:pPr lvl="1" eaLnBrk="1" latinLnBrk="1" hangingPunct="1"/>
            <a:r>
              <a:rPr lang="en-US"/>
              <a:t>Second level</a:t>
            </a:r>
          </a:p>
          <a:p>
            <a:pPr lvl="2" eaLnBrk="1" latinLnBrk="1" hangingPunct="1"/>
            <a:r>
              <a:rPr lang="en-US"/>
              <a:t>Third level</a:t>
            </a:r>
          </a:p>
          <a:p>
            <a:pPr lvl="3" eaLnBrk="1" latinLnBrk="1" hangingPunct="1"/>
            <a:r>
              <a:rPr lang="en-US"/>
              <a:t>Fourth level</a:t>
            </a:r>
          </a:p>
          <a:p>
            <a:pPr lvl="4" eaLnBrk="1" latinLnBrk="1" hangingPunct="1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sz="1700"/>
            </a:lvl1pPr>
            <a:lvl2pPr eaLnBrk="1" latinLnBrk="0" hangingPunct="1">
              <a:buFontTx/>
              <a:buNone/>
              <a:defRPr kumimoji="0" sz="1200"/>
            </a:lvl2pPr>
            <a:lvl3pPr eaLnBrk="1" latinLnBrk="0" hangingPunct="1">
              <a:buFontTx/>
              <a:buNone/>
              <a:defRPr kumimoji="0" sz="1000"/>
            </a:lvl3pPr>
            <a:lvl4pPr eaLnBrk="1" latinLnBrk="0" hangingPunct="1">
              <a:buFontTx/>
              <a:buNone/>
              <a:defRPr kumimoji="0" sz="900"/>
            </a:lvl4pPr>
            <a:lvl5pPr eaLnBrk="1" latinLnBrk="0" hangingPunct="1">
              <a:buFontTx/>
              <a:buNone/>
              <a:defRPr kumimoji="0" sz="900"/>
            </a:lvl5pPr>
            <a:extLst/>
          </a:lstStyle>
          <a:p>
            <a:pPr lvl="0" eaLnBrk="1" latinLnBrk="1" hangingPunct="1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1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  <a:prstGeom prst="rect">
            <a:avLst/>
          </a:prstGeom>
        </p:spPr>
        <p:txBody>
          <a:bodyPr rtlCol="0"/>
          <a:lstStyle/>
          <a:p>
            <a:fld id="{E4606EA6-EFEA-4C30-9264-4F9291A5780D}" type="datetime1">
              <a:rPr kumimoji="0" lang="en-US" smtClean="0"/>
              <a:pPr/>
              <a:t>2025-09-18</a:t>
            </a:fld>
            <a:endParaRPr kumimoji="0"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  <a:prstGeom prst="rect">
            <a:avLst/>
          </a:prstGeom>
        </p:spPr>
        <p:txBody>
          <a:bodyPr rtlCol="0"/>
          <a:lstStyle>
            <a:lvl1pPr eaLnBrk="1" latinLnBrk="0" hangingPunct="1">
              <a:defRPr kumimoji="0" sz="2800"/>
            </a:lvl1pPr>
            <a:extLst/>
          </a:lstStyle>
          <a:p>
            <a:pPr algn="ctr"/>
            <a:fld id="{8F82E0A0-C266-4798-8C8F-B9F91E9DA37E}" type="slidenum">
              <a:rPr kumimoji="0"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kumimoji="0"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  <a:prstGeom prst="rect">
            <a:avLst/>
          </a:prstGeom>
        </p:spPr>
        <p:txBody>
          <a:bodyPr rtlCol="0"/>
          <a:lstStyle/>
          <a:p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lor Shape &amp;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3563525" y="2235543"/>
            <a:ext cx="5378551" cy="672414"/>
          </a:xfrm>
        </p:spPr>
        <p:txBody>
          <a:bodyPr wrap="square" lIns="137160" tIns="109728" rIns="137160" bIns="109728" anchor="ctr"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  <a:defRPr lang="en-US" sz="2600" kern="1200" dirty="0" smtClean="0">
                <a:gradFill>
                  <a:gsLst>
                    <a:gs pos="28302">
                      <a:schemeClr val="tx1">
                        <a:lumMod val="75000"/>
                        <a:lumOff val="25000"/>
                      </a:schemeClr>
                    </a:gs>
                    <a:gs pos="67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1400">
                <a:solidFill>
                  <a:srgbClr val="FFFFFF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400">
                <a:solidFill>
                  <a:srgbClr val="FFFFFF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400">
                <a:solidFill>
                  <a:srgbClr val="FFFFFF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400">
                <a:solidFill>
                  <a:srgbClr val="FFFFFF"/>
                </a:solidFill>
              </a:defRPr>
            </a:lvl5pPr>
          </a:lstStyle>
          <a:p>
            <a:pPr marL="0" lvl="0" indent="0" algn="l" defTabSz="672118" rtl="0" eaLnBrk="1" latinLnBrk="0" hangingPunct="1">
              <a:spcBef>
                <a:spcPct val="2000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201931" y="1130664"/>
            <a:ext cx="2890985" cy="2882172"/>
          </a:xfrm>
          <a:custGeom>
            <a:avLst/>
            <a:gdLst>
              <a:gd name="connsiteX0" fmla="*/ 0 w 2431552"/>
              <a:gd name="connsiteY0" fmla="*/ 0 h 576072"/>
              <a:gd name="connsiteX1" fmla="*/ 2431552 w 2431552"/>
              <a:gd name="connsiteY1" fmla="*/ 0 h 576072"/>
              <a:gd name="connsiteX2" fmla="*/ 2431552 w 2431552"/>
              <a:gd name="connsiteY2" fmla="*/ 576072 h 576072"/>
              <a:gd name="connsiteX3" fmla="*/ 0 w 2431552"/>
              <a:gd name="connsiteY3" fmla="*/ 576072 h 576072"/>
              <a:gd name="connsiteX4" fmla="*/ 0 w 2431552"/>
              <a:gd name="connsiteY4" fmla="*/ 0 h 576072"/>
              <a:gd name="connsiteX0" fmla="*/ 0 w 2610228"/>
              <a:gd name="connsiteY0" fmla="*/ 704193 h 1280265"/>
              <a:gd name="connsiteX1" fmla="*/ 2610228 w 2610228"/>
              <a:gd name="connsiteY1" fmla="*/ 0 h 1280265"/>
              <a:gd name="connsiteX2" fmla="*/ 2431552 w 2610228"/>
              <a:gd name="connsiteY2" fmla="*/ 1280265 h 1280265"/>
              <a:gd name="connsiteX3" fmla="*/ 0 w 2610228"/>
              <a:gd name="connsiteY3" fmla="*/ 1280265 h 1280265"/>
              <a:gd name="connsiteX4" fmla="*/ 0 w 2610228"/>
              <a:gd name="connsiteY4" fmla="*/ 704193 h 1280265"/>
              <a:gd name="connsiteX0" fmla="*/ 0 w 2620739"/>
              <a:gd name="connsiteY0" fmla="*/ 704193 h 2037009"/>
              <a:gd name="connsiteX1" fmla="*/ 2610228 w 2620739"/>
              <a:gd name="connsiteY1" fmla="*/ 0 h 2037009"/>
              <a:gd name="connsiteX2" fmla="*/ 2620739 w 2620739"/>
              <a:gd name="connsiteY2" fmla="*/ 2037009 h 2037009"/>
              <a:gd name="connsiteX3" fmla="*/ 0 w 2620739"/>
              <a:gd name="connsiteY3" fmla="*/ 1280265 h 2037009"/>
              <a:gd name="connsiteX4" fmla="*/ 0 w 2620739"/>
              <a:gd name="connsiteY4" fmla="*/ 704193 h 2037009"/>
              <a:gd name="connsiteX0" fmla="*/ 0 w 2620739"/>
              <a:gd name="connsiteY0" fmla="*/ 483476 h 1816292"/>
              <a:gd name="connsiteX1" fmla="*/ 2389511 w 2620739"/>
              <a:gd name="connsiteY1" fmla="*/ 0 h 1816292"/>
              <a:gd name="connsiteX2" fmla="*/ 2620739 w 2620739"/>
              <a:gd name="connsiteY2" fmla="*/ 1816292 h 1816292"/>
              <a:gd name="connsiteX3" fmla="*/ 0 w 2620739"/>
              <a:gd name="connsiteY3" fmla="*/ 1059548 h 1816292"/>
              <a:gd name="connsiteX4" fmla="*/ 0 w 2620739"/>
              <a:gd name="connsiteY4" fmla="*/ 483476 h 1816292"/>
              <a:gd name="connsiteX0" fmla="*/ 0 w 2620739"/>
              <a:gd name="connsiteY0" fmla="*/ 704193 h 2037009"/>
              <a:gd name="connsiteX1" fmla="*/ 2589207 w 2620739"/>
              <a:gd name="connsiteY1" fmla="*/ 0 h 2037009"/>
              <a:gd name="connsiteX2" fmla="*/ 2620739 w 2620739"/>
              <a:gd name="connsiteY2" fmla="*/ 2037009 h 2037009"/>
              <a:gd name="connsiteX3" fmla="*/ 0 w 2620739"/>
              <a:gd name="connsiteY3" fmla="*/ 1280265 h 2037009"/>
              <a:gd name="connsiteX4" fmla="*/ 0 w 2620739"/>
              <a:gd name="connsiteY4" fmla="*/ 704193 h 2037009"/>
              <a:gd name="connsiteX0" fmla="*/ 0 w 2862477"/>
              <a:gd name="connsiteY0" fmla="*/ 0 h 2425892"/>
              <a:gd name="connsiteX1" fmla="*/ 2830945 w 2862477"/>
              <a:gd name="connsiteY1" fmla="*/ 388883 h 2425892"/>
              <a:gd name="connsiteX2" fmla="*/ 2862477 w 2862477"/>
              <a:gd name="connsiteY2" fmla="*/ 2425892 h 2425892"/>
              <a:gd name="connsiteX3" fmla="*/ 241738 w 2862477"/>
              <a:gd name="connsiteY3" fmla="*/ 1669148 h 2425892"/>
              <a:gd name="connsiteX4" fmla="*/ 0 w 2862477"/>
              <a:gd name="connsiteY4" fmla="*/ 0 h 2425892"/>
              <a:gd name="connsiteX0" fmla="*/ 0 w 2862477"/>
              <a:gd name="connsiteY0" fmla="*/ 0 h 2804265"/>
              <a:gd name="connsiteX1" fmla="*/ 2830945 w 2862477"/>
              <a:gd name="connsiteY1" fmla="*/ 388883 h 2804265"/>
              <a:gd name="connsiteX2" fmla="*/ 2862477 w 2862477"/>
              <a:gd name="connsiteY2" fmla="*/ 2425892 h 2804265"/>
              <a:gd name="connsiteX3" fmla="*/ 21021 w 2862477"/>
              <a:gd name="connsiteY3" fmla="*/ 2804265 h 2804265"/>
              <a:gd name="connsiteX4" fmla="*/ 0 w 2862477"/>
              <a:gd name="connsiteY4" fmla="*/ 0 h 2804265"/>
              <a:gd name="connsiteX0" fmla="*/ 0 w 2967580"/>
              <a:gd name="connsiteY0" fmla="*/ 0 h 2961920"/>
              <a:gd name="connsiteX1" fmla="*/ 2936048 w 2967580"/>
              <a:gd name="connsiteY1" fmla="*/ 546538 h 2961920"/>
              <a:gd name="connsiteX2" fmla="*/ 2967580 w 2967580"/>
              <a:gd name="connsiteY2" fmla="*/ 2583547 h 2961920"/>
              <a:gd name="connsiteX3" fmla="*/ 126124 w 2967580"/>
              <a:gd name="connsiteY3" fmla="*/ 2961920 h 2961920"/>
              <a:gd name="connsiteX4" fmla="*/ 0 w 2967580"/>
              <a:gd name="connsiteY4" fmla="*/ 0 h 2961920"/>
              <a:gd name="connsiteX0" fmla="*/ 10511 w 2841456"/>
              <a:gd name="connsiteY0" fmla="*/ 0 h 2814775"/>
              <a:gd name="connsiteX1" fmla="*/ 2809924 w 2841456"/>
              <a:gd name="connsiteY1" fmla="*/ 399393 h 2814775"/>
              <a:gd name="connsiteX2" fmla="*/ 2841456 w 2841456"/>
              <a:gd name="connsiteY2" fmla="*/ 2436402 h 2814775"/>
              <a:gd name="connsiteX3" fmla="*/ 0 w 2841456"/>
              <a:gd name="connsiteY3" fmla="*/ 2814775 h 2814775"/>
              <a:gd name="connsiteX4" fmla="*/ 10511 w 2841456"/>
              <a:gd name="connsiteY4" fmla="*/ 0 h 2814775"/>
              <a:gd name="connsiteX0" fmla="*/ 10511 w 2845941"/>
              <a:gd name="connsiteY0" fmla="*/ 0 h 2814775"/>
              <a:gd name="connsiteX1" fmla="*/ 2842437 w 2845941"/>
              <a:gd name="connsiteY1" fmla="*/ 415742 h 2814775"/>
              <a:gd name="connsiteX2" fmla="*/ 2841456 w 2845941"/>
              <a:gd name="connsiteY2" fmla="*/ 2436402 h 2814775"/>
              <a:gd name="connsiteX3" fmla="*/ 0 w 2845941"/>
              <a:gd name="connsiteY3" fmla="*/ 2814775 h 2814775"/>
              <a:gd name="connsiteX4" fmla="*/ 10511 w 2845941"/>
              <a:gd name="connsiteY4" fmla="*/ 0 h 2814775"/>
              <a:gd name="connsiteX0" fmla="*/ 10511 w 2841456"/>
              <a:gd name="connsiteY0" fmla="*/ 0 h 2814775"/>
              <a:gd name="connsiteX1" fmla="*/ 2834309 w 2841456"/>
              <a:gd name="connsiteY1" fmla="*/ 391219 h 2814775"/>
              <a:gd name="connsiteX2" fmla="*/ 2841456 w 2841456"/>
              <a:gd name="connsiteY2" fmla="*/ 2436402 h 2814775"/>
              <a:gd name="connsiteX3" fmla="*/ 0 w 2841456"/>
              <a:gd name="connsiteY3" fmla="*/ 2814775 h 2814775"/>
              <a:gd name="connsiteX4" fmla="*/ 10511 w 2841456"/>
              <a:gd name="connsiteY4" fmla="*/ 0 h 2814775"/>
              <a:gd name="connsiteX0" fmla="*/ 3504 w 2834449"/>
              <a:gd name="connsiteY0" fmla="*/ 0 h 2847473"/>
              <a:gd name="connsiteX1" fmla="*/ 2827302 w 2834449"/>
              <a:gd name="connsiteY1" fmla="*/ 391219 h 2847473"/>
              <a:gd name="connsiteX2" fmla="*/ 2834449 w 2834449"/>
              <a:gd name="connsiteY2" fmla="*/ 2436402 h 2847473"/>
              <a:gd name="connsiteX3" fmla="*/ 1122 w 2834449"/>
              <a:gd name="connsiteY3" fmla="*/ 2847473 h 2847473"/>
              <a:gd name="connsiteX4" fmla="*/ 3504 w 2834449"/>
              <a:gd name="connsiteY4" fmla="*/ 0 h 2847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34449" h="2847473">
                <a:moveTo>
                  <a:pt x="3504" y="0"/>
                </a:moveTo>
                <a:lnTo>
                  <a:pt x="2827302" y="391219"/>
                </a:lnTo>
                <a:cubicBezTo>
                  <a:pt x="2830806" y="1070222"/>
                  <a:pt x="2830945" y="1757399"/>
                  <a:pt x="2834449" y="2436402"/>
                </a:cubicBezTo>
                <a:lnTo>
                  <a:pt x="1122" y="2847473"/>
                </a:lnTo>
                <a:cubicBezTo>
                  <a:pt x="4626" y="1909215"/>
                  <a:pt x="0" y="938258"/>
                  <a:pt x="350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137160" tIns="109728" rIns="137160" bIns="109728" numCol="1" anchor="ctr" anchorCtr="0" compatLnSpc="1">
            <a:prstTxWarp prst="textNoShape">
              <a:avLst/>
            </a:prstTxWarp>
            <a:noAutofit/>
          </a:bodyPr>
          <a:lstStyle>
            <a:lvl1pPr>
              <a:lnSpc>
                <a:spcPct val="95000"/>
              </a:lnSpc>
              <a:defRPr lang="en-US" sz="2900" kern="1200" dirty="0" smtClean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 Light"/>
                <a:ea typeface="ＭＳ Ｐゴシック" charset="0"/>
                <a:cs typeface="Segoe UI Light"/>
              </a:defRPr>
            </a:lvl1pPr>
          </a:lstStyle>
          <a:p>
            <a:pPr marL="0" lvl="0" indent="0" algn="l" defTabSz="91408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75317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pos="305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248" y="1563130"/>
            <a:ext cx="7395504" cy="1344828"/>
          </a:xfrm>
        </p:spPr>
        <p:txBody>
          <a:bodyPr lIns="68580" tIns="34290" rIns="68580" bIns="34290"/>
          <a:lstStyle>
            <a:lvl1pPr>
              <a:defRPr sz="35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18498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2025-09-18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672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76200" y="982980"/>
            <a:ext cx="8991600" cy="402717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1" hangingPunct="1"/>
            <a:r>
              <a:rPr kumimoji="0" lang="en-US" dirty="0"/>
              <a:t>Click to edit Master text styles</a:t>
            </a:r>
          </a:p>
          <a:p>
            <a:pPr lvl="1" eaLnBrk="1" latinLnBrk="1" hangingPunct="1"/>
            <a:r>
              <a:rPr kumimoji="0" lang="en-US" dirty="0"/>
              <a:t>Second level</a:t>
            </a:r>
          </a:p>
          <a:p>
            <a:pPr lvl="2" eaLnBrk="1" latinLnBrk="1" hangingPunct="1"/>
            <a:r>
              <a:rPr kumimoji="0" lang="en-US" dirty="0"/>
              <a:t>Third level</a:t>
            </a:r>
          </a:p>
          <a:p>
            <a:pPr lvl="3" eaLnBrk="1" latinLnBrk="1" hangingPunct="1"/>
            <a:r>
              <a:rPr kumimoji="0" lang="en-US" dirty="0"/>
              <a:t>Fourth level</a:t>
            </a:r>
          </a:p>
          <a:p>
            <a:pPr lvl="4" eaLnBrk="1" latinLnBrk="1" hangingPunct="1"/>
            <a:r>
              <a:rPr kumimoji="0"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295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0" y="777241"/>
            <a:ext cx="9144000" cy="85725"/>
          </a:xfrm>
          <a:prstGeom prst="rect">
            <a:avLst/>
          </a:prstGeom>
          <a:solidFill>
            <a:srgbClr val="FF8200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76200" y="118110"/>
            <a:ext cx="8991600" cy="624840"/>
          </a:xfrm>
          <a:prstGeom prst="rect">
            <a:avLst/>
          </a:prstGeom>
        </p:spPr>
        <p:txBody>
          <a:bodyPr vert="horz" anchor="b">
            <a:noAutofit/>
          </a:bodyPr>
          <a:lstStyle/>
          <a:p>
            <a:pPr eaLnBrk="1" latinLnBrk="1" hangingPunct="1"/>
            <a:r>
              <a:rPr kumimoji="0"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8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0" r:id="rId11"/>
    <p:sldLayoutId id="2147483661" r:id="rId12"/>
    <p:sldLayoutId id="2147483662" r:id="rId13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tx2"/>
          </a:solidFill>
          <a:latin typeface="Segoe UI Semibold" pitchFamily="34" charset="0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Segoe UI Light" pitchFamily="34" charset="0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Segoe UI Light" pitchFamily="34" charset="0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Segoe UI Light" pitchFamily="34" charset="0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Segoe UI Light" pitchFamily="34" charset="0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Segoe UI Light" pitchFamily="34" charset="0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mailto:marc.gregoire@nuonsoft.com" TargetMode="External"/><Relationship Id="rId7" Type="http://schemas.openxmlformats.org/officeDocument/2006/relationships/hyperlink" Target="http://becpp.org/" TargetMode="External"/><Relationship Id="rId12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apress.com/gp/book/9781484249222" TargetMode="External"/><Relationship Id="rId11" Type="http://schemas.openxmlformats.org/officeDocument/2006/relationships/image" Target="../media/image8.jpeg"/><Relationship Id="rId5" Type="http://schemas.openxmlformats.org/officeDocument/2006/relationships/hyperlink" Target="http://www.apress.com/9781484218754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www.wiley.com/en-us/Professional+C%2B%2B%2C+6th+Edition-p-9781394193172" TargetMode="Externa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C7ED6-2536-53E1-13D8-21A72F32F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23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Marc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Grégoire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Belgium</a:t>
            </a:r>
          </a:p>
          <a:p>
            <a:r>
              <a:rPr lang="en-US" dirty="0"/>
              <a:t>Software </a:t>
            </a:r>
            <a:r>
              <a:rPr lang="en-BE" dirty="0"/>
              <a:t>project manager / </a:t>
            </a:r>
            <a:r>
              <a:rPr lang="en-US" dirty="0"/>
              <a:t>architect </a:t>
            </a:r>
            <a:r>
              <a:rPr lang="en-BE" dirty="0"/>
              <a:t>at</a:t>
            </a:r>
            <a:r>
              <a:rPr lang="en-US" dirty="0"/>
              <a:t> Nikon Metrology</a:t>
            </a:r>
          </a:p>
          <a:p>
            <a:r>
              <a:rPr lang="en-US" dirty="0">
                <a:hlinkClick r:id="rId3"/>
              </a:rPr>
              <a:t>marc.gregoire@nuonsoft.com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Microsoft VC++ MVP Since 2007</a:t>
            </a:r>
          </a:p>
          <a:p>
            <a:endParaRPr lang="en-US" dirty="0"/>
          </a:p>
          <a:p>
            <a:r>
              <a:rPr lang="en-US" dirty="0"/>
              <a:t>Author of </a:t>
            </a:r>
            <a:r>
              <a:rPr lang="en-US" dirty="0">
                <a:hlinkClick r:id="rId4"/>
              </a:rPr>
              <a:t>Professional C++, 2</a:t>
            </a:r>
            <a:r>
              <a:rPr lang="en-US" baseline="30000" dirty="0">
                <a:hlinkClick r:id="rId4"/>
              </a:rPr>
              <a:t>nd</a:t>
            </a:r>
            <a:r>
              <a:rPr lang="en-BE" dirty="0">
                <a:hlinkClick r:id="rId4"/>
              </a:rPr>
              <a:t> -</a:t>
            </a:r>
            <a:r>
              <a:rPr lang="en-US" dirty="0">
                <a:hlinkClick r:id="rId4"/>
              </a:rPr>
              <a:t> </a:t>
            </a:r>
            <a:r>
              <a:rPr lang="en-BE" dirty="0">
                <a:hlinkClick r:id="rId4"/>
              </a:rPr>
              <a:t>6</a:t>
            </a:r>
            <a:r>
              <a:rPr lang="en-US" baseline="30000" dirty="0" err="1">
                <a:hlinkClick r:id="rId4"/>
              </a:rPr>
              <a:t>th</a:t>
            </a:r>
            <a:r>
              <a:rPr lang="en-US" dirty="0">
                <a:hlinkClick r:id="rId4"/>
              </a:rPr>
              <a:t> </a:t>
            </a:r>
            <a:r>
              <a:rPr lang="en-US" dirty="0" err="1">
                <a:hlinkClick r:id="rId4"/>
              </a:rPr>
              <a:t>Editio</a:t>
            </a:r>
            <a:r>
              <a:rPr lang="en-BE" dirty="0">
                <a:hlinkClick r:id="rId4"/>
              </a:rPr>
              <a:t>ns</a:t>
            </a:r>
            <a:endParaRPr lang="en-US" dirty="0"/>
          </a:p>
          <a:p>
            <a:r>
              <a:rPr lang="en-US" dirty="0"/>
              <a:t>Co-author of </a:t>
            </a:r>
            <a:r>
              <a:rPr lang="en-US" dirty="0">
                <a:hlinkClick r:id="rId5"/>
              </a:rPr>
              <a:t>C++ Standard Library Quick Reference</a:t>
            </a:r>
            <a:br>
              <a:rPr lang="en-US" dirty="0">
                <a:hlinkClick r:id="rId5"/>
              </a:rPr>
            </a:br>
            <a:r>
              <a:rPr lang="en-US" dirty="0"/>
              <a:t>&amp; </a:t>
            </a:r>
            <a:r>
              <a:rPr lang="en-US" dirty="0">
                <a:hlinkClick r:id="rId6"/>
              </a:rPr>
              <a:t>C++17 Standard Library Quick Reference</a:t>
            </a:r>
            <a:endParaRPr lang="en-US" dirty="0"/>
          </a:p>
          <a:p>
            <a:endParaRPr lang="en-US" dirty="0"/>
          </a:p>
          <a:p>
            <a:r>
              <a:rPr lang="en-US" dirty="0"/>
              <a:t>Founder of the </a:t>
            </a:r>
            <a:r>
              <a:rPr lang="en-US" dirty="0">
                <a:hlinkClick r:id="rId7"/>
              </a:rPr>
              <a:t>Belgian C++ Users Group</a:t>
            </a:r>
            <a:r>
              <a:rPr lang="en-US" dirty="0"/>
              <a:t> (</a:t>
            </a:r>
            <a:r>
              <a:rPr lang="en-US" dirty="0" err="1"/>
              <a:t>BeCPP</a:t>
            </a:r>
            <a:r>
              <a:rPr lang="en-US" dirty="0"/>
              <a:t>)</a:t>
            </a:r>
          </a:p>
        </p:txBody>
      </p:sp>
      <p:pic>
        <p:nvPicPr>
          <p:cNvPr id="4" name="Picture 3" descr="G:\Data\Documents\Pictures\Nikon_LOGO_25mm_300dpi_295x295px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616" y="1149302"/>
            <a:ext cx="812848" cy="81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612" y="4456994"/>
            <a:ext cx="1762701" cy="400756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90500" y="2114550"/>
            <a:ext cx="8763000" cy="0"/>
          </a:xfrm>
          <a:prstGeom prst="line">
            <a:avLst/>
          </a:prstGeom>
          <a:ln>
            <a:solidFill>
              <a:srgbClr val="FF82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90500" y="2876550"/>
            <a:ext cx="8763000" cy="0"/>
          </a:xfrm>
          <a:prstGeom prst="line">
            <a:avLst/>
          </a:prstGeom>
          <a:ln>
            <a:solidFill>
              <a:srgbClr val="FF82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90500" y="4400550"/>
            <a:ext cx="8763000" cy="0"/>
          </a:xfrm>
          <a:prstGeom prst="line">
            <a:avLst/>
          </a:prstGeom>
          <a:ln>
            <a:solidFill>
              <a:srgbClr val="FF82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790" y="2220142"/>
            <a:ext cx="1060343" cy="4278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057" y="3022348"/>
            <a:ext cx="699743" cy="10642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2C6349-5114-AB10-7771-657A69A85DE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031" y="3022348"/>
            <a:ext cx="849132" cy="106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96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numCol="2"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/>
              <a:t>C++2</a:t>
            </a:r>
            <a:r>
              <a:rPr lang="en-BE" sz="1800" b="1" dirty="0"/>
              <a:t>6</a:t>
            </a:r>
            <a:r>
              <a:rPr lang="en-US" sz="1800" b="1" dirty="0"/>
              <a:t> Core Language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Static Reflection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Contracts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Unnamed Placeholder Variables (_)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User-Generated </a:t>
            </a:r>
            <a:r>
              <a:rPr lang="en-US" sz="1600" dirty="0" err="1"/>
              <a:t>static_assert</a:t>
            </a:r>
            <a:r>
              <a:rPr lang="en-US" sz="1600" dirty="0"/>
              <a:t>() Messages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= delete("reason") Syntax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Attributes on Structured Bindings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Structured Bindings in Conditions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constexpr Structured Bindings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Structured Bindings Introducing Packs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Pack Indexing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#embed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Variadic Friend Declarations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constexpr Casts from void*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constexpr Placement new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constexpr Exceptions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Uninitialized Read Formalization</a:t>
            </a:r>
            <a:endParaRPr lang="en-BE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/>
              <a:t>C++2</a:t>
            </a:r>
            <a:r>
              <a:rPr lang="en-BE" sz="1800" b="1" dirty="0"/>
              <a:t>6</a:t>
            </a:r>
            <a:r>
              <a:rPr lang="en-US" sz="1800" b="1" dirty="0"/>
              <a:t> Standard Library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Execution Control Library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inplace_vector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std::hive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submdspan</a:t>
            </a:r>
            <a:r>
              <a:rPr lang="en-US" sz="1600" dirty="0"/>
              <a:t>()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Saturation Arithmetic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 err="1"/>
              <a:t>string_view</a:t>
            </a:r>
            <a:r>
              <a:rPr lang="en-US" sz="1600" dirty="0"/>
              <a:t> </a:t>
            </a:r>
            <a:r>
              <a:rPr lang="en-US" sz="1600" dirty="0" err="1"/>
              <a:t>init</a:t>
            </a:r>
            <a:r>
              <a:rPr lang="en-US" sz="1600" dirty="0"/>
              <a:t> for </a:t>
            </a:r>
            <a:r>
              <a:rPr lang="en-US" sz="1600" dirty="0" err="1"/>
              <a:t>stringstreams</a:t>
            </a:r>
            <a:r>
              <a:rPr lang="en-US" sz="1600" dirty="0"/>
              <a:t>/</a:t>
            </a:r>
            <a:r>
              <a:rPr lang="en-US" sz="1600" dirty="0" err="1"/>
              <a:t>bitset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text_encoding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Native File Handles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More constexpr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New SI Prefixes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&lt;debugging&gt;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&lt;</a:t>
            </a:r>
            <a:r>
              <a:rPr lang="en-US" sz="1600" dirty="0" err="1"/>
              <a:t>linalg</a:t>
            </a:r>
            <a:r>
              <a:rPr lang="en-US" sz="1600" dirty="0"/>
              <a:t>&gt;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Tuple Protocol for std::complex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views::</a:t>
            </a:r>
            <a:r>
              <a:rPr lang="en-US" sz="1600" dirty="0" err="1"/>
              <a:t>concat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String Concatenation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Enabling List Initialization for Algorithms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std::ranges::</a:t>
            </a:r>
            <a:r>
              <a:rPr lang="en-US" sz="1600" dirty="0" err="1"/>
              <a:t>generate_random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Filesystem Path Formatter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println</a:t>
            </a:r>
            <a:r>
              <a:rPr lang="en-US" sz="1600" dirty="0"/>
              <a:t>() Blank Lines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philox_engine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std::ranges::</a:t>
            </a:r>
            <a:r>
              <a:rPr lang="en-US" sz="1600" dirty="0" err="1"/>
              <a:t>cache_latest_view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simd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928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6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5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9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5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1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5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25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5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7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5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85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5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15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5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3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5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5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5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6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5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75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5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9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5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4050"/>
                            </p:stCondLst>
                            <p:childTnLst>
                              <p:par>
                                <p:cTn id="1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50"/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200"/>
                            </p:stCondLst>
                            <p:childTnLst>
                              <p:par>
                                <p:cTn id="1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50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350"/>
                            </p:stCondLst>
                            <p:childTnLst>
                              <p:par>
                                <p:cTn id="1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50"/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500"/>
                            </p:stCondLst>
                            <p:childTnLst>
                              <p:par>
                                <p:cTn id="1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50"/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4650"/>
                            </p:stCondLst>
                            <p:childTnLst>
                              <p:par>
                                <p:cTn id="1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50"/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4800"/>
                            </p:stCondLst>
                            <p:childTnLst>
                              <p:par>
                                <p:cTn id="1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50"/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950"/>
                            </p:stCondLst>
                            <p:childTnLst>
                              <p:par>
                                <p:cTn id="1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50"/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10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50"/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250"/>
                            </p:stCondLst>
                            <p:childTnLst>
                              <p:par>
                                <p:cTn id="1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50"/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400"/>
                            </p:stCondLst>
                            <p:childTnLst>
                              <p:par>
                                <p:cTn id="1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50"/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550"/>
                            </p:stCondLst>
                            <p:childTnLst>
                              <p:par>
                                <p:cTn id="1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50"/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700"/>
                            </p:stCondLst>
                            <p:childTnLst>
                              <p:par>
                                <p:cTn id="1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50"/>
                                        <p:tgtEl>
                                          <p:spTgt spid="3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850"/>
                            </p:stCondLst>
                            <p:childTnLst>
                              <p:par>
                                <p:cTn id="1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50"/>
                                        <p:tgtEl>
                                          <p:spTgt spid="3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227048-39BE-40B8-97A6-37E6ADBE8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493736-AFBC-47F8-BC33-4CA87D9A5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C++2</a:t>
            </a:r>
            <a:r>
              <a:rPr lang="en-BE" dirty="0"/>
              <a:t>6</a:t>
            </a:r>
            <a:r>
              <a:rPr lang="en-US" dirty="0"/>
              <a:t> Core Language</a:t>
            </a:r>
          </a:p>
        </p:txBody>
      </p:sp>
    </p:spTree>
    <p:extLst>
      <p:ext uri="{BB962C8B-B14F-4D97-AF65-F5344CB8AC3E}">
        <p14:creationId xmlns:p14="http://schemas.microsoft.com/office/powerpoint/2010/main" val="1495796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22B2F-6292-9505-E99B-F37A6BB09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0832F-64E7-9557-E6E1-054243C62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</a:t>
            </a:r>
            <a:r>
              <a:rPr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55417-1619-C577-302D-D975652891F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Initial set of features to support static reflection:</a:t>
            </a:r>
          </a:p>
          <a:p>
            <a:pPr lvl="1"/>
            <a:r>
              <a:rPr lang="en-BE" b="1" dirty="0"/>
              <a:t>std::meta::info </a:t>
            </a:r>
            <a:r>
              <a:rPr lang="en-BE" dirty="0"/>
              <a:t>represents program elements via constant expressions, called reflection values</a:t>
            </a:r>
          </a:p>
          <a:p>
            <a:pPr lvl="1"/>
            <a:r>
              <a:rPr lang="en-BE" dirty="0"/>
              <a:t>A reflection operator (</a:t>
            </a:r>
            <a:r>
              <a:rPr lang="en-US" b="1" dirty="0"/>
              <a:t>^</a:t>
            </a:r>
            <a:r>
              <a:rPr lang="en-BE" b="1" dirty="0"/>
              <a:t>^</a:t>
            </a:r>
            <a:r>
              <a:rPr lang="en-BE" dirty="0"/>
              <a:t>): creates a reflection value for its operand</a:t>
            </a:r>
          </a:p>
          <a:p>
            <a:pPr lvl="1"/>
            <a:r>
              <a:rPr lang="en-BE" b="1" dirty="0"/>
              <a:t>consteval</a:t>
            </a:r>
            <a:r>
              <a:rPr lang="en-BE" dirty="0"/>
              <a:t> </a:t>
            </a:r>
            <a:r>
              <a:rPr lang="en-BE" dirty="0" err="1"/>
              <a:t>metafunctions</a:t>
            </a:r>
            <a:r>
              <a:rPr lang="en-BE" dirty="0"/>
              <a:t> that work on reflection values</a:t>
            </a:r>
          </a:p>
          <a:p>
            <a:pPr lvl="1"/>
            <a:r>
              <a:rPr lang="en-BE" dirty="0"/>
              <a:t>Splicers producing grammatical elements from reflection values (</a:t>
            </a:r>
            <a:r>
              <a:rPr lang="en-BE" b="1" dirty="0"/>
              <a:t>[:</a:t>
            </a:r>
            <a:r>
              <a:rPr lang="en-BE" b="1" dirty="0" err="1"/>
              <a:t>reflection_value</a:t>
            </a:r>
            <a:r>
              <a:rPr lang="en-BE" b="1" dirty="0"/>
              <a:t>:]</a:t>
            </a:r>
            <a:r>
              <a:rPr lang="en-BE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8378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A791D-29D5-2FFA-2DB2-EA7B07107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D96C-FF6F-D9D3-9E8B-89CC46F8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</a:t>
            </a:r>
            <a:r>
              <a:rPr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99B79-BE19-552D-BF18-ED122E2D0C7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Example: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= ^^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[:r:] x = 42;       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int x = 42;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[:^^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:] c =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'*’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char c = '*';</a:t>
            </a:r>
            <a:endParaRPr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51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F6379-7606-A61A-8DA8-1302A0CC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95BA-5E6B-8187-B949-97488A78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</a:t>
            </a:r>
            <a:r>
              <a:rPr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9379F-E7AC-ECE5-63B9-D7959EA114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Example: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template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</a:t>
            </a:r>
            <a:r>
              <a:rPr lang="nl-BE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typename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requires</a:t>
            </a:r>
            <a:r>
              <a:rPr lang="pt-BR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std::is_enum_v&lt;</a:t>
            </a:r>
            <a:r>
              <a:rPr lang="pt-BR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</a:t>
            </a:r>
            <a:r>
              <a:rPr lang="pt-BR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std::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enum_to_string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value) {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template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 : </a:t>
            </a:r>
            <a:r>
              <a:rPr lang="nl-BE" sz="15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std::meta::enumerators_of(^^E)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l-BE" sz="15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== </a:t>
            </a:r>
            <a:r>
              <a:rPr lang="nl-BE" sz="15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[:e:]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std::string(</a:t>
            </a:r>
            <a:r>
              <a:rPr lang="en-US" sz="15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std::meta::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name_of</a:t>
            </a:r>
            <a:r>
              <a:rPr lang="en-US" sz="15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(e)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"&lt;</a:t>
            </a:r>
            <a:r>
              <a:rPr lang="nl-BE" sz="15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unnamed</a:t>
            </a:r>
            <a:r>
              <a:rPr lang="nl-BE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&gt;"</a:t>
            </a: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endParaRPr lang="nl-BE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enum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500" dirty="0">
                <a:solidFill>
                  <a:srgbClr val="2F4F4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2F4F4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green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500" dirty="0">
                <a:solidFill>
                  <a:srgbClr val="2F4F4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static_assert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enum_to_string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sz="1500" dirty="0">
                <a:solidFill>
                  <a:srgbClr val="2F4F4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== </a:t>
            </a:r>
            <a:r>
              <a:rPr lang="en-US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"red"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5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static_assert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enum_to_string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(42)) == </a:t>
            </a:r>
            <a:r>
              <a:rPr lang="en-US" sz="15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"&lt;unnamed&gt;"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84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39EFA-61AC-510A-2773-C80433BC1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3A4B5-5C96-53C1-168A-F968D6A7C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</a:t>
            </a:r>
            <a:r>
              <a:rPr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559EA-2511-864D-1F1F-D3C831A085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Annotations can be added to your code</a:t>
            </a:r>
          </a:p>
          <a:p>
            <a:r>
              <a:rPr lang="en-US" dirty="0"/>
              <a:t>Observable by reflection</a:t>
            </a:r>
          </a:p>
          <a:p>
            <a:r>
              <a:rPr lang="en-US" dirty="0"/>
              <a:t>Syntax: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[[=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SomeAnnotation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]]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Point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x, y;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sz="1800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581C6-D800-AD37-C704-46A62BF25312}"/>
              </a:ext>
            </a:extLst>
          </p:cNvPr>
          <p:cNvSpPr txBox="1"/>
          <p:nvPr/>
        </p:nvSpPr>
        <p:spPr>
          <a:xfrm>
            <a:off x="3858491" y="3971623"/>
            <a:ext cx="2438400" cy="830997"/>
          </a:xfrm>
          <a:prstGeom prst="rect">
            <a:avLst/>
          </a:prstGeom>
          <a:solidFill>
            <a:srgbClr val="C6F5BC"/>
          </a:solidFill>
          <a:ln>
            <a:solidFill>
              <a:srgbClr val="64EB1B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1200" dirty="0"/>
              <a:t>“</a:t>
            </a:r>
            <a:r>
              <a:rPr lang="en-US" sz="1200" b="1" dirty="0"/>
              <a:t>Reflection: C++’s Decade-Defining Rocket Engine</a:t>
            </a:r>
            <a:r>
              <a:rPr lang="en-US" sz="1200" dirty="0"/>
              <a:t>” – </a:t>
            </a:r>
            <a:r>
              <a:rPr lang="en-BE" sz="1200" dirty="0"/>
              <a:t>Herb Sutter</a:t>
            </a:r>
            <a:endParaRPr lang="en-US" sz="1200" dirty="0"/>
          </a:p>
          <a:p>
            <a:pPr algn="ctr"/>
            <a:r>
              <a:rPr lang="en-US" sz="1200" i="1" dirty="0"/>
              <a:t>Wednesday, September 17 • 10:30 MDT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6CCB2-57D8-9123-D6D4-9A8D5CA38201}"/>
              </a:ext>
            </a:extLst>
          </p:cNvPr>
          <p:cNvSpPr txBox="1"/>
          <p:nvPr/>
        </p:nvSpPr>
        <p:spPr>
          <a:xfrm>
            <a:off x="6477000" y="3971623"/>
            <a:ext cx="2438400" cy="830997"/>
          </a:xfrm>
          <a:prstGeom prst="rect">
            <a:avLst/>
          </a:prstGeom>
          <a:solidFill>
            <a:srgbClr val="C6F5BC"/>
          </a:solidFill>
          <a:ln>
            <a:solidFill>
              <a:srgbClr val="64EB1B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1200" dirty="0"/>
              <a:t>“</a:t>
            </a:r>
            <a:r>
              <a:rPr lang="en-US" sz="1200" b="1" dirty="0"/>
              <a:t>Type Traits without Compiler Intrinsics – The Promise of Static Reflection</a:t>
            </a:r>
            <a:r>
              <a:rPr lang="en-US" sz="1200" dirty="0"/>
              <a:t>” – </a:t>
            </a:r>
            <a:r>
              <a:rPr lang="en-BE" sz="1200" dirty="0"/>
              <a:t>Andrei Zissu</a:t>
            </a:r>
            <a:endParaRPr lang="en-US" sz="1200" dirty="0"/>
          </a:p>
          <a:p>
            <a:pPr algn="ctr"/>
            <a:r>
              <a:rPr lang="en-US" sz="1200" i="1" dirty="0"/>
              <a:t>Friday, September 19 • 10:30 MDT</a:t>
            </a:r>
          </a:p>
        </p:txBody>
      </p:sp>
    </p:spTree>
    <p:extLst>
      <p:ext uri="{BB962C8B-B14F-4D97-AF65-F5344CB8AC3E}">
        <p14:creationId xmlns:p14="http://schemas.microsoft.com/office/powerpoint/2010/main" val="3658584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C5DAC-9509-194B-A448-76642717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38F64-DE7A-5E98-B780-02FC5BBCA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Contracts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89164-CF7E-E256-226E-305615B486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Three types of contract assertions</a:t>
            </a:r>
          </a:p>
          <a:p>
            <a:pPr lvl="1"/>
            <a:r>
              <a:rPr lang="en-BE" dirty="0"/>
              <a:t>Precondition assertions</a:t>
            </a:r>
          </a:p>
          <a:p>
            <a:pPr lvl="1"/>
            <a:r>
              <a:rPr lang="en-BE" dirty="0"/>
              <a:t>Postcondition assertions</a:t>
            </a:r>
          </a:p>
          <a:p>
            <a:pPr lvl="1"/>
            <a:r>
              <a:rPr lang="en-BE" dirty="0"/>
              <a:t>Assertion statements</a:t>
            </a:r>
          </a:p>
        </p:txBody>
      </p:sp>
    </p:spTree>
    <p:extLst>
      <p:ext uri="{BB962C8B-B14F-4D97-AF65-F5344CB8AC3E}">
        <p14:creationId xmlns:p14="http://schemas.microsoft.com/office/powerpoint/2010/main" val="1798819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8EA16-FF3B-08FD-9356-EAF098312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8F5F1-5C78-2170-ACAA-532FC6FE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Contracts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D222D-6F3C-D5B5-31EE-DA62D695A8E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nl-BE" sz="2400" dirty="0"/>
              <a:t>P</a:t>
            </a:r>
            <a:r>
              <a:rPr lang="en-BE" sz="2400" dirty="0"/>
              <a:t>recondition assertions</a:t>
            </a:r>
          </a:p>
          <a:p>
            <a:pPr marL="320040" lvl="1" indent="0">
              <a:spcBef>
                <a:spcPts val="0"/>
              </a:spcBef>
              <a:buNone/>
            </a:pPr>
            <a:endParaRPr lang="en-BE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f(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pre(i &gt; 0);</a:t>
            </a:r>
          </a:p>
          <a:p>
            <a:pPr marL="320040" lvl="1" indent="0">
              <a:spcBef>
                <a:spcPts val="0"/>
              </a:spcBef>
              <a:buNone/>
            </a:pP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pre(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 0 &amp;&amp;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must be greater than 0"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nl-BE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04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A863D-6AC9-E780-6552-8C737CAD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8137-1BC6-3414-E810-5957C8AC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Contracts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33992-A3C0-58E5-794F-5B0FC4DA3A9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nl-BE" sz="2400" dirty="0"/>
              <a:t>P</a:t>
            </a:r>
            <a:r>
              <a:rPr lang="en-BE" sz="2400" dirty="0" err="1"/>
              <a:t>ostcondition</a:t>
            </a:r>
            <a:r>
              <a:rPr lang="en-BE" sz="2400" dirty="0"/>
              <a:t> assertions</a:t>
            </a:r>
          </a:p>
          <a:p>
            <a:pPr marL="320040" lvl="1" indent="0">
              <a:spcBef>
                <a:spcPts val="0"/>
              </a:spcBef>
              <a:buNone/>
            </a:pPr>
            <a:endParaRPr lang="en-BE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MyContainer::clear()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post(empty());</a:t>
            </a:r>
            <a:endParaRPr lang="en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en-BE" sz="2900" dirty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BE" sz="2400" dirty="0"/>
              <a:t>Can specify a result binding that names the result object of the function</a:t>
            </a:r>
          </a:p>
          <a:p>
            <a:pPr marL="320040" lvl="1" indent="0">
              <a:spcBef>
                <a:spcPts val="0"/>
              </a:spcBef>
              <a:buNone/>
            </a:pPr>
            <a:endParaRPr lang="en-BE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f(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post(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r: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&gt;=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 refers to the result object of f.</a:t>
            </a:r>
            <a:endParaRPr lang="en-BE" sz="18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buNone/>
            </a:pPr>
            <a:endParaRPr lang="nl-BE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36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04E38-DC8F-9EC6-6E7E-C1D669D3D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03998-0268-2B92-549B-AECDCD1B8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Contracts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12217-50D6-7C94-9853-C012C7276A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BE" sz="2400" dirty="0"/>
              <a:t>Pre and postconditions can be combined</a:t>
            </a:r>
          </a:p>
          <a:p>
            <a:pPr marL="320040" lvl="1" indent="0">
              <a:spcBef>
                <a:spcPts val="0"/>
              </a:spcBef>
              <a:buNone/>
            </a:pPr>
            <a:endParaRPr lang="en-BE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f()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pre(a)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post(b)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pre(c);</a:t>
            </a:r>
            <a:endParaRPr lang="nl-BE" sz="1800" dirty="0">
              <a:latin typeface="Consolas" panose="020B0609020204030204" pitchFamily="49" charset="0"/>
            </a:endParaRPr>
          </a:p>
          <a:p>
            <a:pPr marL="320040" lvl="1" indent="0">
              <a:buNone/>
            </a:pPr>
            <a:endParaRPr lang="nl-BE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129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47DFB-6BA5-88BF-1110-F2CB6A7D9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0F87-66E6-FEFA-C7BD-4EEA0257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Contracts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70D75-058A-AF04-C5EF-EE9FD5D7D87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BE" sz="2400" dirty="0"/>
              <a:t>Assertion statements</a:t>
            </a:r>
          </a:p>
          <a:p>
            <a:pPr marL="320040" lvl="1" indent="0">
              <a:spcBef>
                <a:spcPts val="0"/>
              </a:spcBef>
              <a:buNone/>
            </a:pPr>
            <a:endParaRPr lang="en-BE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contract_assert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!= 3);</a:t>
            </a:r>
            <a:endParaRPr lang="nl-BE" sz="1800" dirty="0">
              <a:latin typeface="Consolas" panose="020B0609020204030204" pitchFamily="49" charset="0"/>
            </a:endParaRPr>
          </a:p>
          <a:p>
            <a:pPr marL="320040" lvl="1" indent="0">
              <a:buNone/>
            </a:pPr>
            <a:endParaRPr lang="en-BE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538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90347-1212-C155-912D-D0A12DC87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D6B1D-2B9F-9172-BB0E-D66A778D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Contracts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A098D-DBF2-9BF8-CC5D-048E276F3A8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f(</a:t>
            </a: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pre(x != 1)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precondition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assertion</a:t>
            </a: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post(r : r == x &amp;&amp; r != 2)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postcondition assertion</a:t>
            </a:r>
            <a:endParaRPr lang="en-BE" sz="18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//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 names the result object of f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contract_assert(</a:t>
            </a:r>
            <a:r>
              <a:rPr lang="nl-BE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!= 3);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 </a:t>
            </a:r>
            <a:r>
              <a:rPr lang="nl-BE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assertion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statement</a:t>
            </a: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endParaRPr lang="en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f(0);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 </a:t>
            </a:r>
            <a:r>
              <a:rPr lang="nl-BE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violation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</a:t>
            </a: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f(1);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iolates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precondition assertion of f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f(2);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iolates postcondition assertion of f</a:t>
            </a: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f(3);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iolates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assertion statement within f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f(4);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 </a:t>
            </a:r>
            <a:r>
              <a:rPr lang="nl-BE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violation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</a:t>
            </a:r>
            <a:endParaRPr lang="nl-BE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00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6DBB6-3F9B-921E-FAE7-A356A8B41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37885-0200-AE6B-18C4-22EADED8C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Contracts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46EEC-7BA0-D941-180E-C81FC5DA2D7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BE" sz="2400" dirty="0"/>
              <a:t>Four evaluation semantics:</a:t>
            </a:r>
          </a:p>
          <a:p>
            <a:pPr lvl="1"/>
            <a:r>
              <a:rPr lang="en-BE" b="1" dirty="0"/>
              <a:t>Ignore</a:t>
            </a:r>
            <a:r>
              <a:rPr lang="en-BE" dirty="0"/>
              <a:t>: assertions are ignored.</a:t>
            </a:r>
          </a:p>
          <a:p>
            <a:pPr lvl="1"/>
            <a:r>
              <a:rPr lang="en-BE" b="1" dirty="0"/>
              <a:t>Observe</a:t>
            </a:r>
            <a:r>
              <a:rPr lang="en-BE" dirty="0"/>
              <a:t>: </a:t>
            </a:r>
            <a:r>
              <a:rPr lang="en-US" dirty="0"/>
              <a:t>C</a:t>
            </a:r>
            <a:r>
              <a:rPr lang="en-BE" dirty="0"/>
              <a:t>ontract violation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</a:p>
          <a:p>
            <a:pPr lvl="2"/>
            <a:r>
              <a:rPr lang="en-BE" dirty="0"/>
              <a:t>invoke the contract-violation handler</a:t>
            </a:r>
            <a:endParaRPr lang="en-US" dirty="0"/>
          </a:p>
          <a:p>
            <a:pPr lvl="2"/>
            <a:r>
              <a:rPr lang="en-BE" dirty="0"/>
              <a:t>if it returns normally, continue program execution</a:t>
            </a:r>
          </a:p>
          <a:p>
            <a:pPr lvl="1"/>
            <a:r>
              <a:rPr lang="en-BE" b="1" dirty="0"/>
              <a:t>Enforce</a:t>
            </a:r>
            <a:r>
              <a:rPr lang="en-BE" dirty="0"/>
              <a:t>: </a:t>
            </a:r>
            <a:r>
              <a:rPr lang="en-US" dirty="0"/>
              <a:t>C</a:t>
            </a:r>
            <a:r>
              <a:rPr lang="en-BE" dirty="0"/>
              <a:t>ontract violation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  <a:p>
            <a:pPr lvl="2"/>
            <a:r>
              <a:rPr lang="en-BE" dirty="0"/>
              <a:t>invoke the contract-violation handler</a:t>
            </a:r>
            <a:endParaRPr lang="en-US" dirty="0"/>
          </a:p>
          <a:p>
            <a:pPr lvl="2"/>
            <a:r>
              <a:rPr lang="en-BE" dirty="0"/>
              <a:t>if it returns normally, terminate program</a:t>
            </a:r>
          </a:p>
          <a:p>
            <a:pPr lvl="1"/>
            <a:r>
              <a:rPr lang="en-BE" b="1" dirty="0"/>
              <a:t>Quick-enforce</a:t>
            </a:r>
            <a:r>
              <a:rPr lang="en-BE" dirty="0"/>
              <a:t>: </a:t>
            </a:r>
            <a:r>
              <a:rPr lang="en-US" dirty="0"/>
              <a:t>C</a:t>
            </a:r>
            <a:r>
              <a:rPr lang="en-BE" dirty="0"/>
              <a:t>ontract violation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  <a:p>
            <a:pPr lvl="2"/>
            <a:r>
              <a:rPr lang="en-BE" dirty="0"/>
              <a:t>do not invoke the contract-violation handler</a:t>
            </a:r>
            <a:endParaRPr lang="en-US" dirty="0"/>
          </a:p>
          <a:p>
            <a:pPr lvl="2"/>
            <a:r>
              <a:rPr lang="en-BE" dirty="0"/>
              <a:t>immediately terminate the program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95819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736EC-3E9B-5E68-CD8D-5A4BD004E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4AED-7FC7-2753-9EEF-014E2AE6D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Contracts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30FD1-E51C-76BB-6E40-25EC4616741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BE" sz="2400" dirty="0"/>
              <a:t>The contract-violation handler is called </a:t>
            </a:r>
            <a:r>
              <a:rPr lang="nl-BE" sz="2400" b="1" dirty="0"/>
              <a:t>::</a:t>
            </a:r>
            <a:r>
              <a:rPr lang="nl-BE" sz="2400" b="1" dirty="0" err="1"/>
              <a:t>handle_contract_violation</a:t>
            </a:r>
            <a:endParaRPr lang="en-BE" sz="2400" b="1" dirty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sz="2400" dirty="0"/>
              <a:t>The standard r</a:t>
            </a:r>
            <a:r>
              <a:rPr lang="en-BE" sz="2400" dirty="0"/>
              <a:t>ecommend</a:t>
            </a:r>
            <a:r>
              <a:rPr lang="en-US" sz="2400" dirty="0"/>
              <a:t>s</a:t>
            </a:r>
            <a:r>
              <a:rPr lang="en-BE" sz="2400" dirty="0"/>
              <a:t> implementation</a:t>
            </a:r>
            <a:r>
              <a:rPr lang="en-US" sz="2400" dirty="0"/>
              <a:t>s</a:t>
            </a:r>
            <a:r>
              <a:rPr lang="en-BE" sz="2400" dirty="0"/>
              <a:t> </a:t>
            </a:r>
            <a:r>
              <a:rPr lang="en-US" sz="2400" dirty="0"/>
              <a:t>to at least </a:t>
            </a:r>
            <a:r>
              <a:rPr lang="en-BE" sz="2400" dirty="0"/>
              <a:t>output a diagnostics message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BE" sz="2400" dirty="0"/>
              <a:t>It’s implementation-defined if a user can replace th</a:t>
            </a:r>
            <a:r>
              <a:rPr lang="en-US" sz="2400" dirty="0"/>
              <a:t>is</a:t>
            </a:r>
            <a:r>
              <a:rPr lang="en-BE" sz="2400" dirty="0"/>
              <a:t> handler</a:t>
            </a:r>
            <a:endParaRPr lang="nl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D3B09-48E4-BA5C-CD43-EEBE4AE4FCF6}"/>
              </a:ext>
            </a:extLst>
          </p:cNvPr>
          <p:cNvSpPr txBox="1"/>
          <p:nvPr/>
        </p:nvSpPr>
        <p:spPr>
          <a:xfrm>
            <a:off x="3581400" y="3971623"/>
            <a:ext cx="2438400" cy="830997"/>
          </a:xfrm>
          <a:prstGeom prst="rect">
            <a:avLst/>
          </a:prstGeom>
          <a:solidFill>
            <a:srgbClr val="C6F5BC"/>
          </a:solidFill>
          <a:ln>
            <a:solidFill>
              <a:srgbClr val="64EB1B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1200" dirty="0"/>
              <a:t>“</a:t>
            </a:r>
            <a:r>
              <a:rPr lang="en-US" sz="1200" b="1" dirty="0"/>
              <a:t>The joy of C++26 contracts (and some myth-conceptions)</a:t>
            </a:r>
            <a:r>
              <a:rPr lang="en-US" sz="1200" dirty="0"/>
              <a:t>” – </a:t>
            </a:r>
            <a:r>
              <a:rPr lang="en-BE" sz="1200" dirty="0"/>
              <a:t>Herb Sutter</a:t>
            </a:r>
            <a:endParaRPr lang="en-US" sz="1200" dirty="0"/>
          </a:p>
          <a:p>
            <a:pPr algn="ctr"/>
            <a:r>
              <a:rPr lang="en-BE" sz="1200" i="1" dirty="0"/>
              <a:t>Monday</a:t>
            </a:r>
            <a:r>
              <a:rPr lang="en-US" sz="1200" i="1" dirty="0"/>
              <a:t>, September 15 • 1</a:t>
            </a:r>
            <a:r>
              <a:rPr lang="en-BE" sz="1200" i="1" dirty="0"/>
              <a:t>1</a:t>
            </a:r>
            <a:r>
              <a:rPr lang="en-US" sz="1200" i="1" dirty="0"/>
              <a:t>:</a:t>
            </a:r>
            <a:r>
              <a:rPr lang="en-BE" sz="1200" i="1" dirty="0"/>
              <a:t>0</a:t>
            </a:r>
            <a:r>
              <a:rPr lang="en-US" sz="1200" i="1" dirty="0"/>
              <a:t>0 MDT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B6C2-18C5-E994-8F6B-9D617AF8A6A7}"/>
              </a:ext>
            </a:extLst>
          </p:cNvPr>
          <p:cNvSpPr txBox="1"/>
          <p:nvPr/>
        </p:nvSpPr>
        <p:spPr>
          <a:xfrm>
            <a:off x="6248400" y="3971624"/>
            <a:ext cx="2667000" cy="830997"/>
          </a:xfrm>
          <a:prstGeom prst="rect">
            <a:avLst/>
          </a:prstGeom>
          <a:solidFill>
            <a:srgbClr val="C6F5BC"/>
          </a:solidFill>
          <a:ln>
            <a:solidFill>
              <a:srgbClr val="64EB1B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1200" dirty="0"/>
              <a:t>“</a:t>
            </a:r>
            <a:r>
              <a:rPr lang="en-US" sz="1200" b="1" dirty="0"/>
              <a:t>To Err is Human: Robust Error Handling in C++26</a:t>
            </a:r>
            <a:r>
              <a:rPr lang="en-US" sz="1200" dirty="0"/>
              <a:t>” – </a:t>
            </a:r>
            <a:r>
              <a:rPr lang="en-BE" sz="1200" dirty="0"/>
              <a:t>Sebastian Theophil</a:t>
            </a:r>
            <a:endParaRPr lang="en-US" sz="1200" dirty="0"/>
          </a:p>
          <a:p>
            <a:pPr algn="ctr"/>
            <a:r>
              <a:rPr lang="en-US" sz="1200" i="1" dirty="0"/>
              <a:t>Wednesday, September 17 • 15:15 MDT</a:t>
            </a:r>
          </a:p>
        </p:txBody>
      </p:sp>
    </p:spTree>
    <p:extLst>
      <p:ext uri="{BB962C8B-B14F-4D97-AF65-F5344CB8AC3E}">
        <p14:creationId xmlns:p14="http://schemas.microsoft.com/office/powerpoint/2010/main" val="2282330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Unnamed Placeholder Variables (_)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Use </a:t>
            </a:r>
            <a:r>
              <a:rPr b="1" dirty="0"/>
              <a:t>_</a:t>
            </a:r>
            <a:r>
              <a:rPr dirty="0"/>
              <a:t> as placeholder for unnamed entities</a:t>
            </a:r>
          </a:p>
          <a:p>
            <a:endParaRPr lang="en-BE" dirty="0"/>
          </a:p>
          <a:p>
            <a:r>
              <a:rPr lang="en-BE" dirty="0"/>
              <a:t>Instead of:</a:t>
            </a:r>
          </a:p>
          <a:p>
            <a:pPr marL="320040" lvl="1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lock_guard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namingIsHard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(mutex);</a:t>
            </a:r>
          </a:p>
          <a:p>
            <a:pPr marL="320040" lvl="1" indent="0"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[x, y,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iDontCare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f();</a:t>
            </a:r>
            <a:endParaRPr lang="en-BE" sz="1800" dirty="0">
              <a:latin typeface="Consolas" panose="020B0609020204030204" pitchFamily="49" charset="0"/>
            </a:endParaRPr>
          </a:p>
          <a:p>
            <a:endParaRPr dirty="0"/>
          </a:p>
          <a:p>
            <a:r>
              <a:rPr dirty="0"/>
              <a:t>Write:</a:t>
            </a:r>
          </a:p>
          <a:p>
            <a:pPr marL="320040" lvl="1" indent="0"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lock_guard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_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mutex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20040" lvl="1" indent="0"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[x, y, </a:t>
            </a:r>
            <a:r>
              <a:rPr lang="nl-BE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_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f();</a:t>
            </a:r>
            <a:endParaRPr sz="1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User-Generated </a:t>
            </a:r>
            <a:r>
              <a:rPr dirty="0" err="1"/>
              <a:t>static_assert</a:t>
            </a:r>
            <a:r>
              <a:rPr dirty="0"/>
              <a:t>()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Before</a:t>
            </a:r>
            <a:r>
              <a:rPr lang="en-BE" dirty="0"/>
              <a:t> </a:t>
            </a:r>
            <a:r>
              <a:rPr lang="en-US" dirty="0"/>
              <a:t>C++26, </a:t>
            </a:r>
            <a:r>
              <a:rPr lang="en-BE" dirty="0"/>
              <a:t>2</a:t>
            </a:r>
            <a:r>
              <a:rPr lang="en-BE" baseline="30000" dirty="0"/>
              <a:t>nd</a:t>
            </a:r>
            <a:r>
              <a:rPr lang="en-BE" dirty="0"/>
              <a:t> </a:t>
            </a:r>
            <a:r>
              <a:rPr lang="en-US" dirty="0"/>
              <a:t>argument of </a:t>
            </a:r>
            <a:r>
              <a:rPr lang="en-US" b="1" dirty="0" err="1"/>
              <a:t>static_assert</a:t>
            </a:r>
            <a:r>
              <a:rPr lang="en-BE" b="1" dirty="0"/>
              <a:t>()</a:t>
            </a:r>
            <a:r>
              <a:rPr lang="en-US" dirty="0"/>
              <a:t> had to be a string literal</a:t>
            </a:r>
            <a:r>
              <a:rPr lang="en-BE" dirty="0"/>
              <a:t>:</a:t>
            </a:r>
          </a:p>
          <a:p>
            <a:pPr marL="320040" lvl="1" indent="0">
              <a:buNone/>
            </a:pPr>
            <a:r>
              <a:rPr kumimoji="0" lang="nl-BE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static_assert</a:t>
            </a:r>
            <a:r>
              <a:rPr kumimoji="0" lang="nl-BE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nl-BE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true</a:t>
            </a:r>
            <a:r>
              <a:rPr kumimoji="0" lang="nl-BE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BE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"Error message"</a:t>
            </a:r>
            <a:r>
              <a:rPr kumimoji="0" lang="nl-BE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  <a:endParaRPr lang="en-BE" sz="1700" dirty="0"/>
          </a:p>
          <a:p>
            <a:endParaRPr lang="en-BE" dirty="0"/>
          </a:p>
          <a:p>
            <a:r>
              <a:rPr lang="en-BE" dirty="0"/>
              <a:t>C++26, 2</a:t>
            </a:r>
            <a:r>
              <a:rPr lang="en-BE" baseline="30000" dirty="0"/>
              <a:t>nd </a:t>
            </a:r>
            <a:r>
              <a:rPr lang="en-BE" dirty="0"/>
              <a:t> argument can be </a:t>
            </a:r>
            <a:r>
              <a:rPr lang="en-US" dirty="0"/>
              <a:t>any constant-evaluated string</a:t>
            </a:r>
            <a:endParaRPr lang="en-BE" dirty="0"/>
          </a:p>
          <a:p>
            <a:pPr lvl="1"/>
            <a:r>
              <a:rPr lang="en-US" dirty="0"/>
              <a:t>e.g.</a:t>
            </a:r>
            <a:r>
              <a:rPr lang="en-BE" dirty="0"/>
              <a:t>:</a:t>
            </a:r>
            <a:r>
              <a:rPr lang="en-US" dirty="0"/>
              <a:t> </a:t>
            </a:r>
            <a:r>
              <a:rPr lang="en-US" b="1" dirty="0"/>
              <a:t>std::</a:t>
            </a:r>
            <a:r>
              <a:rPr lang="en-US" b="1" dirty="0" err="1"/>
              <a:t>string_view</a:t>
            </a:r>
            <a:r>
              <a:rPr lang="en-US" b="1" dirty="0"/>
              <a:t> </a:t>
            </a:r>
            <a:r>
              <a:rPr lang="en-US" dirty="0"/>
              <a:t>from a </a:t>
            </a:r>
            <a:r>
              <a:rPr lang="en-US" b="1" dirty="0" err="1"/>
              <a:t>consteval</a:t>
            </a:r>
            <a:r>
              <a:rPr lang="en-US" dirty="0"/>
              <a:t> function</a:t>
            </a:r>
            <a:endParaRPr lang="en-B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A2161-560C-C023-8F73-6F301AA1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280FB-00DD-7BE7-E786-DC6CDD1B4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User-Generated </a:t>
            </a:r>
            <a:r>
              <a:rPr dirty="0" err="1"/>
              <a:t>static_assert</a:t>
            </a:r>
            <a:r>
              <a:rPr dirty="0"/>
              <a:t>()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B53BF-531C-FF77-0045-F74940718CA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Allows for </a:t>
            </a:r>
            <a:r>
              <a:rPr lang="en-US" b="1" dirty="0"/>
              <a:t>sharing of strings</a:t>
            </a:r>
            <a:endParaRPr lang="en-US" dirty="0"/>
          </a:p>
          <a:p>
            <a:pPr marL="320040" lvl="1" indent="0">
              <a:buNone/>
            </a:pPr>
            <a:r>
              <a:rPr lang="en-US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en-US" sz="1700" dirty="0">
                <a:latin typeface="Consolas" panose="020B0609020204030204" pitchFamily="49" charset="0"/>
              </a:rPr>
              <a:t> std::</a:t>
            </a:r>
            <a:r>
              <a:rPr lang="en-US" sz="1700" dirty="0" err="1">
                <a:latin typeface="Consolas" panose="020B0609020204030204" pitchFamily="49" charset="0"/>
              </a:rPr>
              <a:t>string_view</a:t>
            </a:r>
            <a:r>
              <a:rPr lang="en-US" sz="1700" dirty="0">
                <a:latin typeface="Consolas" panose="020B0609020204030204" pitchFamily="49" charset="0"/>
              </a:rPr>
              <a:t> msg { "Error message" };</a:t>
            </a:r>
            <a:br>
              <a:rPr lang="en-US" sz="1700" dirty="0">
                <a:latin typeface="Consolas" panose="020B0609020204030204" pitchFamily="49" charset="0"/>
              </a:rPr>
            </a:br>
            <a:r>
              <a:rPr lang="en-US" sz="1700" dirty="0" err="1">
                <a:latin typeface="Consolas" panose="020B0609020204030204" pitchFamily="49" charset="0"/>
              </a:rPr>
              <a:t>static_assert</a:t>
            </a:r>
            <a:r>
              <a:rPr lang="en-US" sz="1700" dirty="0"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1700" dirty="0">
                <a:latin typeface="Consolas" panose="020B0609020204030204" pitchFamily="49" charset="0"/>
              </a:rPr>
              <a:t>, msg);</a:t>
            </a:r>
          </a:p>
          <a:p>
            <a:pPr marL="320040" lvl="1" indent="0">
              <a:buNone/>
            </a:pPr>
            <a:r>
              <a:rPr lang="en-US" sz="1700" dirty="0" err="1">
                <a:solidFill>
                  <a:prstClr val="black"/>
                </a:solidFill>
                <a:latin typeface="Consolas" panose="020B0609020204030204" pitchFamily="49" charset="0"/>
              </a:rPr>
              <a:t>static_assert</a:t>
            </a:r>
            <a:r>
              <a:rPr lang="en-US" sz="1700" dirty="0">
                <a:solidFill>
                  <a:prstClr val="black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0000FF"/>
                </a:solidFill>
                <a:latin typeface="Consolas" panose="020B0609020204030204" pitchFamily="49" charset="0"/>
              </a:rPr>
              <a:t>...</a:t>
            </a:r>
            <a:r>
              <a:rPr lang="en-US" sz="1700" dirty="0">
                <a:solidFill>
                  <a:prstClr val="black"/>
                </a:solidFill>
                <a:latin typeface="Consolas" panose="020B0609020204030204" pitchFamily="49" charset="0"/>
              </a:rPr>
              <a:t>, msg);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BE" dirty="0"/>
              <a:t>Allows for </a:t>
            </a:r>
            <a:r>
              <a:rPr lang="en-BE" b="1" dirty="0"/>
              <a:t>computed strings</a:t>
            </a:r>
          </a:p>
          <a:p>
            <a:r>
              <a:rPr lang="en-BE" dirty="0"/>
              <a:t>Future example</a:t>
            </a:r>
          </a:p>
          <a:p>
            <a:pPr marL="320040" lvl="1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static_assert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000" dirty="0">
                <a:latin typeface="Consolas" panose="020B0609020204030204" pitchFamily="49" charset="0"/>
              </a:rPr>
              <a:t>(S) == 1,</a:t>
            </a:r>
            <a:endParaRPr lang="en-BE" sz="2000" dirty="0">
              <a:latin typeface="Consolas" panose="020B0609020204030204" pitchFamily="49" charset="0"/>
            </a:endParaRPr>
          </a:p>
          <a:p>
            <a:pPr marL="320040" lvl="1" indent="0">
              <a:buNone/>
            </a:pPr>
            <a:r>
              <a:rPr lang="en-BE" sz="2000" dirty="0">
                <a:latin typeface="Consolas" panose="020B0609020204030204" pitchFamily="49" charset="0"/>
              </a:rPr>
              <a:t>  </a:t>
            </a:r>
            <a:r>
              <a:rPr lang="en-US" sz="2000" dirty="0">
                <a:latin typeface="Consolas" panose="020B0609020204030204" pitchFamily="49" charset="0"/>
              </a:rPr>
              <a:t>std::format("Unexpected </a:t>
            </a:r>
            <a:r>
              <a:rPr lang="en-US" sz="2000" dirty="0" err="1">
                <a:latin typeface="Consolas" panose="020B0609020204030204" pitchFamily="49" charset="0"/>
              </a:rPr>
              <a:t>sizeof</a:t>
            </a:r>
            <a:r>
              <a:rPr lang="en-US" sz="2000" dirty="0">
                <a:latin typeface="Consolas" panose="020B0609020204030204" pitchFamily="49" charset="0"/>
              </a:rPr>
              <a:t>: expected 1, got {}",</a:t>
            </a:r>
            <a:endParaRPr lang="en-BE" sz="2000" dirty="0">
              <a:latin typeface="Consolas" panose="020B0609020204030204" pitchFamily="49" charset="0"/>
            </a:endParaRPr>
          </a:p>
          <a:p>
            <a:pPr marL="320040" lvl="1" indent="0">
              <a:buNone/>
            </a:pPr>
            <a:r>
              <a:rPr lang="en-BE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sizeof</a:t>
            </a:r>
            <a:r>
              <a:rPr lang="en-US" sz="2000" dirty="0">
                <a:latin typeface="Consolas" panose="020B0609020204030204" pitchFamily="49" charset="0"/>
              </a:rPr>
              <a:t>(S)));</a:t>
            </a:r>
            <a:endParaRPr lang="en-BE" sz="2000" dirty="0">
              <a:latin typeface="Consolas" panose="020B0609020204030204" pitchFamily="49" charset="0"/>
            </a:endParaRPr>
          </a:p>
          <a:p>
            <a:r>
              <a:rPr lang="en-BE" dirty="0"/>
              <a:t>This will work once </a:t>
            </a:r>
            <a:r>
              <a:rPr lang="en-BE" b="1" dirty="0"/>
              <a:t>std::format() </a:t>
            </a:r>
            <a:r>
              <a:rPr lang="en-BE" dirty="0"/>
              <a:t>is </a:t>
            </a:r>
            <a:r>
              <a:rPr lang="en-BE" b="1" dirty="0"/>
              <a:t>constexpr</a:t>
            </a:r>
          </a:p>
          <a:p>
            <a:endParaRPr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5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= delete("reason")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Provide custom message for deleted functions</a:t>
            </a:r>
          </a:p>
          <a:p>
            <a:r>
              <a:rPr lang="en-BE" dirty="0"/>
              <a:t>Example</a:t>
            </a:r>
          </a:p>
          <a:p>
            <a:pPr marL="320040" lvl="1" indent="0">
              <a:buNone/>
            </a:pP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newapi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320040" lvl="1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oldapi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ld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API is outdated and removed. </a:t>
            </a:r>
            <a:r>
              <a:rPr lang="en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 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newapi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instead."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0AC20-2B56-B702-A298-D0885A5AE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1BC9-D80A-0D4F-4E87-29F451979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= delete("reason")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0A0C8-5344-1A4E-F227-EE34BAD2A5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BE" dirty="0"/>
              <a:t>Example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MoveOnly</a:t>
            </a: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members</a:t>
            </a:r>
            <a:endParaRPr lang="en-BE" sz="18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// ...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// Copy members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MoveOnly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MoveOnly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&amp;)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"Copy-construction is</a:t>
            </a:r>
            <a:endParaRPr lang="en-BE" sz="1800" dirty="0">
              <a:solidFill>
                <a:srgbClr val="A31515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expensive; use move construction instead."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MoveOnly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operator=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MoveOnly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&amp;)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"Copy-assignment is</a:t>
            </a:r>
            <a:endParaRPr lang="en-BE" sz="1800" dirty="0">
              <a:solidFill>
                <a:srgbClr val="A31515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expensive; use move assignment instead."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749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Attributes on Structured Bindings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Apply attributes to individual introduced structured bindings</a:t>
            </a:r>
          </a:p>
          <a:p>
            <a:r>
              <a:rPr lang="en-BE" dirty="0"/>
              <a:t>Example:</a:t>
            </a:r>
            <a:endParaRPr lang="en-BE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[x,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[[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maybe_unused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]]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y] = std::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pair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1, 2 };</a:t>
            </a:r>
            <a:endParaRPr sz="1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Structured Bindings in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Before</a:t>
            </a:r>
            <a:r>
              <a:rPr dirty="0"/>
              <a:t> C++26, structured bindings can be used as a statement on its own or in range-based </a:t>
            </a:r>
            <a:r>
              <a:rPr b="1" dirty="0"/>
              <a:t>for</a:t>
            </a:r>
            <a:r>
              <a:rPr dirty="0"/>
              <a:t> loops</a:t>
            </a:r>
          </a:p>
          <a:p>
            <a:r>
              <a:rPr lang="en-BE" dirty="0"/>
              <a:t>C++26 adds support for structured bindings </a:t>
            </a:r>
            <a:r>
              <a:rPr lang="en-US" dirty="0"/>
              <a:t>as the condition in</a:t>
            </a:r>
            <a:r>
              <a:rPr lang="en-BE" dirty="0"/>
              <a:t> </a:t>
            </a:r>
            <a:r>
              <a:rPr lang="en-BE" b="1" dirty="0"/>
              <a:t>if</a:t>
            </a:r>
            <a:r>
              <a:rPr lang="en-BE" dirty="0"/>
              <a:t>, </a:t>
            </a:r>
            <a:r>
              <a:rPr lang="en-BE" b="1" dirty="0"/>
              <a:t>while</a:t>
            </a:r>
            <a:r>
              <a:rPr lang="en-BE" dirty="0"/>
              <a:t>, </a:t>
            </a:r>
            <a:r>
              <a:rPr lang="en-BE" b="1" dirty="0"/>
              <a:t>for</a:t>
            </a:r>
            <a:r>
              <a:rPr lang="en-BE" dirty="0"/>
              <a:t>, and </a:t>
            </a:r>
            <a:r>
              <a:rPr lang="en-BE" b="1" dirty="0"/>
              <a:t>switch</a:t>
            </a:r>
            <a:r>
              <a:rPr lang="en-BE" dirty="0"/>
              <a:t> statements</a:t>
            </a:r>
          </a:p>
          <a:p>
            <a:r>
              <a:rPr lang="en-BE" dirty="0"/>
              <a:t>Example:</a:t>
            </a:r>
          </a:p>
          <a:p>
            <a:pPr marL="320040" lvl="1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[a, b, c] = f())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{}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BE" sz="2400" dirty="0"/>
              <a:t>Roughly equivalent to: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 = f();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[a, b, c] = e; </a:t>
            </a: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static_cast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&gt;(e)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{}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B8C98-6EE8-766C-DBEB-37B1A7B0D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C678-73A3-F3D7-07FA-E6CE41ED3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Bindings in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1B2B2-998A-A231-D611-239742D76D0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Example using </a:t>
            </a:r>
            <a:r>
              <a:rPr b="1" dirty="0"/>
              <a:t>std::</a:t>
            </a:r>
            <a:r>
              <a:rPr b="1" dirty="0" err="1"/>
              <a:t>to_chars</a:t>
            </a:r>
            <a:r>
              <a:rPr b="1" dirty="0"/>
              <a:t>()</a:t>
            </a:r>
          </a:p>
          <a:p>
            <a:r>
              <a:rPr lang="en-BE" dirty="0"/>
              <a:t>Instead of: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ptr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std::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to_chars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(p, last, 4)</a:t>
            </a:r>
            <a:r>
              <a:rPr lang="en-US" sz="2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ec</a:t>
            </a:r>
            <a:r>
              <a:rPr lang="en-US" sz="2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== std::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errc</a:t>
            </a:r>
            <a:r>
              <a:rPr lang="en-US" sz="2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{}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BE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2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nl-BE" sz="2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success</a:t>
            </a:r>
            <a:endParaRPr lang="nl-BE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BE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nl-BE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2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error</a:t>
            </a:r>
            <a:endParaRPr lang="nl-BE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BE" sz="2200" dirty="0">
              <a:latin typeface="Consolas" panose="020B0609020204030204" pitchFamily="49" charset="0"/>
            </a:endParaRPr>
          </a:p>
          <a:p>
            <a:r>
              <a:rPr lang="en-BE" dirty="0"/>
              <a:t>You can write:</a:t>
            </a:r>
            <a:endParaRPr dirty="0"/>
          </a:p>
          <a:p>
            <a:pPr marL="320040" lvl="1" indent="0">
              <a:spcBef>
                <a:spcPts val="0"/>
              </a:spcBef>
              <a:buNone/>
            </a:pP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ptr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std::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to_chars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(p, last, 4)) {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2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2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2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success</a:t>
            </a:r>
            <a:endParaRPr lang="nl-BE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BE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nl-BE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2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error</a:t>
            </a:r>
            <a:endParaRPr lang="nl-BE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BE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BE" sz="2900" dirty="0"/>
              <a:t>Uses the new C++26 </a:t>
            </a:r>
            <a:r>
              <a:rPr lang="en-BE" sz="2900" b="1" dirty="0"/>
              <a:t>operator bool </a:t>
            </a:r>
            <a:r>
              <a:rPr lang="en-BE" sz="2900" dirty="0"/>
              <a:t>for </a:t>
            </a:r>
            <a:r>
              <a:rPr lang="en-BE" sz="2900" b="1" dirty="0"/>
              <a:t>std::</a:t>
            </a:r>
            <a:r>
              <a:rPr lang="nl-BE" sz="2900" b="1" dirty="0" err="1"/>
              <a:t>to_chars_result</a:t>
            </a:r>
            <a:endParaRPr lang="nl-BE" sz="2900" b="1" dirty="0"/>
          </a:p>
        </p:txBody>
      </p:sp>
    </p:spTree>
    <p:extLst>
      <p:ext uri="{BB962C8B-B14F-4D97-AF65-F5344CB8AC3E}">
        <p14:creationId xmlns:p14="http://schemas.microsoft.com/office/powerpoint/2010/main" val="197098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constexpr Structured Bindings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Structured bindings can now be declared </a:t>
            </a:r>
            <a:r>
              <a:rPr b="1" dirty="0"/>
              <a:t>constexpr</a:t>
            </a:r>
          </a:p>
          <a:p>
            <a:r>
              <a:rPr lang="en-BE" dirty="0"/>
              <a:t>Example:</a:t>
            </a:r>
          </a:p>
          <a:p>
            <a:pPr marL="320040" lvl="1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[a] = std::tuple(1);</a:t>
            </a:r>
            <a:endParaRPr sz="1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86A8-78ED-9D81-B654-4B26FA20F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41C4-46D9-4F7A-A741-A2C8D6650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Structured Bindings Introducing Packs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EBAA5-C16E-9D5B-B607-8D24E11FA7F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62500" lnSpcReduction="20000"/>
          </a:bodyPr>
          <a:lstStyle/>
          <a:p>
            <a:r>
              <a:rPr sz="3800" dirty="0"/>
              <a:t>Allows introducing a pack using a structured binding (only one pack can be introduced)</a:t>
            </a:r>
          </a:p>
          <a:p>
            <a:r>
              <a:rPr lang="en-BE" sz="3800" dirty="0"/>
              <a:t>Examples: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2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tuple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&lt;X, Y, Z&gt; f();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l-PL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pl-PL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[x, y, z] = f();       </a:t>
            </a: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l-PL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l-PL" sz="2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OK today</a:t>
            </a:r>
            <a:endParaRPr lang="pl-PL" sz="2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[...p] = f();           </a:t>
            </a: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 is a pack of length </a:t>
            </a:r>
            <a:r>
              <a:rPr lang="en-BE" sz="2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 // </a:t>
            </a:r>
            <a:r>
              <a:rPr lang="en-US" sz="2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containing an X, Y, and a Z</a:t>
            </a:r>
            <a:endParaRPr lang="en-US" sz="2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[x, ...rest] = f();     </a:t>
            </a: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x is an X, rest is a pack of</a:t>
            </a:r>
            <a:endParaRPr lang="en-BE" sz="29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 // </a:t>
            </a:r>
            <a:r>
              <a:rPr lang="en-US" sz="2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length </a:t>
            </a:r>
            <a:r>
              <a:rPr lang="en-BE" sz="2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2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(Y and Z)</a:t>
            </a:r>
            <a:endParaRPr lang="en-US" sz="2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[x, y, z, ...rest] = f(); </a:t>
            </a:r>
            <a:r>
              <a:rPr lang="en-US" sz="2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rest is an empty pack</a:t>
            </a:r>
            <a:endParaRPr lang="en-US" sz="2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[...a, ...b] = f();   </a:t>
            </a: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ill-formed: multiple packs</a:t>
            </a:r>
            <a:endParaRPr sz="29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60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Pack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Allows accessing specific elements in parameter packs</a:t>
            </a:r>
          </a:p>
          <a:p>
            <a:endParaRPr dirty="0"/>
          </a:p>
          <a:p>
            <a:pPr marL="320040" lvl="1" indent="0">
              <a:spcBef>
                <a:spcPts val="0"/>
              </a:spcBef>
              <a:buNone/>
            </a:pPr>
            <a:r>
              <a:rPr lang="nl-BE" sz="1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bar(</a:t>
            </a:r>
            <a:r>
              <a:rPr lang="nl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 </a:t>
            </a:r>
            <a:r>
              <a:rPr lang="nl-BE" sz="19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 = </a:t>
            </a:r>
            <a:r>
              <a:rPr lang="nl-BE" sz="19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...[0];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 = 1;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 = </a:t>
            </a:r>
            <a:r>
              <a:rPr lang="nl-BE" sz="19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...[n];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 = 2;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 = </a:t>
            </a:r>
            <a:r>
              <a:rPr lang="en-US" sz="19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...[m]; </a:t>
            </a:r>
            <a:r>
              <a:rPr lang="en-US" sz="1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US" sz="19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error</a:t>
            </a:r>
            <a:r>
              <a:rPr lang="en-US" sz="1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'm' not a constant expression</a:t>
            </a:r>
            <a:endParaRPr lang="en-US" sz="1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sz="19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C5D44-38A1-2924-2BE4-E197E014A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8399-A3FF-DC69-A8A4-ADB9E8C23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A4F14-A2C9-0CD1-B38C-12F4DCCFB56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template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&lt;std::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size_t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I,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typename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element_at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 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...[I];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320040" lvl="1" indent="0">
              <a:spcBef>
                <a:spcPts val="0"/>
              </a:spcBef>
              <a:buNone/>
            </a:pP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static_assert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element_at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&lt;0&gt;(3, 5, 9) == 3);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static_assert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element_at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&lt;2&gt;(3, 5, 9) == 9);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static_assert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element_at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&lt;3&gt;(3, 5, 9) == 4);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out of bounds</a:t>
            </a: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18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19F02-9B22-D298-188A-51C5DDB0F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80E6B-AC73-5731-C6F4-CC83B260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DD64B-8C31-BF92-F878-E9CB10EF11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320040" lvl="1" indent="0">
              <a:spcBef>
                <a:spcPts val="0"/>
              </a:spcBef>
              <a:buNone/>
            </a:pPr>
            <a:r>
              <a:rPr lang="en-US" sz="17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template</a:t>
            </a:r>
            <a:r>
              <a:rPr lang="en-US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&lt;std::</a:t>
            </a:r>
            <a:r>
              <a:rPr lang="en-US" sz="17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size_t</a:t>
            </a:r>
            <a:r>
              <a:rPr lang="en-US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I, </a:t>
            </a:r>
            <a:r>
              <a:rPr lang="en-US" sz="17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typename</a:t>
            </a:r>
            <a:r>
              <a:rPr lang="en-US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Tup</a:t>
            </a:r>
            <a:r>
              <a:rPr lang="en-US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7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en-US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7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structured_binding_element_at</a:t>
            </a:r>
            <a:r>
              <a:rPr lang="en-US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Tup</a:t>
            </a:r>
            <a:r>
              <a:rPr lang="en-US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tup</a:t>
            </a:r>
            <a:r>
              <a:rPr lang="en-US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7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7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[...</a:t>
            </a:r>
            <a:r>
              <a:rPr lang="nl-BE" sz="17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elems</a:t>
            </a: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</a:t>
            </a:r>
            <a:r>
              <a:rPr lang="nl-BE" sz="17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tup</a:t>
            </a: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7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7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'</a:t>
            </a:r>
            <a:r>
              <a:rPr lang="en-US" sz="17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elems</a:t>
            </a:r>
            <a:r>
              <a:rPr lang="en-US" sz="17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 introduced in structured binding pack declaration</a:t>
            </a:r>
            <a:endParaRPr lang="en-US" sz="17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7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7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7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elems</a:t>
            </a: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...[I];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320040" lvl="1" indent="0">
              <a:spcBef>
                <a:spcPts val="0"/>
              </a:spcBef>
              <a:buNone/>
            </a:pPr>
            <a:endParaRPr lang="nl-BE" sz="17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7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</a:t>
            </a:r>
            <a:r>
              <a:rPr lang="en-US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7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a; </a:t>
            </a:r>
            <a:r>
              <a:rPr lang="en-US" sz="17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b; };</a:t>
            </a:r>
          </a:p>
          <a:p>
            <a:pPr marL="320040" lvl="1" indent="0">
              <a:spcBef>
                <a:spcPts val="0"/>
              </a:spcBef>
              <a:buNone/>
            </a:pPr>
            <a:endParaRPr lang="nl-BE" sz="17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7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static_assert</a:t>
            </a: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7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structured_binding_element_at</a:t>
            </a: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&lt;0&gt;(</a:t>
            </a:r>
            <a:r>
              <a:rPr lang="nl-BE" sz="17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nl-BE" sz="17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4 }) == </a:t>
            </a:r>
            <a:r>
              <a:rPr lang="nl-BE" sz="17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7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static_assert</a:t>
            </a: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7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structured_binding_element_at</a:t>
            </a: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&lt;1&gt;(</a:t>
            </a:r>
            <a:r>
              <a:rPr lang="nl-BE" sz="17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nl-BE" sz="17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nl-BE" sz="17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4 }) == 4);</a:t>
            </a:r>
          </a:p>
        </p:txBody>
      </p:sp>
    </p:spTree>
    <p:extLst>
      <p:ext uri="{BB962C8B-B14F-4D97-AF65-F5344CB8AC3E}">
        <p14:creationId xmlns:p14="http://schemas.microsoft.com/office/powerpoint/2010/main" val="423591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BBE92-BFEF-8345-3D1F-5487FEBD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1D32F-B6FF-D806-0218-B396B8EC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#embed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BE31C-27D8-0195-C8C6-28FDFDC4D65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A</a:t>
            </a:r>
            <a:r>
              <a:rPr lang="nl-BE" dirty="0"/>
              <a:t>l</a:t>
            </a:r>
            <a:r>
              <a:rPr dirty="0"/>
              <a:t>lows for easy pulling in binary data</a:t>
            </a:r>
          </a:p>
          <a:p>
            <a:r>
              <a:rPr dirty="0"/>
              <a:t>Example: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unsigned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icon_display_data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= {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#embed 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"art.png"</a:t>
            </a: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en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BE" sz="2400" dirty="0"/>
              <a:t>For infinite resource, you can specify a limit: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random_data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= {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#embed 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"/</a:t>
            </a:r>
            <a:r>
              <a:rPr lang="nl-BE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dev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nl-BE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urandom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limit(512)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 marL="320040" lvl="1" indent="0">
              <a:spcBef>
                <a:spcPts val="0"/>
              </a:spcBef>
              <a:buNone/>
            </a:pPr>
            <a:endParaRPr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35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Variadic Friend Declarations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BE" dirty="0"/>
              <a:t>Allows </a:t>
            </a:r>
            <a:r>
              <a:rPr lang="en-US" dirty="0"/>
              <a:t>granting friendship to all classes in a parameter pack</a:t>
            </a:r>
            <a:endParaRPr lang="en-BE" dirty="0"/>
          </a:p>
          <a:p>
            <a:r>
              <a:rPr lang="en-BE" dirty="0"/>
              <a:t>Instead </a:t>
            </a:r>
            <a:r>
              <a:rPr lang="nl-BE" dirty="0" err="1"/>
              <a:t>so</a:t>
            </a:r>
            <a:r>
              <a:rPr lang="en-BE" dirty="0" err="1"/>
              <a:t>mething</a:t>
            </a:r>
            <a:r>
              <a:rPr lang="en-BE" dirty="0"/>
              <a:t> like: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template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nl-BE" sz="1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nl-BE" sz="1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Foo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friend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friend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en-BE" sz="1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BE" dirty="0"/>
              <a:t>You can now write: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template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 </a:t>
            </a:r>
            <a:r>
              <a:rPr lang="nl-BE" sz="1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Ts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Foo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friend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Ts</a:t>
            </a: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sz="13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constexpr Casts from void*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BE" dirty="0"/>
              <a:t>C</a:t>
            </a:r>
            <a:r>
              <a:rPr lang="en-US" dirty="0" err="1"/>
              <a:t>ast</a:t>
            </a:r>
            <a:r>
              <a:rPr lang="en-US" dirty="0"/>
              <a:t> from </a:t>
            </a:r>
            <a:r>
              <a:rPr lang="en-US" b="1" dirty="0"/>
              <a:t>void*</a:t>
            </a:r>
            <a:r>
              <a:rPr lang="en-US" dirty="0"/>
              <a:t> to </a:t>
            </a:r>
            <a:r>
              <a:rPr lang="en-US" b="1" dirty="0"/>
              <a:t>T</a:t>
            </a:r>
            <a:r>
              <a:rPr lang="en-BE" b="1" dirty="0"/>
              <a:t>*</a:t>
            </a:r>
            <a:r>
              <a:rPr lang="en-US" dirty="0"/>
              <a:t> in </a:t>
            </a:r>
            <a:r>
              <a:rPr lang="en-US" b="1" dirty="0"/>
              <a:t>constexpr</a:t>
            </a:r>
            <a:r>
              <a:rPr lang="en-US" dirty="0"/>
              <a:t> </a:t>
            </a:r>
            <a:r>
              <a:rPr lang="en-BE" dirty="0"/>
              <a:t>contexts</a:t>
            </a:r>
          </a:p>
          <a:p>
            <a:pPr lvl="1"/>
            <a:r>
              <a:rPr lang="en-BE" dirty="0"/>
              <a:t>Only </a:t>
            </a:r>
            <a:r>
              <a:rPr lang="en-US" dirty="0"/>
              <a:t>if the</a:t>
            </a:r>
            <a:r>
              <a:rPr lang="en-BE" dirty="0"/>
              <a:t> </a:t>
            </a:r>
            <a:r>
              <a:rPr lang="en-US" dirty="0"/>
              <a:t>type of the object at </a:t>
            </a:r>
            <a:r>
              <a:rPr lang="en-BE" dirty="0"/>
              <a:t>the </a:t>
            </a:r>
            <a:r>
              <a:rPr lang="en-BE" b="1" dirty="0"/>
              <a:t>void*</a:t>
            </a:r>
            <a:r>
              <a:rPr lang="en-BE" dirty="0"/>
              <a:t> </a:t>
            </a:r>
            <a:r>
              <a:rPr lang="en-US" dirty="0"/>
              <a:t>address is exactly of type </a:t>
            </a:r>
            <a:r>
              <a:rPr lang="en-US" b="1" dirty="0"/>
              <a:t>T</a:t>
            </a:r>
            <a:endParaRPr lang="en-BE" b="1" dirty="0"/>
          </a:p>
          <a:p>
            <a:r>
              <a:rPr lang="en-BE" dirty="0"/>
              <a:t>Example:</a:t>
            </a:r>
            <a:br>
              <a:rPr lang="en-BE" dirty="0"/>
            </a:br>
            <a:r>
              <a:rPr lang="nl-BE" sz="1800" dirty="0">
                <a:solidFill>
                  <a:srgbClr val="0000FF"/>
                </a:solidFill>
                <a:latin typeface="Consolas" panose="020B0609020204030204" pitchFamily="49" charset="0"/>
              </a:rPr>
              <a:t>constexpr int </a:t>
            </a:r>
            <a:r>
              <a:rPr lang="nl-BE" sz="1800" dirty="0">
                <a:latin typeface="Consolas" panose="020B0609020204030204" pitchFamily="49" charset="0"/>
              </a:rPr>
              <a:t>v = 42;</a:t>
            </a:r>
            <a:br>
              <a:rPr lang="nl-BE" sz="1800" dirty="0">
                <a:latin typeface="Consolas" panose="020B0609020204030204" pitchFamily="49" charset="0"/>
              </a:rPr>
            </a:br>
            <a:r>
              <a:rPr lang="nl-BE" sz="1800" dirty="0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nl-BE" sz="1800" dirty="0"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nl-BE" sz="1800" dirty="0">
                <a:latin typeface="Consolas" panose="020B0609020204030204" pitchFamily="49" charset="0"/>
              </a:rPr>
              <a:t>* p = &amp;v;</a:t>
            </a:r>
            <a:br>
              <a:rPr lang="nl-BE" sz="1800" dirty="0">
                <a:latin typeface="Consolas" panose="020B0609020204030204" pitchFamily="49" charset="0"/>
              </a:rPr>
            </a:br>
            <a:r>
              <a:rPr lang="nl-BE" sz="1800" dirty="0">
                <a:solidFill>
                  <a:srgbClr val="0000FF"/>
                </a:solidFill>
                <a:latin typeface="Consolas" panose="020B0609020204030204" pitchFamily="49" charset="0"/>
              </a:rPr>
              <a:t>constexpr</a:t>
            </a:r>
            <a:r>
              <a:rPr lang="nl-BE" sz="1800" dirty="0"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l-BE" sz="1800" dirty="0">
                <a:latin typeface="Consolas" panose="020B0609020204030204" pitchFamily="49" charset="0"/>
              </a:rPr>
              <a:t>* ip = </a:t>
            </a:r>
            <a:r>
              <a:rPr lang="nl-BE" sz="1800" dirty="0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nl-BE" sz="1800" dirty="0">
                <a:latin typeface="Consolas" panose="020B0609020204030204" pitchFamily="49" charset="0"/>
              </a:rPr>
              <a:t>&lt;</a:t>
            </a:r>
            <a:r>
              <a:rPr lang="nl-BE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l-BE" sz="1800" dirty="0">
                <a:latin typeface="Consolas" panose="020B0609020204030204" pitchFamily="49" charset="0"/>
              </a:rPr>
              <a:t>*&gt;(p);</a:t>
            </a:r>
            <a:endParaRPr lang="en-BE" sz="2800" dirty="0">
              <a:latin typeface="Consolas" panose="020B0609020204030204" pitchFamily="49" charset="0"/>
            </a:endParaRPr>
          </a:p>
          <a:p>
            <a:r>
              <a:rPr lang="en-BE" dirty="0"/>
              <a:t>C</a:t>
            </a:r>
            <a:r>
              <a:rPr lang="en-US" dirty="0" err="1"/>
              <a:t>onversions</a:t>
            </a:r>
            <a:r>
              <a:rPr lang="en-US" dirty="0"/>
              <a:t> to interconvertible </a:t>
            </a:r>
            <a:r>
              <a:rPr lang="en-BE" dirty="0"/>
              <a:t>(</a:t>
            </a:r>
            <a:r>
              <a:rPr lang="en-US" dirty="0"/>
              <a:t>including pointers to base classes</a:t>
            </a:r>
            <a:r>
              <a:rPr lang="en-BE" dirty="0"/>
              <a:t>)</a:t>
            </a:r>
            <a:r>
              <a:rPr lang="en-US" dirty="0"/>
              <a:t> or </a:t>
            </a:r>
            <a:r>
              <a:rPr lang="en-BE" dirty="0"/>
              <a:t>un</a:t>
            </a:r>
            <a:r>
              <a:rPr lang="en-US" dirty="0"/>
              <a:t>related types are not </a:t>
            </a:r>
            <a:r>
              <a:rPr lang="en-BE" dirty="0"/>
              <a:t>allowed</a:t>
            </a:r>
          </a:p>
          <a:p>
            <a:r>
              <a:rPr lang="en-BE" dirty="0"/>
              <a:t>Allows </a:t>
            </a:r>
            <a:r>
              <a:rPr lang="en-BE" b="1" dirty="0"/>
              <a:t>constexpr</a:t>
            </a:r>
            <a:r>
              <a:rPr lang="en-BE" dirty="0"/>
              <a:t> type erasure</a:t>
            </a:r>
            <a:endParaRPr lang="nl-BE"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118A5-4953-9A26-C004-918F1AE3F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D254C-89C7-28A5-A93A-EE4AE41A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constexpr Casts from void*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F3533-434D-BD54-70C9-2039E646AB6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3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Sheep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std::</a:t>
            </a:r>
            <a:r>
              <a:rPr lang="en-US" sz="3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string_view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speak()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noexcept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3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Baaaaaa</a:t>
            </a:r>
            <a:r>
              <a:rPr lang="en-US" sz="3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  <a:r>
              <a:rPr lang="en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3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Cow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std::</a:t>
            </a:r>
            <a:r>
              <a:rPr lang="en-US" sz="3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string_view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speak()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noexcept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3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Mooo</a:t>
            </a:r>
            <a:r>
              <a:rPr lang="en-US" sz="3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  <a:r>
              <a:rPr lang="en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BE" sz="32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Animal_View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l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template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</a:t>
            </a:r>
            <a:r>
              <a:rPr lang="nl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typename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Animal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Animal_View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Animal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 </a:t>
            </a:r>
            <a:r>
              <a:rPr lang="en-US" sz="3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: animal{ &amp;</a:t>
            </a:r>
            <a:r>
              <a:rPr lang="en-US" sz="3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speak_function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[](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</a:t>
            </a:r>
            <a:r>
              <a:rPr lang="en-US" sz="3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  <a:r>
              <a:rPr lang="en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static_cast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Animal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*&gt;(</a:t>
            </a:r>
            <a:r>
              <a:rPr lang="en-US" sz="3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)-&gt;speak();</a:t>
            </a:r>
            <a:r>
              <a:rPr lang="en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r>
              <a:rPr lang="en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std::</a:t>
            </a:r>
            <a:r>
              <a:rPr lang="en-US" sz="3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string_view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speak()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noexcept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speak_function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animal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l-BE" sz="3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</a:t>
            </a:r>
            <a:r>
              <a:rPr lang="nl-BE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animal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en-US" sz="3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string_view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(*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speak_function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)(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BE" sz="32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This is the key bit here. This is a single concrete function</a:t>
            </a:r>
            <a:endParaRPr lang="en-US" sz="3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that can take anything that happens to have the "</a:t>
            </a:r>
            <a:r>
              <a:rPr lang="en-US" sz="32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Animal_View</a:t>
            </a:r>
            <a:r>
              <a:rPr lang="en-US" sz="3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endParaRPr lang="en-US" sz="3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3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interface</a:t>
            </a:r>
            <a:endParaRPr lang="nl-BE" sz="3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2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constexpr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std::</a:t>
            </a:r>
            <a:r>
              <a:rPr lang="en-US" sz="3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string_view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do_speak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Animal_View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av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av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.speak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BE" sz="32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Cow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cow</a:t>
            </a: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32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constexpr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result = 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do_speak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(cow); </a:t>
            </a:r>
            <a:r>
              <a:rPr lang="en-US" sz="3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BE" sz="3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&lt;--</a:t>
            </a:r>
            <a:r>
              <a:rPr lang="en-US" sz="3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BE" sz="3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Pre-C++26: </a:t>
            </a:r>
            <a:r>
              <a:rPr lang="en-US" sz="3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cannot be constexpr because of </a:t>
            </a:r>
            <a:r>
              <a:rPr lang="en-US" sz="31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static_cast</a:t>
            </a:r>
            <a:endParaRPr lang="en-US" sz="31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static_cast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result.size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76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F12B6-865A-E064-27DF-B7F3FC5C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6EF1-6AA9-9E96-68E6-F3FA8F0BA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constexpr Casts from void*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3CD79-8EB4-CD96-673E-17564BB32F7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BE" dirty="0"/>
              <a:t>A</a:t>
            </a:r>
            <a:r>
              <a:rPr lang="en-US" dirty="0" err="1"/>
              <a:t>llow</a:t>
            </a:r>
            <a:r>
              <a:rPr lang="en-BE" dirty="0"/>
              <a:t>s to make sever</a:t>
            </a:r>
            <a:r>
              <a:rPr lang="nl-BE" dirty="0"/>
              <a:t>al</a:t>
            </a:r>
            <a:r>
              <a:rPr lang="en-BE" dirty="0"/>
              <a:t> features </a:t>
            </a:r>
            <a:r>
              <a:rPr lang="en-BE" b="1" dirty="0"/>
              <a:t>constexpr</a:t>
            </a:r>
            <a:r>
              <a:rPr lang="en-BE" dirty="0"/>
              <a:t> in the future:</a:t>
            </a:r>
          </a:p>
          <a:p>
            <a:pPr lvl="1"/>
            <a:r>
              <a:rPr lang="en-BE" b="1" dirty="0"/>
              <a:t>std::format()</a:t>
            </a:r>
          </a:p>
          <a:p>
            <a:pPr lvl="1"/>
            <a:r>
              <a:rPr lang="en-BE" b="1" dirty="0"/>
              <a:t>std::</a:t>
            </a:r>
            <a:r>
              <a:rPr lang="en-BE" b="1" dirty="0" err="1"/>
              <a:t>function_ref</a:t>
            </a:r>
            <a:endParaRPr lang="en-BE" b="1" dirty="0"/>
          </a:p>
          <a:p>
            <a:pPr lvl="1"/>
            <a:r>
              <a:rPr lang="en-BE" b="1" dirty="0"/>
              <a:t>std::function</a:t>
            </a:r>
          </a:p>
          <a:p>
            <a:pPr lvl="1"/>
            <a:r>
              <a:rPr lang="en-BE" b="1" dirty="0"/>
              <a:t>std::any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48573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constexpr Placement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Placement </a:t>
            </a:r>
            <a:r>
              <a:rPr b="1" dirty="0"/>
              <a:t>new</a:t>
            </a:r>
            <a:r>
              <a:rPr dirty="0"/>
              <a:t> expression in constant evaluation</a:t>
            </a:r>
          </a:p>
          <a:p>
            <a:r>
              <a:rPr lang="en-BE" dirty="0"/>
              <a:t>Example of placement new syntax: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buf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[1] = {};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p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buf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(42);</a:t>
            </a:r>
            <a:endParaRPr sz="1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constexpr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25000" lnSpcReduction="20000"/>
          </a:bodyPr>
          <a:lstStyle/>
          <a:p>
            <a:r>
              <a:rPr sz="9600" dirty="0"/>
              <a:t>Enable throw/catch in constant evaluation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fr-FR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fr-FR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5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divide</a:t>
            </a:r>
            <a:r>
              <a:rPr lang="fr-FR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fr-FR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fr-FR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5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fr-FR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fr-FR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fr-FR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sz="5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</a:t>
            </a:r>
            <a:r>
              <a:rPr lang="fr-FR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5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sz="5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== 0.0) {</a:t>
            </a:r>
            <a:r>
              <a:rPr lang="en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throw</a:t>
            </a:r>
            <a:r>
              <a:rPr lang="en-US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std::</a:t>
            </a:r>
            <a:r>
              <a:rPr lang="en-US" sz="5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invalid_argument</a:t>
            </a:r>
            <a:r>
              <a:rPr lang="en-US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en-US" sz="5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"division by zero"</a:t>
            </a:r>
            <a:r>
              <a:rPr lang="en-US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};</a:t>
            </a:r>
            <a:r>
              <a:rPr lang="en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5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/ </a:t>
            </a:r>
            <a:r>
              <a:rPr lang="nl-BE" sz="5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endParaRPr lang="nl-BE" sz="5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en-US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 = divide(5., 0.); </a:t>
            </a:r>
            <a:r>
              <a:rPr lang="en-US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Before C++26: compilation error due</a:t>
            </a:r>
            <a:r>
              <a:rPr lang="en-BE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to</a:t>
            </a:r>
            <a:endParaRPr lang="en-US" sz="56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     // </a:t>
            </a:r>
            <a:r>
              <a:rPr lang="en-US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reaching a throw expression</a:t>
            </a:r>
            <a:endParaRPr lang="en-US" sz="5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     </a:t>
            </a:r>
            <a:r>
              <a:rPr lang="en-US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C++26: still a compilation error</a:t>
            </a:r>
            <a:r>
              <a:rPr lang="en-BE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but</a:t>
            </a:r>
            <a:endParaRPr lang="en-BE" sz="56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     // </a:t>
            </a:r>
            <a:r>
              <a:rPr lang="en-US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due </a:t>
            </a:r>
            <a:r>
              <a:rPr lang="en-BE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 </a:t>
            </a:r>
            <a:r>
              <a:rPr lang="en-US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 uncaught exception</a:t>
            </a:r>
            <a:endParaRPr lang="en-US" sz="5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endParaRPr lang="en-BE" sz="56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5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5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optional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nl-BE" sz="5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checked_divide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5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5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5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5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divide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5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5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 </a:t>
            </a:r>
            <a:r>
              <a:rPr lang="nl-BE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(...) {</a:t>
            </a:r>
            <a:r>
              <a:rPr lang="en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5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5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nullopt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endParaRPr lang="nl-BE" sz="5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5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 = </a:t>
            </a:r>
            <a:r>
              <a:rPr lang="nl-BE" sz="5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checked_divide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(5</a:t>
            </a:r>
            <a:r>
              <a:rPr lang="en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0</a:t>
            </a:r>
            <a:r>
              <a:rPr lang="en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nl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r>
              <a:rPr lang="nl-BE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US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Before </a:t>
            </a:r>
            <a:r>
              <a:rPr lang="nl-BE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C++26: compilation error</a:t>
            </a:r>
            <a:endParaRPr lang="nl-BE" sz="5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5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             </a:t>
            </a:r>
            <a:r>
              <a:rPr lang="en-US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C++26: std::</a:t>
            </a:r>
            <a:r>
              <a:rPr lang="en-US" sz="56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nullopt</a:t>
            </a:r>
            <a:r>
              <a:rPr lang="en-US" sz="5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value</a:t>
            </a:r>
            <a:endParaRPr sz="5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Uninitialized Read Formalization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C++26 introduces a new behavior:</a:t>
            </a:r>
          </a:p>
          <a:p>
            <a:r>
              <a:rPr lang="en-BE" b="1" dirty="0"/>
              <a:t>Erroneous </a:t>
            </a:r>
            <a:r>
              <a:rPr lang="en-US" b="1" dirty="0"/>
              <a:t>behavior</a:t>
            </a:r>
            <a:endParaRPr lang="en-BE" b="1" dirty="0"/>
          </a:p>
          <a:p>
            <a:pPr lvl="1"/>
            <a:r>
              <a:rPr lang="en-US" dirty="0"/>
              <a:t>Erroneous behavior is always the consequence of incorrect program code</a:t>
            </a:r>
            <a:endParaRPr lang="en-BE" dirty="0"/>
          </a:p>
          <a:p>
            <a:pPr lvl="1"/>
            <a:r>
              <a:rPr lang="en-US" dirty="0"/>
              <a:t>Implementations are allowed, but not required, to diagnose it</a:t>
            </a:r>
            <a:r>
              <a:rPr lang="en-BE" dirty="0"/>
              <a:t>.</a:t>
            </a:r>
          </a:p>
          <a:p>
            <a:r>
              <a:rPr lang="en-BE" dirty="0"/>
              <a:t>Reading an uninitialized variable is erroneous</a:t>
            </a:r>
          </a:p>
          <a:p>
            <a:r>
              <a:rPr lang="en-BE" dirty="0"/>
              <a:t>Example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d1;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e1 = d1;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rroneous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behavior</a:t>
            </a:r>
            <a:endParaRPr sz="1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52E8E-6EDB-04D6-3E52-5845B9C26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73E36-205E-D2BF-0764-A0317E1F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Uninitialized Read Formalization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2035D-3D9D-7049-8318-18E4C344A81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BE" dirty="0"/>
              <a:t>New attribute </a:t>
            </a:r>
            <a:r>
              <a:rPr lang="en-BE" b="1" dirty="0"/>
              <a:t>[[</a:t>
            </a:r>
            <a:r>
              <a:rPr lang="nl-BE" b="1" dirty="0" err="1"/>
              <a:t>indeterminate</a:t>
            </a:r>
            <a:r>
              <a:rPr lang="en-BE" b="1" dirty="0"/>
              <a:t>]]</a:t>
            </a:r>
          </a:p>
          <a:p>
            <a:r>
              <a:rPr lang="en-BE" dirty="0"/>
              <a:t>S</a:t>
            </a:r>
            <a:r>
              <a:rPr lang="en-US" dirty="0" err="1"/>
              <a:t>pecifies</a:t>
            </a:r>
            <a:r>
              <a:rPr lang="en-US" dirty="0"/>
              <a:t> that storage of an object with automatic storage duration is initially indeterminate rather than erroneous</a:t>
            </a:r>
            <a:endParaRPr lang="en-BE" dirty="0"/>
          </a:p>
          <a:p>
            <a:r>
              <a:rPr lang="en-BE" dirty="0"/>
              <a:t>Example: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f(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20040" lvl="1" indent="0">
              <a:spcBef>
                <a:spcPts val="0"/>
              </a:spcBef>
              <a:buNone/>
            </a:pPr>
            <a:endParaRPr lang="en-BE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g() {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y;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f(y);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erroneous behavior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reading uninitialized variable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endParaRPr lang="en-BE" sz="1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 [[</a:t>
            </a:r>
            <a:r>
              <a:rPr lang="nl-BE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indeterminate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]];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f(x);     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nl-BE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undefined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behavior</a:t>
            </a: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32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617E1-3423-72C9-257A-F8AD5E5C9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F168-D718-0830-3EE7-0C6936597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Uninitialized Read Formalization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E83C9-275A-20A9-63F3-BFAFBEA7F8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BE" dirty="0"/>
              <a:t>Example: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 [[</a:t>
            </a:r>
            <a:r>
              <a:rPr lang="nl-BE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indeterminate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]];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cin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&gt;&gt;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x;</a:t>
            </a:r>
            <a:endParaRPr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8886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DC600-4562-ECEE-97DF-95BA02C1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582903-54F7-C779-D447-52D0F94B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6D9A5-A71B-794D-0191-0476FA780B9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numCol="2"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/>
              <a:t>C++2</a:t>
            </a:r>
            <a:r>
              <a:rPr lang="en-BE" sz="1800" b="1" dirty="0"/>
              <a:t>6</a:t>
            </a:r>
            <a:r>
              <a:rPr lang="en-US" sz="1800" b="1" dirty="0"/>
              <a:t> Core Language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Static Reflection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Contracts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Unnamed Placeholder Variables (_)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User-Generated </a:t>
            </a:r>
            <a:r>
              <a:rPr lang="en-US" sz="1600" dirty="0" err="1">
                <a:solidFill>
                  <a:srgbClr val="E6E6E6"/>
                </a:solidFill>
              </a:rPr>
              <a:t>static_assert</a:t>
            </a:r>
            <a:r>
              <a:rPr lang="en-US" sz="1600" dirty="0">
                <a:solidFill>
                  <a:srgbClr val="E6E6E6"/>
                </a:solidFill>
              </a:rPr>
              <a:t>() Messages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= delete("reason") Syntax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Attributes on Structured Bindings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Structured Bindings in Conditions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constexpr Structured Bindings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Structured Bindings Introducing Packs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Pack Indexing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#embed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Variadic Friend Declarations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constexpr Casts from void*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constexpr Placement new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constexpr Exceptions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Uninitialized Read Formalization</a:t>
            </a:r>
            <a:endParaRPr lang="en-BE" sz="1600" dirty="0">
              <a:solidFill>
                <a:srgbClr val="E6E6E6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/>
              <a:t>C++2</a:t>
            </a:r>
            <a:r>
              <a:rPr lang="en-BE" sz="1800" b="1" dirty="0"/>
              <a:t>6</a:t>
            </a:r>
            <a:r>
              <a:rPr lang="en-US" sz="1800" b="1" dirty="0"/>
              <a:t> Standard Library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Execution Control Library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inplace_vector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std::hive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submdspan</a:t>
            </a:r>
            <a:r>
              <a:rPr lang="en-US" sz="1600" dirty="0"/>
              <a:t>()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Saturation Arithmetic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 err="1"/>
              <a:t>string_view</a:t>
            </a:r>
            <a:r>
              <a:rPr lang="en-US" sz="1600" dirty="0"/>
              <a:t> </a:t>
            </a:r>
            <a:r>
              <a:rPr lang="en-US" sz="1600" dirty="0" err="1"/>
              <a:t>init</a:t>
            </a:r>
            <a:r>
              <a:rPr lang="en-US" sz="1600" dirty="0"/>
              <a:t> for </a:t>
            </a:r>
            <a:r>
              <a:rPr lang="en-US" sz="1600" dirty="0" err="1"/>
              <a:t>stringstreams</a:t>
            </a:r>
            <a:r>
              <a:rPr lang="en-US" sz="1600" dirty="0"/>
              <a:t>/</a:t>
            </a:r>
            <a:r>
              <a:rPr lang="en-US" sz="1600" dirty="0" err="1"/>
              <a:t>bitset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text_encoding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Native File Handles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More constexpr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New SI Prefixes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&lt;debugging&gt;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&lt;</a:t>
            </a:r>
            <a:r>
              <a:rPr lang="en-US" sz="1600" dirty="0" err="1"/>
              <a:t>linalg</a:t>
            </a:r>
            <a:r>
              <a:rPr lang="en-US" sz="1600" dirty="0"/>
              <a:t>&gt;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Tuple Protocol for std::complex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views::</a:t>
            </a:r>
            <a:r>
              <a:rPr lang="en-US" sz="1600" dirty="0" err="1"/>
              <a:t>concat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String Concatenation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Enabling List Initialization for Algorithms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std::ranges::</a:t>
            </a:r>
            <a:r>
              <a:rPr lang="en-US" sz="1600" dirty="0" err="1"/>
              <a:t>generate_random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Filesystem Path Formatter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println</a:t>
            </a:r>
            <a:r>
              <a:rPr lang="en-US" sz="1600" dirty="0"/>
              <a:t>() Blank Lines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philox_engine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std::ranges::</a:t>
            </a:r>
            <a:r>
              <a:rPr lang="en-US" sz="1600" dirty="0" err="1"/>
              <a:t>cache_latest_view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simd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417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227048-39BE-40B8-97A6-37E6ADBE8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493736-AFBC-47F8-BC33-4CA87D9A5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C++2</a:t>
            </a:r>
            <a:r>
              <a:rPr lang="en-BE" dirty="0"/>
              <a:t>6</a:t>
            </a:r>
            <a:r>
              <a:rPr lang="en-US" dirty="0"/>
              <a:t> Standard Library</a:t>
            </a:r>
          </a:p>
        </p:txBody>
      </p:sp>
    </p:spTree>
    <p:extLst>
      <p:ext uri="{BB962C8B-B14F-4D97-AF65-F5344CB8AC3E}">
        <p14:creationId xmlns:p14="http://schemas.microsoft.com/office/powerpoint/2010/main" val="6746391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4060E-85E3-D9BC-0767-8979997B4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DC2E-E619-989F-0FA1-2635D2AF5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Execution Control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0E79E-A44D-77E2-6968-B06CB22B508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BE" dirty="0"/>
              <a:t>A new library to m</a:t>
            </a:r>
            <a:r>
              <a:rPr lang="nl-BE" dirty="0" err="1"/>
              <a:t>anage</a:t>
            </a:r>
            <a:r>
              <a:rPr lang="nl-BE" dirty="0"/>
              <a:t> </a:t>
            </a:r>
            <a:r>
              <a:rPr lang="nl-BE" dirty="0" err="1"/>
              <a:t>asynch</a:t>
            </a:r>
            <a:r>
              <a:rPr dirty="0" err="1"/>
              <a:t>ronous</a:t>
            </a:r>
            <a:r>
              <a:rPr dirty="0"/>
              <a:t> execution on generic execution resources.</a:t>
            </a:r>
          </a:p>
          <a:p>
            <a:r>
              <a:rPr lang="en-BE" dirty="0"/>
              <a:t>Defined in </a:t>
            </a:r>
            <a:r>
              <a:rPr lang="nl-BE" dirty="0"/>
              <a:t>&lt;</a:t>
            </a:r>
            <a:r>
              <a:rPr lang="nl-BE" dirty="0" err="1"/>
              <a:t>execution</a:t>
            </a:r>
            <a:r>
              <a:rPr lang="nl-BE" dirty="0"/>
              <a:t>&gt;</a:t>
            </a:r>
            <a:endParaRPr dirty="0"/>
          </a:p>
          <a:p>
            <a:r>
              <a:rPr lang="en-BE" dirty="0"/>
              <a:t>Asynchrony is used everywhere: networking, file I/O, GUIs, ...</a:t>
            </a:r>
          </a:p>
          <a:p>
            <a:r>
              <a:rPr lang="en-BE" dirty="0"/>
              <a:t>Existing </a:t>
            </a:r>
            <a:r>
              <a:rPr lang="en-BE" b="1" dirty="0"/>
              <a:t>std::async</a:t>
            </a:r>
            <a:r>
              <a:rPr lang="en-BE" dirty="0"/>
              <a:t>, </a:t>
            </a:r>
            <a:r>
              <a:rPr lang="en-BE" b="1" dirty="0"/>
              <a:t>future</a:t>
            </a:r>
            <a:r>
              <a:rPr lang="en-BE" dirty="0"/>
              <a:t>, </a:t>
            </a:r>
            <a:r>
              <a:rPr lang="en-BE" b="1" dirty="0"/>
              <a:t>promise</a:t>
            </a:r>
            <a:r>
              <a:rPr lang="en-BE" dirty="0"/>
              <a:t> is not always easy to use.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45048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E0C1A-1D0F-18AC-140B-6149B05A2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7BFA4-7600-F9AC-E645-61BC9D0B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Execution Control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3BE68-8542-D263-1D30-B3A13921281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Key design choices:</a:t>
            </a:r>
          </a:p>
          <a:p>
            <a:pPr lvl="1"/>
            <a:r>
              <a:rPr lang="en-US" dirty="0"/>
              <a:t>Building blocks must be c</a:t>
            </a:r>
            <a:r>
              <a:rPr lang="en-BE" dirty="0"/>
              <a:t>omposable and generic to allow code to work with different types of execution resources.</a:t>
            </a:r>
          </a:p>
          <a:p>
            <a:pPr lvl="1"/>
            <a:r>
              <a:rPr lang="en-US" dirty="0"/>
              <a:t>C</a:t>
            </a:r>
            <a:r>
              <a:rPr lang="en-BE" dirty="0"/>
              <a:t>ommon asynchronous patterns </a:t>
            </a:r>
            <a:r>
              <a:rPr lang="en-US" dirty="0"/>
              <a:t>must be encapsulated </a:t>
            </a:r>
            <a:r>
              <a:rPr lang="en-BE" dirty="0"/>
              <a:t>in reusable algorithms.</a:t>
            </a:r>
          </a:p>
          <a:p>
            <a:pPr lvl="1"/>
            <a:r>
              <a:rPr lang="en-BE" dirty="0"/>
              <a:t>Make it easy to be correct by construction.</a:t>
            </a:r>
          </a:p>
          <a:p>
            <a:pPr lvl="1"/>
            <a:r>
              <a:rPr lang="en-BE" dirty="0"/>
              <a:t>Take care about all reasonable use cases, domains, platforms.</a:t>
            </a:r>
          </a:p>
          <a:p>
            <a:pPr lvl="1"/>
            <a:r>
              <a:rPr dirty="0"/>
              <a:t>Correctly propagate errors; error handling should not be a burden.</a:t>
            </a:r>
          </a:p>
          <a:p>
            <a:pPr lvl="1"/>
            <a:r>
              <a:rPr lang="en-BE" dirty="0"/>
              <a:t>Support cancellation.</a:t>
            </a:r>
          </a:p>
        </p:txBody>
      </p:sp>
    </p:spTree>
    <p:extLst>
      <p:ext uri="{BB962C8B-B14F-4D97-AF65-F5344CB8AC3E}">
        <p14:creationId xmlns:p14="http://schemas.microsoft.com/office/powerpoint/2010/main" val="36718548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37BBC-0BD5-34F1-F497-54E3C8700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A52BE-5FBF-F1F0-4A7B-FB4B230DC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Execution Control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FB9ED-F2AC-C890-B6BA-0C3849193E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A few key abstractions:</a:t>
            </a:r>
          </a:p>
          <a:p>
            <a:pPr lvl="1"/>
            <a:r>
              <a:rPr lang="en-BE" b="1" dirty="0"/>
              <a:t>Execution resources</a:t>
            </a:r>
            <a:r>
              <a:rPr lang="en-BE" dirty="0"/>
              <a:t>: des</a:t>
            </a:r>
            <a:r>
              <a:rPr lang="nl-BE" dirty="0"/>
              <a:t>c</a:t>
            </a:r>
            <a:r>
              <a:rPr lang="en-BE" dirty="0" err="1"/>
              <a:t>ribe</a:t>
            </a:r>
            <a:r>
              <a:rPr lang="en-BE" dirty="0"/>
              <a:t> a place where work is executed (thread pool, GPU, ...)</a:t>
            </a:r>
          </a:p>
          <a:p>
            <a:pPr lvl="1"/>
            <a:r>
              <a:rPr lang="en-BE" b="1" dirty="0"/>
              <a:t>Schedulers</a:t>
            </a:r>
            <a:r>
              <a:rPr lang="en-BE" dirty="0"/>
              <a:t>: a lightweight handle representing a strategy for scheduling work on some execution resource.</a:t>
            </a:r>
          </a:p>
          <a:p>
            <a:pPr lvl="1"/>
            <a:r>
              <a:rPr lang="en-BE" b="1" dirty="0"/>
              <a:t>Senders</a:t>
            </a:r>
            <a:r>
              <a:rPr lang="en-BE" dirty="0"/>
              <a:t>: describe asynchronous work and send a signal (value, error, or stopped) to a connected receiver when the asynchronous work finishes.</a:t>
            </a:r>
          </a:p>
          <a:p>
            <a:pPr lvl="1"/>
            <a:r>
              <a:rPr lang="en-BE" b="1" dirty="0"/>
              <a:t>Receivers</a:t>
            </a:r>
            <a:r>
              <a:rPr lang="en-BE" dirty="0"/>
              <a:t>: serve as the glue between senders</a:t>
            </a:r>
          </a:p>
          <a:p>
            <a:pPr lvl="2"/>
            <a:r>
              <a:rPr lang="en-BE" dirty="0"/>
              <a:t>A callback supporting </a:t>
            </a:r>
            <a:r>
              <a:rPr lang="en-BE" b="1" dirty="0" err="1"/>
              <a:t>set_value</a:t>
            </a:r>
            <a:r>
              <a:rPr lang="en-BE" b="1" dirty="0"/>
              <a:t>()</a:t>
            </a:r>
            <a:r>
              <a:rPr lang="en-BE" dirty="0"/>
              <a:t>, </a:t>
            </a:r>
            <a:r>
              <a:rPr lang="en-BE" b="1" dirty="0" err="1"/>
              <a:t>set_error</a:t>
            </a:r>
            <a:r>
              <a:rPr lang="en-BE" b="1" dirty="0"/>
              <a:t>()</a:t>
            </a:r>
            <a:r>
              <a:rPr lang="en-BE" dirty="0"/>
              <a:t>, and </a:t>
            </a:r>
            <a:r>
              <a:rPr lang="en-BE" b="1" dirty="0" err="1"/>
              <a:t>set_stopped</a:t>
            </a:r>
            <a:r>
              <a:rPr lang="en-BE" b="1" dirty="0"/>
              <a:t>()</a:t>
            </a:r>
            <a:r>
              <a:rPr lang="en-B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01398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5A408-687D-199B-2D34-3AF29ED06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3B59-C3A4-33B3-493E-F0F2B64E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Execution Control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F347C-28B2-72A2-DE6B-5E4134956C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BE" dirty="0"/>
              <a:t>Asynchronous algorithms</a:t>
            </a:r>
          </a:p>
          <a:p>
            <a:pPr lvl="1"/>
            <a:r>
              <a:rPr lang="en-BE" b="1" dirty="0"/>
              <a:t>Sender factories</a:t>
            </a:r>
            <a:r>
              <a:rPr lang="en-BE" dirty="0"/>
              <a:t>: algorithms taking no senders as parameters and returning a sender.</a:t>
            </a:r>
            <a:br>
              <a:rPr lang="en-US" dirty="0"/>
            </a:br>
            <a:r>
              <a:rPr lang="en-US" dirty="0"/>
              <a:t>E</a:t>
            </a:r>
            <a:r>
              <a:rPr lang="en-BE" dirty="0"/>
              <a:t>xampl</a:t>
            </a:r>
            <a:r>
              <a:rPr lang="en-US" dirty="0"/>
              <a:t>es</a:t>
            </a:r>
            <a:r>
              <a:rPr lang="en-BE" dirty="0"/>
              <a:t>:</a:t>
            </a:r>
          </a:p>
          <a:p>
            <a:pPr lvl="2"/>
            <a:r>
              <a:rPr lang="en-BE" b="1" dirty="0"/>
              <a:t>execution::schedule</a:t>
            </a:r>
            <a:r>
              <a:rPr lang="en-BE" dirty="0"/>
              <a:t>: a sender describing the start of a task graph.</a:t>
            </a:r>
          </a:p>
          <a:p>
            <a:pPr lvl="2"/>
            <a:r>
              <a:rPr lang="en-BE" b="1" dirty="0"/>
              <a:t>execution::just</a:t>
            </a:r>
            <a:r>
              <a:rPr lang="en-BE" dirty="0"/>
              <a:t>: a sender without completion schedulers, just sending a given value.</a:t>
            </a:r>
          </a:p>
          <a:p>
            <a:pPr lvl="2"/>
            <a:r>
              <a:rPr lang="en-BE" b="1" dirty="0"/>
              <a:t>execution::</a:t>
            </a:r>
            <a:r>
              <a:rPr lang="en-BE" b="1" dirty="0" err="1"/>
              <a:t>just_error</a:t>
            </a:r>
            <a:r>
              <a:rPr lang="en-BE" dirty="0"/>
              <a:t>: a sender without completion schedulers, just sending a given error.</a:t>
            </a:r>
          </a:p>
          <a:p>
            <a:pPr lvl="2"/>
            <a:r>
              <a:rPr lang="en-BE" dirty="0"/>
              <a:t>...</a:t>
            </a:r>
          </a:p>
          <a:p>
            <a:pPr lvl="2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67538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3AB1C-4CEA-8354-0140-97762388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B6217-95CE-16DE-3F6E-D9193997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Execution Control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49AD7-E76F-4A5F-0FB3-24E593C75EF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BE" dirty="0"/>
              <a:t>Asynchronous algorithms</a:t>
            </a:r>
          </a:p>
          <a:p>
            <a:pPr lvl="1"/>
            <a:r>
              <a:rPr lang="en-BE" b="1" dirty="0"/>
              <a:t>Sender adaptors</a:t>
            </a:r>
            <a:r>
              <a:rPr lang="en-BE" dirty="0"/>
              <a:t>: algorithms taking one or more senders as parameters and returning a sender whose completion is related to the given senders.</a:t>
            </a:r>
            <a:br>
              <a:rPr lang="en-US" dirty="0"/>
            </a:br>
            <a:r>
              <a:rPr lang="en-BE" dirty="0"/>
              <a:t>Example</a:t>
            </a:r>
            <a:r>
              <a:rPr lang="en-US" dirty="0"/>
              <a:t>s</a:t>
            </a:r>
            <a:r>
              <a:rPr lang="en-BE" dirty="0"/>
              <a:t>:</a:t>
            </a:r>
          </a:p>
          <a:p>
            <a:pPr lvl="2"/>
            <a:r>
              <a:rPr lang="en-BE" b="1" dirty="0"/>
              <a:t>execution::</a:t>
            </a:r>
            <a:r>
              <a:rPr lang="en-BE" b="1" dirty="0" err="1"/>
              <a:t>continues_on</a:t>
            </a:r>
            <a:r>
              <a:rPr lang="en-BE" dirty="0"/>
              <a:t>: a sender to transition from one execution agent to another one.</a:t>
            </a:r>
          </a:p>
          <a:p>
            <a:pPr lvl="2"/>
            <a:r>
              <a:rPr lang="en-BE" b="1" dirty="0"/>
              <a:t>execution::then</a:t>
            </a:r>
            <a:r>
              <a:rPr lang="en-BE" dirty="0"/>
              <a:t>: a sender invoking a given callable with values send by an input sender.</a:t>
            </a:r>
          </a:p>
          <a:p>
            <a:pPr lvl="2"/>
            <a:r>
              <a:rPr lang="en-BE" b="1" dirty="0"/>
              <a:t>execution::starts_on, execution::when_all</a:t>
            </a:r>
            <a:r>
              <a:rPr lang="en-BE" dirty="0"/>
              <a:t>, ...</a:t>
            </a:r>
          </a:p>
          <a:p>
            <a:pPr lvl="2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5807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7EC81-4B34-14CA-00E8-71F724F5D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414CD-976B-5AE0-1BD0-759A1D5F0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Execution Control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FE6A0-1CD3-A863-4586-D5F1EB6C894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BE" dirty="0"/>
              <a:t>Asynchronous algorithms</a:t>
            </a:r>
          </a:p>
          <a:p>
            <a:pPr lvl="1"/>
            <a:r>
              <a:rPr lang="en-BE" b="1" dirty="0"/>
              <a:t>Sender consumers</a:t>
            </a:r>
            <a:r>
              <a:rPr lang="en-BE" dirty="0"/>
              <a:t>: algorithms taking one or more senders as parameters and not returning a sender.</a:t>
            </a:r>
            <a:br>
              <a:rPr lang="en-US" dirty="0"/>
            </a:br>
            <a:r>
              <a:rPr lang="en-BE" dirty="0"/>
              <a:t>Example</a:t>
            </a:r>
            <a:r>
              <a:rPr lang="en-US" dirty="0"/>
              <a:t>s</a:t>
            </a:r>
            <a:r>
              <a:rPr lang="en-BE" dirty="0"/>
              <a:t>:</a:t>
            </a:r>
          </a:p>
          <a:p>
            <a:pPr lvl="2"/>
            <a:r>
              <a:rPr lang="en-BE" b="1" dirty="0" err="1"/>
              <a:t>this_thread</a:t>
            </a:r>
            <a:r>
              <a:rPr lang="en-BE" b="1" dirty="0"/>
              <a:t>::</a:t>
            </a:r>
            <a:r>
              <a:rPr lang="en-BE" b="1" dirty="0" err="1"/>
              <a:t>sync_wait</a:t>
            </a:r>
            <a:r>
              <a:rPr lang="en-BE" dirty="0"/>
              <a:t>: a sender consumer submitting the work provided by an input sender for execution and blocking for its completion.</a:t>
            </a:r>
          </a:p>
        </p:txBody>
      </p:sp>
    </p:spTree>
    <p:extLst>
      <p:ext uri="{BB962C8B-B14F-4D97-AF65-F5344CB8AC3E}">
        <p14:creationId xmlns:p14="http://schemas.microsoft.com/office/powerpoint/2010/main" val="24231416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1171B-7EEF-522F-3DB8-CAA4FDC1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3634B-73E5-40CA-98B8-2BC60F0D9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Execution Control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4651F-8888-F353-0BF8-9512F4D8554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Example: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execution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endParaRPr lang="nl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scheduler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pool_scheduler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thread_pool.scheduler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1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endParaRPr lang="nl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std::execution::sender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snd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std::execution::schedule(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pool_scheduler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| 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execution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then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([] {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endParaRPr lang="nl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"Hello world! Have an int."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BE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nl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13;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         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</a:t>
            </a:r>
            <a:endParaRPr lang="nl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})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| std::execution::then([](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+ 42; });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// </a:t>
            </a:r>
            <a:r>
              <a:rPr lang="en-BE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endParaRPr lang="nl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std::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this_thread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sync_wait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snd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).value();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BE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endParaRPr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21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std::</a:t>
            </a:r>
            <a:r>
              <a:rPr dirty="0" err="1"/>
              <a:t>inplace_vector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BE" dirty="0"/>
              <a:t>Defined in </a:t>
            </a:r>
            <a:r>
              <a:rPr lang="en-BE" b="1" dirty="0"/>
              <a:t>&lt;</a:t>
            </a:r>
            <a:r>
              <a:rPr lang="en-BE" b="1" dirty="0" err="1"/>
              <a:t>inplace_vector</a:t>
            </a:r>
            <a:r>
              <a:rPr lang="en-BE" b="1" dirty="0"/>
              <a:t>&gt;</a:t>
            </a:r>
          </a:p>
          <a:p>
            <a:r>
              <a:rPr lang="en-US" dirty="0"/>
              <a:t>A dynamically-resizable vector</a:t>
            </a:r>
          </a:p>
          <a:p>
            <a:r>
              <a:rPr lang="en-US" dirty="0"/>
              <a:t>Capacity </a:t>
            </a:r>
            <a:r>
              <a:rPr lang="en-BE" dirty="0"/>
              <a:t>fixed at compile time</a:t>
            </a:r>
            <a:endParaRPr lang="en-US" dirty="0"/>
          </a:p>
          <a:p>
            <a:r>
              <a:rPr lang="en-US" dirty="0"/>
              <a:t>C</a:t>
            </a:r>
            <a:r>
              <a:rPr lang="en-BE" dirty="0"/>
              <a:t>ontiguous inplace </a:t>
            </a:r>
            <a:r>
              <a:rPr lang="en-US" dirty="0"/>
              <a:t>storage</a:t>
            </a:r>
            <a:endParaRPr lang="en-BE" dirty="0"/>
          </a:p>
          <a:p>
            <a:r>
              <a:rPr lang="en-BE" dirty="0"/>
              <a:t>Useful when:</a:t>
            </a:r>
          </a:p>
          <a:p>
            <a:pPr lvl="1"/>
            <a:r>
              <a:rPr lang="en-BE" dirty="0"/>
              <a:t>Memory allocation is not possible (e.g. embedded systems)</a:t>
            </a:r>
          </a:p>
          <a:p>
            <a:pPr lvl="1"/>
            <a:r>
              <a:rPr lang="en-BE" dirty="0"/>
              <a:t>Memory allocation is expensive</a:t>
            </a:r>
          </a:p>
          <a:p>
            <a:pPr lvl="1"/>
            <a:r>
              <a:rPr lang="en-BE" dirty="0"/>
              <a:t>Storage of elements must be </a:t>
            </a:r>
            <a:r>
              <a:rPr lang="en-BE" dirty="0" err="1"/>
              <a:t>inplace</a:t>
            </a:r>
            <a:r>
              <a:rPr lang="en-BE" dirty="0"/>
              <a:t>, e.g. for serialization with </a:t>
            </a:r>
            <a:r>
              <a:rPr lang="en-BE" b="1" dirty="0"/>
              <a:t>memcpy()</a:t>
            </a:r>
            <a:endParaRPr lang="en-BE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68499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22417-FCA0-109A-C51D-85D51EF4A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4BED-010A-AF7D-7152-59A07C02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std::inplace_vector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48197-B8F1-DBE8-BF6E-1D62D089C2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D</a:t>
            </a:r>
            <a:r>
              <a:rPr lang="en-BE" dirty="0" err="1"/>
              <a:t>ifference</a:t>
            </a:r>
            <a:r>
              <a:rPr lang="en-BE" dirty="0"/>
              <a:t> with </a:t>
            </a:r>
            <a:r>
              <a:rPr lang="en-BE" b="1" dirty="0"/>
              <a:t>std::array</a:t>
            </a:r>
          </a:p>
          <a:p>
            <a:pPr lvl="1"/>
            <a:r>
              <a:rPr lang="en-BE" b="1" dirty="0"/>
              <a:t>std::</a:t>
            </a:r>
            <a:r>
              <a:rPr lang="en-US" b="1" dirty="0" err="1"/>
              <a:t>inplace_vector</a:t>
            </a:r>
            <a:r>
              <a:rPr lang="en-US" b="1" dirty="0"/>
              <a:t>&lt;T,</a:t>
            </a:r>
            <a:r>
              <a:rPr lang="en-BE" b="1" dirty="0"/>
              <a:t> </a:t>
            </a:r>
            <a:r>
              <a:rPr lang="en-US" b="1" dirty="0"/>
              <a:t>N&gt; </a:t>
            </a:r>
            <a:r>
              <a:rPr lang="en-US" dirty="0"/>
              <a:t>can store up to </a:t>
            </a:r>
            <a:r>
              <a:rPr lang="en-US" b="1" dirty="0"/>
              <a:t>N</a:t>
            </a:r>
            <a:r>
              <a:rPr lang="en-US" dirty="0"/>
              <a:t> elements while </a:t>
            </a:r>
            <a:r>
              <a:rPr lang="en-BE" b="1" dirty="0"/>
              <a:t>std::</a:t>
            </a:r>
            <a:r>
              <a:rPr lang="en-US" b="1" dirty="0"/>
              <a:t>array&lt;T,N&gt; </a:t>
            </a:r>
            <a:r>
              <a:rPr lang="en-US" dirty="0"/>
              <a:t>always stores </a:t>
            </a:r>
            <a:r>
              <a:rPr lang="en-US" b="1" dirty="0"/>
              <a:t>N</a:t>
            </a:r>
            <a:r>
              <a:rPr lang="en-US" dirty="0"/>
              <a:t> elements</a:t>
            </a:r>
            <a:endParaRPr lang="en-BE" dirty="0"/>
          </a:p>
          <a:p>
            <a:r>
              <a:rPr lang="en-BE" dirty="0"/>
              <a:t>Example: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inplace_vector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3&gt; v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0, 1 };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Capacity is 3, size is 2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v.push_back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(2);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Size is now 3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v.push_back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(3);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Throws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bad_alloc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as capacity is exceeded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v.try_push_back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(4);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Returns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nullptr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as capacity is exceeded</a:t>
            </a:r>
            <a:endParaRPr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78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std::hive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BE" dirty="0"/>
              <a:t>Defined in </a:t>
            </a:r>
            <a:r>
              <a:rPr lang="en-BE" b="1" dirty="0"/>
              <a:t>&lt;hive&gt;</a:t>
            </a:r>
          </a:p>
          <a:p>
            <a:r>
              <a:rPr lang="en-BE" dirty="0"/>
              <a:t>T</a:t>
            </a:r>
            <a:r>
              <a:rPr lang="en-US" dirty="0" err="1"/>
              <a:t>ypically</a:t>
            </a:r>
            <a:r>
              <a:rPr lang="en-US" dirty="0"/>
              <a:t> known as a </a:t>
            </a:r>
            <a:r>
              <a:rPr lang="en-US" i="1" dirty="0"/>
              <a:t>bucket array</a:t>
            </a:r>
            <a:r>
              <a:rPr lang="en-US" dirty="0"/>
              <a:t> or </a:t>
            </a:r>
            <a:r>
              <a:rPr lang="en-US" i="1" dirty="0"/>
              <a:t>object pool</a:t>
            </a:r>
            <a:endParaRPr lang="en-BE" i="1" dirty="0"/>
          </a:p>
          <a:p>
            <a:r>
              <a:rPr lang="en-BE" dirty="0"/>
              <a:t>C</a:t>
            </a:r>
            <a:r>
              <a:rPr lang="en-US" dirty="0" err="1"/>
              <a:t>oncept</a:t>
            </a:r>
            <a:r>
              <a:rPr lang="en-BE" dirty="0"/>
              <a:t>:</a:t>
            </a:r>
          </a:p>
          <a:p>
            <a:pPr lvl="1"/>
            <a:r>
              <a:rPr lang="en-BE" dirty="0"/>
              <a:t>M</a:t>
            </a:r>
            <a:r>
              <a:rPr lang="en-US" dirty="0" err="1"/>
              <a:t>ultiple</a:t>
            </a:r>
            <a:r>
              <a:rPr lang="en-US" dirty="0"/>
              <a:t> memory blocks of elements</a:t>
            </a:r>
            <a:r>
              <a:rPr lang="en-BE" dirty="0"/>
              <a:t>.</a:t>
            </a:r>
          </a:p>
          <a:p>
            <a:pPr lvl="1"/>
            <a:r>
              <a:rPr lang="en-BE" dirty="0"/>
              <a:t>A</a:t>
            </a:r>
            <a:r>
              <a:rPr lang="en-US" dirty="0"/>
              <a:t> </a:t>
            </a:r>
            <a:r>
              <a:rPr lang="en-US" dirty="0" err="1"/>
              <a:t>boolean</a:t>
            </a:r>
            <a:r>
              <a:rPr lang="en-US" dirty="0"/>
              <a:t> token for each element which denotes whether </a:t>
            </a:r>
            <a:r>
              <a:rPr lang="en-US" dirty="0" err="1"/>
              <a:t>th</a:t>
            </a:r>
            <a:r>
              <a:rPr lang="en-BE" dirty="0"/>
              <a:t>e</a:t>
            </a:r>
            <a:r>
              <a:rPr lang="en-US" dirty="0"/>
              <a:t> element is </a:t>
            </a:r>
            <a:r>
              <a:rPr lang="en-US" i="1" dirty="0"/>
              <a:t>active</a:t>
            </a:r>
            <a:r>
              <a:rPr lang="en-US" dirty="0"/>
              <a:t> or </a:t>
            </a:r>
            <a:r>
              <a:rPr lang="en-US" i="1" dirty="0"/>
              <a:t>erased</a:t>
            </a:r>
            <a:r>
              <a:rPr lang="en-BE" i="1" dirty="0"/>
              <a:t>.</a:t>
            </a:r>
            <a:endParaRPr lang="en-BE" dirty="0"/>
          </a:p>
          <a:p>
            <a:pPr lvl="2"/>
            <a:r>
              <a:rPr lang="en-BE" dirty="0"/>
              <a:t>C</a:t>
            </a:r>
            <a:r>
              <a:rPr lang="en-US" dirty="0" err="1"/>
              <a:t>ommonly</a:t>
            </a:r>
            <a:r>
              <a:rPr lang="en-US" dirty="0"/>
              <a:t> </a:t>
            </a:r>
            <a:r>
              <a:rPr lang="en-BE" dirty="0"/>
              <a:t>called </a:t>
            </a:r>
            <a:r>
              <a:rPr lang="en-US" i="1" dirty="0" err="1"/>
              <a:t>skipfield</a:t>
            </a:r>
            <a:r>
              <a:rPr lang="en-BE" i="1" dirty="0"/>
              <a:t>: </a:t>
            </a:r>
            <a:r>
              <a:rPr lang="en-US" dirty="0"/>
              <a:t>If it is </a:t>
            </a:r>
            <a:r>
              <a:rPr lang="en-BE" dirty="0"/>
              <a:t>e</a:t>
            </a:r>
            <a:r>
              <a:rPr lang="en-US" i="1" dirty="0" err="1"/>
              <a:t>rased</a:t>
            </a:r>
            <a:r>
              <a:rPr lang="en-US" dirty="0"/>
              <a:t>, it is skipped over during iteration.</a:t>
            </a:r>
            <a:endParaRPr lang="en-BE" dirty="0"/>
          </a:p>
          <a:p>
            <a:pPr lvl="1"/>
            <a:r>
              <a:rPr lang="en-US" dirty="0"/>
              <a:t>When all elements in a block are erased, the block is removed.</a:t>
            </a:r>
            <a:endParaRPr lang="en-BE" dirty="0"/>
          </a:p>
          <a:p>
            <a:pPr lvl="1"/>
            <a:r>
              <a:rPr lang="en-US" dirty="0"/>
              <a:t>If an insertion occurs when all blocks are full, a new memory block is allocated.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96753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B39EE-1069-B51E-4ABE-5EBD456E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700AF-4C45-C92C-C9EA-28FCB4E352ED}"/>
              </a:ext>
            </a:extLst>
          </p:cNvPr>
          <p:cNvCxnSpPr>
            <a:cxnSpLocks/>
          </p:cNvCxnSpPr>
          <p:nvPr/>
        </p:nvCxnSpPr>
        <p:spPr>
          <a:xfrm flipV="1">
            <a:off x="1528705" y="209550"/>
            <a:ext cx="452495" cy="2452532"/>
          </a:xfrm>
          <a:prstGeom prst="line">
            <a:avLst/>
          </a:prstGeom>
          <a:ln w="28575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5A529E-99AD-E291-B7A3-6799B2108973}"/>
              </a:ext>
            </a:extLst>
          </p:cNvPr>
          <p:cNvCxnSpPr>
            <a:cxnSpLocks/>
          </p:cNvCxnSpPr>
          <p:nvPr/>
        </p:nvCxnSpPr>
        <p:spPr>
          <a:xfrm>
            <a:off x="1510817" y="3995582"/>
            <a:ext cx="429960" cy="1029808"/>
          </a:xfrm>
          <a:prstGeom prst="line">
            <a:avLst/>
          </a:prstGeom>
          <a:ln w="28575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34026F4-4FA8-07C3-AED6-AAA0F0567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std::hive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C5A933-7FB2-9FF9-97AD-C7600F713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647950"/>
            <a:ext cx="1376305" cy="1347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B1AC68-849E-30AE-AAC3-E027DF7966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8" t="622"/>
          <a:stretch>
            <a:fillRect/>
          </a:stretch>
        </p:blipFill>
        <p:spPr>
          <a:xfrm>
            <a:off x="1940776" y="209550"/>
            <a:ext cx="5850383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9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CEC7-13BD-D11B-EB4E-801115B3D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B852-C07C-FE57-DDD8-EB8B20DA6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std::hive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1C02B-2C42-52A1-F108-BB069F84F25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BE" dirty="0"/>
              <a:t>Benefits:</a:t>
            </a:r>
          </a:p>
          <a:p>
            <a:pPr lvl="1"/>
            <a:r>
              <a:rPr lang="en-US" dirty="0"/>
              <a:t>Use of </a:t>
            </a:r>
            <a:r>
              <a:rPr lang="en-US" dirty="0" err="1"/>
              <a:t>skipfields</a:t>
            </a:r>
            <a:r>
              <a:rPr lang="en-BE" dirty="0"/>
              <a:t> </a:t>
            </a:r>
            <a:r>
              <a:rPr lang="en-BE" dirty="0">
                <a:sym typeface="Wingdings" panose="05000000000000000000" pitchFamily="2" charset="2"/>
              </a:rPr>
              <a:t></a:t>
            </a:r>
            <a:r>
              <a:rPr lang="en-US" dirty="0"/>
              <a:t> no reallocation of elements is necessary upon erasure.</a:t>
            </a:r>
            <a:endParaRPr lang="en-BE" dirty="0"/>
          </a:p>
          <a:p>
            <a:pPr lvl="1"/>
            <a:r>
              <a:rPr lang="en-US" dirty="0"/>
              <a:t>Structure uses multiple memory blocks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insertions in a full container do not trigger reallocations</a:t>
            </a:r>
            <a:r>
              <a:rPr lang="en-BE" dirty="0"/>
              <a:t>.</a:t>
            </a:r>
          </a:p>
          <a:p>
            <a:pPr lvl="1"/>
            <a:r>
              <a:rPr lang="en-US" dirty="0"/>
              <a:t>In other words</a:t>
            </a:r>
            <a:r>
              <a:rPr lang="en-BE" dirty="0"/>
              <a:t>:</a:t>
            </a:r>
            <a:endParaRPr lang="en-US" dirty="0"/>
          </a:p>
          <a:p>
            <a:pPr lvl="2"/>
            <a:r>
              <a:rPr lang="en-US" dirty="0"/>
              <a:t>element memory locations stay stable</a:t>
            </a:r>
          </a:p>
          <a:p>
            <a:pPr lvl="2"/>
            <a:r>
              <a:rPr lang="en-US" dirty="0"/>
              <a:t>iterators stay valid regardless of erasure/insertion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40196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B1154-71E6-7EB6-6B9C-2748FA424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83B8A-24A6-4E3B-574A-EF1E3D150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std::hive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8F6F3-555E-E8AC-86C9-EE37B66C5C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BE" dirty="0"/>
              <a:t>Example: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de-D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de-D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hive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de-D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de-D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h { 1, 2 };</a:t>
            </a:r>
          </a:p>
          <a:p>
            <a:pPr marL="320040" lvl="1" indent="0">
              <a:spcBef>
                <a:spcPts val="0"/>
              </a:spcBef>
              <a:buNone/>
            </a:pPr>
            <a:endParaRPr lang="en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h.insert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(11);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h.insert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(22);</a:t>
            </a:r>
            <a:endParaRPr lang="en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::print(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"{} "</a:t>
            </a:r>
            <a:r>
              <a:rPr lang="en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8730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std::</a:t>
            </a:r>
            <a:r>
              <a:rPr dirty="0" err="1"/>
              <a:t>submdspan</a:t>
            </a:r>
            <a:r>
              <a:rPr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A slicing function returning a view (!) of a subset of an </a:t>
            </a:r>
            <a:r>
              <a:rPr b="1" dirty="0"/>
              <a:t>std::mdspan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52134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7E408-1AF9-C2D7-22F2-FCBF7F894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E0E3-5001-9926-8BED-71D669C8D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std::</a:t>
            </a:r>
            <a:r>
              <a:rPr dirty="0" err="1"/>
              <a:t>submdspan</a:t>
            </a:r>
            <a:r>
              <a:rPr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E7747-8F06-7A25-287E-C7CF9624FCF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40000" lnSpcReduction="20000"/>
          </a:bodyPr>
          <a:lstStyle/>
          <a:p>
            <a:pPr marL="320040" lvl="1" indent="-320040">
              <a:lnSpc>
                <a:spcPct val="12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nl-BE" sz="6000" dirty="0" err="1"/>
              <a:t>Example</a:t>
            </a:r>
            <a:r>
              <a:rPr lang="nl-BE" sz="6000" dirty="0"/>
              <a:t>: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9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Set all elements of a rank-2 mdspan to zero.</a:t>
            </a:r>
            <a:endParaRPr lang="en-US" sz="2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pt-BR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zero_2</a:t>
            </a:r>
            <a:r>
              <a:rPr lang="en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D_grid</a:t>
            </a:r>
            <a:r>
              <a:rPr lang="pt-BR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pt-BR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 </a:t>
            </a:r>
            <a:r>
              <a:rPr lang="pt-BR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grid2d</a:t>
            </a:r>
            <a:r>
              <a:rPr lang="pt-BR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2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static_assert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grid2d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.rank() == 2);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2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 = 0; i &lt; </a:t>
            </a:r>
            <a:r>
              <a:rPr lang="nl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grid2d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.extent(0); ++i) {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l-BE" sz="2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nl-BE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j = 0; j &lt; </a:t>
            </a:r>
            <a:r>
              <a:rPr lang="nl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grid2d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.extent(1); ++j) {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nl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grid2d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[i, j] = 0;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endParaRPr lang="nl-BE" sz="2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pt-BR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zero_</a:t>
            </a: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3D_</a:t>
            </a:r>
            <a:r>
              <a:rPr lang="en-US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cube</a:t>
            </a: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</a:t>
            </a:r>
            <a:r>
              <a:rPr lang="pt-BR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surface(</a:t>
            </a:r>
            <a:r>
              <a:rPr lang="pt-BR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pt-BR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 </a:t>
            </a:r>
            <a:r>
              <a:rPr lang="pt-BR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grid3d</a:t>
            </a:r>
            <a:r>
              <a:rPr lang="pt-BR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2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static_assert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grid3d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.rank() == 3);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zero_2</a:t>
            </a:r>
            <a:r>
              <a:rPr lang="en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D_grid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submdspan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grid3d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0, 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full_extent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full_extent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zero_2</a:t>
            </a:r>
            <a:r>
              <a:rPr lang="en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D_grid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submdspan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grid3d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full_extent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0, 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full_extent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zero_2</a:t>
            </a:r>
            <a:r>
              <a:rPr lang="en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D_grid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submdspan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grid3d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full_extent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full_extent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0));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zero_2</a:t>
            </a:r>
            <a:r>
              <a:rPr lang="en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D_grid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submdspan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grid3d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grid3d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.extent(0) - 1, 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full_extent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full_extent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zero_2</a:t>
            </a:r>
            <a:r>
              <a:rPr lang="en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D_grid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submdspan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grid3d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full_extent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grid3d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.extent(1) - 1, 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full_extent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zero_2</a:t>
            </a:r>
            <a:r>
              <a:rPr lang="en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D_grid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submdspan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grid3d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full_extent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2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full_extent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29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grid3d</a:t>
            </a: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.extent(2) - 1));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2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91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Saturation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Normal arithmetic in C++ is done module 2</a:t>
            </a:r>
            <a:r>
              <a:rPr baseline="30000" dirty="0"/>
              <a:t>N</a:t>
            </a:r>
            <a:r>
              <a:rPr dirty="0"/>
              <a:t>.</a:t>
            </a:r>
          </a:p>
          <a:p>
            <a:r>
              <a:rPr dirty="0"/>
              <a:t>Saturation arithmetic clamps overflow/underflow to the largest/smallest value instead</a:t>
            </a:r>
          </a:p>
          <a:p>
            <a:r>
              <a:rPr dirty="0"/>
              <a:t>New </a:t>
            </a:r>
            <a:r>
              <a:rPr dirty="0" err="1"/>
              <a:t>freesta</a:t>
            </a:r>
            <a:r>
              <a:rPr lang="nl-BE" dirty="0" err="1"/>
              <a:t>nd</a:t>
            </a:r>
            <a:r>
              <a:rPr dirty="0" err="1"/>
              <a:t>ing</a:t>
            </a:r>
            <a:r>
              <a:rPr dirty="0"/>
              <a:t> functions in </a:t>
            </a:r>
            <a:r>
              <a:rPr b="1" dirty="0"/>
              <a:t>&lt;numeric&gt;</a:t>
            </a:r>
            <a:r>
              <a:rPr dirty="0"/>
              <a:t>:</a:t>
            </a:r>
          </a:p>
          <a:p>
            <a:pPr lvl="1"/>
            <a:r>
              <a:rPr b="1" dirty="0" err="1"/>
              <a:t>add_sat</a:t>
            </a:r>
            <a:r>
              <a:rPr b="1" dirty="0"/>
              <a:t>(x, y)</a:t>
            </a:r>
          </a:p>
          <a:p>
            <a:pPr lvl="1"/>
            <a:r>
              <a:rPr lang="en-BE" b="1" dirty="0" err="1"/>
              <a:t>sub_sat</a:t>
            </a:r>
            <a:r>
              <a:rPr lang="en-BE" b="1" dirty="0"/>
              <a:t>(x, y)</a:t>
            </a:r>
          </a:p>
          <a:p>
            <a:pPr lvl="1"/>
            <a:r>
              <a:rPr lang="en-BE" b="1" dirty="0" err="1"/>
              <a:t>mul_sat</a:t>
            </a:r>
            <a:r>
              <a:rPr lang="en-BE" b="1" dirty="0"/>
              <a:t>(x, y)</a:t>
            </a:r>
            <a:endParaRPr b="1" dirty="0"/>
          </a:p>
          <a:p>
            <a:pPr lvl="1"/>
            <a:r>
              <a:rPr b="1" dirty="0" err="1"/>
              <a:t>div_sat</a:t>
            </a:r>
            <a:r>
              <a:rPr b="1" dirty="0"/>
              <a:t>(x, 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907D1-1CCB-905B-8B03-C774A4CFD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2BDC-0982-C3B6-D431-1D08D9FA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Saturation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A3D2D-B9A6-3473-41DE-17727745877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Example:</a:t>
            </a:r>
            <a:br>
              <a:rPr dirty="0"/>
            </a:br>
            <a:r>
              <a:rPr dirty="0"/>
              <a:t>Brightening a white (=255) pixel value</a:t>
            </a:r>
          </a:p>
          <a:p>
            <a:pPr marL="320040" lvl="1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unsigned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x1 = 255 + 4;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= 3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buNone/>
            </a:pP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unsigned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x2 =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add_sat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unsigned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&gt;(255, 4); 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= 255</a:t>
            </a:r>
            <a:endParaRPr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66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19921-9D67-4EB5-D424-55C703509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3F30-3869-E27B-16D3-0E1495BBF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string_view</a:t>
            </a:r>
            <a:r>
              <a:rPr lang="en-BE" dirty="0"/>
              <a:t> </a:t>
            </a:r>
            <a:r>
              <a:rPr lang="en-BE" dirty="0" err="1"/>
              <a:t>init</a:t>
            </a:r>
            <a:r>
              <a:rPr dirty="0"/>
              <a:t> for </a:t>
            </a:r>
            <a:r>
              <a:rPr dirty="0" err="1"/>
              <a:t>stringstreams</a:t>
            </a:r>
            <a:r>
              <a:rPr lang="en-BE" dirty="0"/>
              <a:t>/</a:t>
            </a:r>
            <a:r>
              <a:rPr dirty="0" err="1"/>
              <a:t>bitset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6BB49-C1B9-72E7-A23E-BFFA88DEB5D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Allows construction and reinitialization of </a:t>
            </a:r>
            <a:r>
              <a:rPr lang="nl-BE" b="1" dirty="0" err="1"/>
              <a:t>std</a:t>
            </a:r>
            <a:r>
              <a:rPr lang="nl-BE" b="1" dirty="0"/>
              <a:t>::</a:t>
            </a:r>
            <a:r>
              <a:rPr b="1" dirty="0" err="1"/>
              <a:t>stringstream</a:t>
            </a:r>
            <a:r>
              <a:rPr b="1" dirty="0"/>
              <a:t> </a:t>
            </a:r>
            <a:r>
              <a:rPr dirty="0"/>
              <a:t>and </a:t>
            </a:r>
            <a:r>
              <a:rPr b="1" dirty="0"/>
              <a:t>std::</a:t>
            </a:r>
            <a:r>
              <a:rPr b="1" dirty="0" err="1"/>
              <a:t>bitset</a:t>
            </a:r>
            <a:r>
              <a:rPr b="1" dirty="0"/>
              <a:t> </a:t>
            </a:r>
            <a:r>
              <a:rPr dirty="0"/>
              <a:t>from </a:t>
            </a:r>
            <a:r>
              <a:rPr b="1" dirty="0"/>
              <a:t>std::</a:t>
            </a:r>
            <a:r>
              <a:rPr b="1" dirty="0" err="1"/>
              <a:t>string_view</a:t>
            </a:r>
            <a:endParaRPr b="1" dirty="0"/>
          </a:p>
          <a:p>
            <a:r>
              <a:rPr lang="en-BE" dirty="0"/>
              <a:t>Example:</a:t>
            </a:r>
          </a:p>
          <a:p>
            <a:pPr marL="320040" lvl="1" indent="0">
              <a:buNone/>
            </a:pPr>
            <a:r>
              <a:rPr lang="pl-PL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stringstream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s1{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 };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pre-C++26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buNone/>
            </a:pPr>
            <a:r>
              <a:rPr lang="pl-PL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stringstream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s2{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sv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};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since C++26</a:t>
            </a:r>
            <a:endParaRPr lang="en-BE" sz="1800" dirty="0">
              <a:solidFill>
                <a:srgbClr val="008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stringstream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s3;</a:t>
            </a:r>
          </a:p>
          <a:p>
            <a:pPr marL="320040" lvl="1" indent="0"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s3.str(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s);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pre-C++26</a:t>
            </a: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buNone/>
            </a:pP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s3.str(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sv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since C++26</a:t>
            </a: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buNone/>
            </a:pPr>
            <a:r>
              <a:rPr lang="pl-PL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pl-PL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bitset</a:t>
            </a:r>
            <a:r>
              <a:rPr lang="pl-PL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b1{ </a:t>
            </a:r>
            <a:r>
              <a:rPr lang="pl-PL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pl-PL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 };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pl-PL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OK pre-C++26</a:t>
            </a:r>
            <a:endParaRPr lang="pl-PL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bitset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b2{ 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sv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};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OK </a:t>
            </a:r>
            <a:r>
              <a:rPr lang="nl-BE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since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C++26</a:t>
            </a:r>
            <a:endParaRPr sz="1800" dirty="0">
              <a:latin typeface="Consolas" panose="020B0609020204030204" pitchFamily="49" charset="0"/>
            </a:endParaRP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029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std::</a:t>
            </a:r>
            <a:r>
              <a:rPr dirty="0" err="1"/>
              <a:t>text_encoding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Introduces a way to </a:t>
            </a:r>
            <a:r>
              <a:rPr dirty="0" err="1"/>
              <a:t>retr</a:t>
            </a:r>
            <a:r>
              <a:rPr lang="nl-BE" dirty="0"/>
              <a:t>ie</a:t>
            </a:r>
            <a:r>
              <a:rPr dirty="0" err="1"/>
              <a:t>ve</a:t>
            </a:r>
            <a:endParaRPr dirty="0"/>
          </a:p>
          <a:p>
            <a:pPr lvl="1"/>
            <a:r>
              <a:rPr lang="en-BE" dirty="0"/>
              <a:t>L</a:t>
            </a:r>
            <a:r>
              <a:rPr lang="nl-BE" dirty="0"/>
              <a:t>i</a:t>
            </a:r>
            <a:r>
              <a:rPr lang="en-BE" dirty="0" err="1"/>
              <a:t>teral</a:t>
            </a:r>
            <a:r>
              <a:rPr lang="en-BE" dirty="0"/>
              <a:t> text encoding</a:t>
            </a:r>
          </a:p>
          <a:p>
            <a:pPr lvl="1"/>
            <a:r>
              <a:rPr lang="en-BE" dirty="0"/>
              <a:t>Environment text encoding</a:t>
            </a:r>
          </a:p>
          <a:p>
            <a:r>
              <a:rPr lang="en-BE" dirty="0"/>
              <a:t>Example: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is</a:t>
            </a:r>
            <a:r>
              <a:rPr lang="en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UTF8</a:t>
            </a:r>
            <a:r>
              <a:rPr lang="en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_e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nvironment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text_encoding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environment_is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text_encoding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::UTF8&gt;();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BE" sz="1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A5AEF-AC81-0693-6E9B-7310059BC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461C9-FBDD-25B9-3135-C47185D3D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std::</a:t>
            </a:r>
            <a:r>
              <a:rPr dirty="0" err="1"/>
              <a:t>text_encoding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1EEC-72EE-FB1A-590C-CD740430A36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20040" lvl="1" indent="-320040">
              <a:lnSpc>
                <a:spcPct val="110000"/>
              </a:lnSpc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nl-BE" sz="2400" dirty="0" err="1"/>
              <a:t>Example</a:t>
            </a:r>
            <a:r>
              <a:rPr lang="nl-BE" sz="2400" dirty="0"/>
              <a:t>: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l-BE" sz="1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l-BE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print_suffix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nl-BE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 </a:t>
            </a:r>
            <a:r>
              <a:rPr lang="nl-BE" sz="13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stream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nl-BE" sz="13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l-BE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&amp; </a:t>
            </a:r>
            <a:r>
              <a:rPr lang="nl-BE" sz="13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duration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constexpr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(std::</a:t>
            </a:r>
            <a:r>
              <a:rPr lang="en-US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text_encoding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::literal() == std::</a:t>
            </a:r>
            <a:r>
              <a:rPr lang="en-US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text_encoding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::UTF8) {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3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stream</a:t>
            </a:r>
            <a:r>
              <a:rPr lang="en-US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.getloc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().encoding() == std::</a:t>
            </a:r>
            <a:r>
              <a:rPr lang="en-US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text_encoding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::UTF8) {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3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US" sz="13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stream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&lt;&lt; </a:t>
            </a:r>
            <a:r>
              <a:rPr lang="en-US" sz="13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duration</a:t>
            </a:r>
            <a:r>
              <a:rPr lang="en-US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.count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&lt;&lt; </a:t>
            </a:r>
            <a:r>
              <a:rPr lang="en-US" sz="1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"\u00B5s"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3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µ</a:t>
            </a:r>
            <a:endParaRPr lang="en-US" sz="1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nl-BE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3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nl-BE" sz="13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stream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&lt;&lt; </a:t>
            </a:r>
            <a:r>
              <a:rPr lang="nl-BE" sz="13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duration</a:t>
            </a:r>
            <a:r>
              <a:rPr lang="nl-BE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.count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&lt;&lt; </a:t>
            </a:r>
            <a:r>
              <a:rPr lang="nl-BE" sz="1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nl-BE" sz="13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</a:t>
            </a:r>
            <a:r>
              <a:rPr lang="nl-BE" sz="1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endParaRPr lang="nl-BE" sz="1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l-BE" sz="1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l-BE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main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print_suffix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(std::</a:t>
            </a:r>
            <a:r>
              <a:rPr lang="en-US" sz="1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std::chrono::</a:t>
            </a:r>
            <a:r>
              <a:rPr lang="en-US" sz="1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microseconds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(42));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l-BE" sz="1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BE" sz="13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27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Native File Handles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Expose OS handles in file streams</a:t>
            </a:r>
          </a:p>
          <a:p>
            <a:r>
              <a:rPr lang="en-BE" dirty="0"/>
              <a:t>New type alias </a:t>
            </a:r>
            <a:r>
              <a:rPr lang="nl-BE" b="1" dirty="0" err="1"/>
              <a:t>native_handle_type</a:t>
            </a:r>
            <a:r>
              <a:rPr lang="en-BE" dirty="0"/>
              <a:t>, mapped to OS-specific type:</a:t>
            </a:r>
          </a:p>
          <a:p>
            <a:pPr lvl="1"/>
            <a:r>
              <a:rPr lang="en-US" b="1" dirty="0"/>
              <a:t>int</a:t>
            </a:r>
            <a:r>
              <a:rPr lang="en-US" dirty="0"/>
              <a:t> on POSIX</a:t>
            </a:r>
            <a:endParaRPr lang="en-BE" dirty="0"/>
          </a:p>
          <a:p>
            <a:pPr lvl="1"/>
            <a:r>
              <a:rPr lang="en-US" b="1" dirty="0"/>
              <a:t>HANDLE (void*) </a:t>
            </a:r>
            <a:r>
              <a:rPr lang="en-US" dirty="0"/>
              <a:t>on Windows</a:t>
            </a:r>
            <a:endParaRPr lang="en-BE" dirty="0"/>
          </a:p>
          <a:p>
            <a:pPr lvl="1"/>
            <a:r>
              <a:rPr lang="en-BE" dirty="0"/>
              <a:t>...</a:t>
            </a:r>
          </a:p>
          <a:p>
            <a:r>
              <a:rPr lang="en-BE" dirty="0"/>
              <a:t>New member </a:t>
            </a:r>
            <a:r>
              <a:rPr lang="en-BE" b="1" dirty="0" err="1"/>
              <a:t>native_handle</a:t>
            </a:r>
            <a:r>
              <a:rPr lang="en-BE" b="1" dirty="0"/>
              <a:t>() </a:t>
            </a:r>
            <a:r>
              <a:rPr lang="en-BE" dirty="0"/>
              <a:t>in </a:t>
            </a:r>
            <a:r>
              <a:rPr lang="en-BE" b="1" dirty="0" err="1"/>
              <a:t>basic_filebuf</a:t>
            </a:r>
            <a:r>
              <a:rPr lang="en-BE" dirty="0"/>
              <a:t>, </a:t>
            </a:r>
            <a:r>
              <a:rPr lang="en-BE" b="1" dirty="0" err="1"/>
              <a:t>basic_ifstream</a:t>
            </a:r>
            <a:r>
              <a:rPr lang="en-BE" dirty="0"/>
              <a:t>, </a:t>
            </a:r>
            <a:r>
              <a:rPr lang="en-BE" b="1" dirty="0" err="1"/>
              <a:t>basic_ofstream</a:t>
            </a:r>
            <a:r>
              <a:rPr lang="en-BE" dirty="0"/>
              <a:t>, </a:t>
            </a:r>
            <a:r>
              <a:rPr lang="en-BE" b="1" dirty="0" err="1"/>
              <a:t>basic_fstream</a:t>
            </a:r>
            <a:endParaRPr b="1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FFDC1-32C5-212C-2231-1ECDF19D8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38B21-028D-4681-7737-3F7A1A125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Native File Handles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BB66D-B8CB-20B7-F8D9-AE96F1443DE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Example </a:t>
            </a:r>
            <a:r>
              <a:rPr lang="nl-BE" dirty="0"/>
              <a:t>POSIX </a:t>
            </a:r>
            <a:r>
              <a:rPr lang="nl-BE" dirty="0" err="1"/>
              <a:t>implementation</a:t>
            </a:r>
            <a:r>
              <a:rPr lang="nl-BE" dirty="0"/>
              <a:t> </a:t>
            </a:r>
            <a:r>
              <a:rPr lang="nl-BE" dirty="0" err="1"/>
              <a:t>using</a:t>
            </a:r>
            <a:r>
              <a:rPr lang="nl-BE" dirty="0"/>
              <a:t> </a:t>
            </a:r>
            <a:r>
              <a:rPr lang="nl-BE" b="1" dirty="0" err="1"/>
              <a:t>fstat</a:t>
            </a:r>
            <a:r>
              <a:rPr lang="en-BE" dirty="0"/>
              <a:t>:</a:t>
            </a:r>
            <a:endParaRPr dirty="0"/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std::chrono::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sys_seconds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last_modified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::stat s{};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err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::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fstat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6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&amp;s);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::chrono::</a:t>
            </a:r>
            <a:r>
              <a:rPr lang="nl-BE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sys_seconds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last_modified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</a:t>
            </a:r>
            <a:endParaRPr lang="en-BE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::chrono::</a:t>
            </a:r>
            <a:r>
              <a:rPr lang="nl-BE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seconds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s.st_mtime.tv_sec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endParaRPr lang="nl-BE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l-BE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ofstream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of(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"~/foo.txt"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lm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last_modified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of.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native_handle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println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"{}"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std::chrono::format(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"%c"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lm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));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D1FEC-34AB-59F7-2879-BD64EEB99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C3FCE-9A22-F8F4-63EC-C4040E283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</a:t>
            </a:r>
            <a:r>
              <a:rPr dirty="0" err="1"/>
              <a:t>onstexpr</a:t>
            </a:r>
            <a:r>
              <a:rPr dirty="0"/>
              <a:t> Stable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BBD4A-8490-DD84-8B5D-A15FBE449C6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The following algorithms are now </a:t>
            </a:r>
            <a:r>
              <a:rPr b="1" dirty="0"/>
              <a:t>constexpr</a:t>
            </a:r>
          </a:p>
          <a:p>
            <a:pPr lvl="1"/>
            <a:r>
              <a:rPr lang="en-BE" b="1" dirty="0"/>
              <a:t>std::</a:t>
            </a:r>
            <a:r>
              <a:rPr lang="en-BE" b="1" dirty="0" err="1"/>
              <a:t>stable_sort</a:t>
            </a:r>
            <a:r>
              <a:rPr lang="en-BE" b="1" dirty="0"/>
              <a:t>()</a:t>
            </a:r>
          </a:p>
          <a:p>
            <a:pPr lvl="1"/>
            <a:r>
              <a:rPr lang="en-BE" b="1" dirty="0"/>
              <a:t>std::</a:t>
            </a:r>
            <a:r>
              <a:rPr lang="en-BE" b="1" dirty="0" err="1"/>
              <a:t>stable_partition</a:t>
            </a:r>
            <a:r>
              <a:rPr lang="en-BE" b="1" dirty="0"/>
              <a:t>()</a:t>
            </a:r>
          </a:p>
          <a:p>
            <a:pPr lvl="1"/>
            <a:r>
              <a:rPr lang="en-BE" b="1" dirty="0"/>
              <a:t>std::</a:t>
            </a:r>
            <a:r>
              <a:rPr lang="en-BE" b="1" dirty="0" err="1"/>
              <a:t>inplace_merge</a:t>
            </a:r>
            <a:r>
              <a:rPr lang="en-BE" b="1" dirty="0"/>
              <a:t>()</a:t>
            </a:r>
          </a:p>
          <a:p>
            <a:pPr lvl="1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22864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</a:t>
            </a:r>
            <a:r>
              <a:rPr lang="nl-BE" dirty="0"/>
              <a:t>o</a:t>
            </a:r>
            <a:r>
              <a:rPr dirty="0"/>
              <a:t>re constexpr &lt;</a:t>
            </a:r>
            <a:r>
              <a:rPr dirty="0" err="1"/>
              <a:t>cmath</a:t>
            </a:r>
            <a:r>
              <a:rPr dirty="0"/>
              <a:t>&gt; and &lt;complex&gt;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More </a:t>
            </a:r>
            <a:r>
              <a:rPr b="1" dirty="0" err="1"/>
              <a:t>constexp</a:t>
            </a:r>
            <a:r>
              <a:rPr lang="nl-BE" dirty="0"/>
              <a:t>r</a:t>
            </a:r>
            <a:r>
              <a:rPr dirty="0"/>
              <a:t> math function in </a:t>
            </a:r>
            <a:r>
              <a:rPr b="1" dirty="0"/>
              <a:t>&lt;</a:t>
            </a:r>
            <a:r>
              <a:rPr b="1" dirty="0" err="1"/>
              <a:t>cmath</a:t>
            </a:r>
            <a:r>
              <a:rPr b="1" dirty="0"/>
              <a:t>&gt;</a:t>
            </a:r>
            <a:r>
              <a:rPr dirty="0"/>
              <a:t> and </a:t>
            </a:r>
            <a:r>
              <a:rPr b="1" dirty="0"/>
              <a:t>&lt;complex&gt;</a:t>
            </a:r>
          </a:p>
          <a:p>
            <a:r>
              <a:rPr lang="en-BE" dirty="0"/>
              <a:t>Functions such as:</a:t>
            </a:r>
          </a:p>
          <a:p>
            <a:pPr lvl="1"/>
            <a:r>
              <a:rPr lang="en-BE" b="1" dirty="0"/>
              <a:t>&lt;complex&gt;: abs(), sin(), cos(), </a:t>
            </a:r>
            <a:r>
              <a:rPr lang="en-BE" b="1" dirty="0" err="1"/>
              <a:t>asin</a:t>
            </a:r>
            <a:r>
              <a:rPr lang="en-BE" b="1" dirty="0"/>
              <a:t>(), </a:t>
            </a:r>
            <a:r>
              <a:rPr lang="en-BE" b="1" dirty="0" err="1"/>
              <a:t>acosh</a:t>
            </a:r>
            <a:r>
              <a:rPr lang="en-BE" b="1" dirty="0"/>
              <a:t>(), log(), pow(), ...</a:t>
            </a:r>
          </a:p>
          <a:p>
            <a:pPr lvl="1"/>
            <a:r>
              <a:rPr lang="en-BE" b="1" dirty="0"/>
              <a:t>&lt;</a:t>
            </a:r>
            <a:r>
              <a:rPr lang="en-BE" b="1" dirty="0" err="1"/>
              <a:t>cmath</a:t>
            </a:r>
            <a:r>
              <a:rPr lang="en-BE" b="1" dirty="0"/>
              <a:t>&gt;: </a:t>
            </a:r>
            <a:r>
              <a:rPr lang="en-BE" b="1" dirty="0" err="1"/>
              <a:t>sinhf</a:t>
            </a:r>
            <a:r>
              <a:rPr lang="en-BE" b="1" dirty="0"/>
              <a:t>(), </a:t>
            </a:r>
            <a:r>
              <a:rPr lang="en-BE" b="1" dirty="0" err="1"/>
              <a:t>tanf</a:t>
            </a:r>
            <a:r>
              <a:rPr lang="en-BE" b="1" dirty="0"/>
              <a:t>(), </a:t>
            </a:r>
            <a:r>
              <a:rPr lang="en-BE" b="1" dirty="0" err="1"/>
              <a:t>cosf</a:t>
            </a:r>
            <a:r>
              <a:rPr lang="en-BE" b="1" dirty="0"/>
              <a:t>(), </a:t>
            </a:r>
            <a:r>
              <a:rPr lang="en-BE" b="1" dirty="0" err="1"/>
              <a:t>expf</a:t>
            </a:r>
            <a:r>
              <a:rPr lang="en-BE" b="1" dirty="0"/>
              <a:t>(), </a:t>
            </a:r>
            <a:r>
              <a:rPr lang="en-BE" b="1" dirty="0" err="1"/>
              <a:t>logf</a:t>
            </a:r>
            <a:r>
              <a:rPr lang="en-BE" b="1" dirty="0"/>
              <a:t>(), </a:t>
            </a:r>
            <a:r>
              <a:rPr lang="en-BE" b="1" dirty="0" err="1"/>
              <a:t>powf</a:t>
            </a:r>
            <a:r>
              <a:rPr lang="en-BE" b="1" dirty="0"/>
              <a:t>(), </a:t>
            </a:r>
            <a:r>
              <a:rPr lang="en-BE" b="1" dirty="0" err="1"/>
              <a:t>lgammaf</a:t>
            </a:r>
            <a:r>
              <a:rPr lang="en-BE" b="1" dirty="0"/>
              <a:t>(), </a:t>
            </a:r>
            <a:r>
              <a:rPr lang="en-BE" b="1" dirty="0" err="1"/>
              <a:t>hypot</a:t>
            </a:r>
            <a:r>
              <a:rPr lang="en-BE" b="1" dirty="0"/>
              <a:t>(), ...</a:t>
            </a:r>
            <a:endParaRPr b="1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59DF0-9CF6-7FD7-64C3-EDC523F8D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0E67-64F3-23C0-401E-62F0B32FA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More </a:t>
            </a:r>
            <a:r>
              <a:rPr lang="nl-BE" dirty="0"/>
              <a:t>c</a:t>
            </a:r>
            <a:r>
              <a:rPr dirty="0" err="1"/>
              <a:t>onstexpr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E8160-0A00-699A-B85D-E49901F28F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Most methods of </a:t>
            </a:r>
            <a:r>
              <a:rPr b="1" dirty="0"/>
              <a:t>std::atomic </a:t>
            </a:r>
            <a:r>
              <a:rPr dirty="0"/>
              <a:t>and </a:t>
            </a:r>
            <a:r>
              <a:rPr b="1" dirty="0"/>
              <a:t>std::</a:t>
            </a:r>
            <a:r>
              <a:rPr b="1" dirty="0" err="1"/>
              <a:t>atomic_ref</a:t>
            </a:r>
            <a:r>
              <a:rPr dirty="0"/>
              <a:t> are now </a:t>
            </a:r>
            <a:r>
              <a:rPr b="1" dirty="0"/>
              <a:t>constexpr</a:t>
            </a:r>
          </a:p>
          <a:p>
            <a:r>
              <a:rPr lang="en-BE" b="1" dirty="0"/>
              <a:t>constexpr</a:t>
            </a:r>
            <a:r>
              <a:rPr lang="en-BE" dirty="0"/>
              <a:t> for specialized memory algorithms like </a:t>
            </a:r>
            <a:r>
              <a:rPr lang="en-BE" b="1" dirty="0"/>
              <a:t>std::</a:t>
            </a:r>
            <a:r>
              <a:rPr lang="nl-BE" b="1" dirty="0" err="1"/>
              <a:t>uninitialized_value_construct</a:t>
            </a:r>
            <a:r>
              <a:rPr lang="en-BE" b="1" dirty="0"/>
              <a:t>()</a:t>
            </a:r>
            <a:r>
              <a:rPr lang="en-BE" dirty="0"/>
              <a:t>, </a:t>
            </a:r>
            <a:r>
              <a:rPr lang="nl-BE" b="1" dirty="0"/>
              <a:t>uninitialized_copy</a:t>
            </a:r>
            <a:r>
              <a:rPr lang="en-BE" b="1" dirty="0"/>
              <a:t>()</a:t>
            </a:r>
            <a:r>
              <a:rPr lang="en-BE" dirty="0"/>
              <a:t>, ...</a:t>
            </a:r>
            <a:endParaRPr dirty="0"/>
          </a:p>
          <a:p>
            <a:r>
              <a:rPr b="1" dirty="0" err="1"/>
              <a:t>constexpr</a:t>
            </a:r>
            <a:r>
              <a:rPr dirty="0"/>
              <a:t> for</a:t>
            </a:r>
            <a:r>
              <a:rPr lang="en-US" dirty="0"/>
              <a:t> standard</a:t>
            </a:r>
            <a:r>
              <a:rPr dirty="0"/>
              <a:t> exception types like </a:t>
            </a:r>
            <a:r>
              <a:rPr b="1" dirty="0"/>
              <a:t>std::</a:t>
            </a:r>
            <a:r>
              <a:rPr b="1" dirty="0" err="1"/>
              <a:t>bad_alloc</a:t>
            </a:r>
            <a:r>
              <a:rPr dirty="0"/>
              <a:t>, </a:t>
            </a:r>
            <a:r>
              <a:rPr b="1" dirty="0" err="1"/>
              <a:t>bad_cast</a:t>
            </a:r>
            <a:r>
              <a:rPr dirty="0"/>
              <a:t>,</a:t>
            </a:r>
            <a:r>
              <a:rPr lang="en-US" dirty="0"/>
              <a:t> </a:t>
            </a:r>
            <a:r>
              <a:rPr lang="en-US" b="1" dirty="0" err="1"/>
              <a:t>invalid_argument</a:t>
            </a:r>
            <a:r>
              <a:rPr dirty="0"/>
              <a:t> </a:t>
            </a:r>
            <a:r>
              <a:rPr lang="nl-BE" dirty="0"/>
              <a:t>…</a:t>
            </a:r>
            <a:endParaRPr lang="en-BE" dirty="0"/>
          </a:p>
          <a:p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0646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4AE97-05F1-99E4-B83A-E9395B4C6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97D95-0596-6690-B740-2914D30B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constexpr for Containers &amp; Adapters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DF2BB-91C9-6D9A-FA1D-15977E497B4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All containers and adapters are now </a:t>
            </a:r>
            <a:r>
              <a:rPr b="1" dirty="0"/>
              <a:t>constexpr</a:t>
            </a:r>
          </a:p>
          <a:p>
            <a:pPr lvl="1"/>
            <a:r>
              <a:rPr lang="en-BE" b="1" dirty="0"/>
              <a:t>std::deque, </a:t>
            </a:r>
            <a:r>
              <a:rPr lang="en-BE" b="1" dirty="0" err="1"/>
              <a:t>flat_map</a:t>
            </a:r>
            <a:r>
              <a:rPr lang="en-BE" b="1" dirty="0"/>
              <a:t>, list, set, </a:t>
            </a:r>
            <a:r>
              <a:rPr lang="en-BE" b="1" dirty="0" err="1"/>
              <a:t>priority_queue</a:t>
            </a:r>
            <a:r>
              <a:rPr lang="en-BE" b="1" dirty="0"/>
              <a:t>, stack, map, span, </a:t>
            </a:r>
            <a:r>
              <a:rPr lang="en-BE" b="1" dirty="0" err="1"/>
              <a:t>inplace_vector</a:t>
            </a:r>
            <a:r>
              <a:rPr lang="en-BE" b="1" dirty="0"/>
              <a:t>, ...</a:t>
            </a:r>
          </a:p>
          <a:p>
            <a:r>
              <a:rPr lang="en-BE" dirty="0"/>
              <a:t>Except </a:t>
            </a:r>
            <a:r>
              <a:rPr lang="en-BE" b="1" dirty="0"/>
              <a:t>std::hive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25425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New SI Prefixes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Support for new SI prefixes</a:t>
            </a:r>
          </a:p>
          <a:p>
            <a:pPr lvl="1"/>
            <a:r>
              <a:rPr lang="en-BE" b="1" dirty="0"/>
              <a:t>std::q</a:t>
            </a:r>
            <a:r>
              <a:rPr lang="nl-BE" b="1" dirty="0" err="1"/>
              <a:t>uetta</a:t>
            </a:r>
            <a:r>
              <a:rPr lang="en-BE" b="1" dirty="0"/>
              <a:t> </a:t>
            </a:r>
            <a:r>
              <a:rPr lang="en-BE" dirty="0"/>
              <a:t>(Q): 10</a:t>
            </a:r>
            <a:r>
              <a:rPr lang="en-BE" baseline="30000" dirty="0"/>
              <a:t>30</a:t>
            </a:r>
            <a:endParaRPr lang="nl-BE" baseline="30000" dirty="0"/>
          </a:p>
          <a:p>
            <a:pPr lvl="1"/>
            <a:r>
              <a:rPr lang="en-BE" b="1" dirty="0"/>
              <a:t>std::r</a:t>
            </a:r>
            <a:r>
              <a:rPr lang="nl-BE" b="1" dirty="0" err="1"/>
              <a:t>onna</a:t>
            </a:r>
            <a:r>
              <a:rPr lang="en-BE" b="1" dirty="0"/>
              <a:t> </a:t>
            </a:r>
            <a:r>
              <a:rPr lang="en-BE" dirty="0"/>
              <a:t>(R): 10</a:t>
            </a:r>
            <a:r>
              <a:rPr lang="en-BE" baseline="30000" dirty="0"/>
              <a:t>27</a:t>
            </a:r>
            <a:endParaRPr lang="nl-BE" baseline="30000" dirty="0"/>
          </a:p>
          <a:p>
            <a:pPr lvl="1"/>
            <a:r>
              <a:rPr lang="en-BE" b="1" dirty="0"/>
              <a:t>std::</a:t>
            </a:r>
            <a:r>
              <a:rPr b="1" dirty="0" err="1"/>
              <a:t>ronto</a:t>
            </a:r>
            <a:r>
              <a:rPr dirty="0"/>
              <a:t> </a:t>
            </a:r>
            <a:r>
              <a:rPr lang="nl-BE" dirty="0"/>
              <a:t>(r)</a:t>
            </a:r>
            <a:r>
              <a:rPr lang="en-BE" dirty="0"/>
              <a:t>: 10</a:t>
            </a:r>
            <a:r>
              <a:rPr lang="en-BE" baseline="30000" dirty="0"/>
              <a:t>-27</a:t>
            </a:r>
            <a:endParaRPr baseline="30000" dirty="0"/>
          </a:p>
          <a:p>
            <a:pPr lvl="1"/>
            <a:r>
              <a:rPr lang="en-BE" b="1" dirty="0"/>
              <a:t>std::q</a:t>
            </a:r>
            <a:r>
              <a:rPr lang="nl-BE" b="1" dirty="0" err="1"/>
              <a:t>uecto</a:t>
            </a:r>
            <a:r>
              <a:rPr lang="en-BE" dirty="0"/>
              <a:t> (q): 10</a:t>
            </a:r>
            <a:r>
              <a:rPr lang="en-BE" baseline="30000" dirty="0"/>
              <a:t>-30</a:t>
            </a:r>
          </a:p>
          <a:p>
            <a:r>
              <a:rPr lang="en-BE" dirty="0"/>
              <a:t>Only declared if </a:t>
            </a:r>
            <a:r>
              <a:rPr lang="en-BE" b="1" dirty="0"/>
              <a:t>std::</a:t>
            </a:r>
            <a:r>
              <a:rPr lang="en-BE" b="1" dirty="0" err="1"/>
              <a:t>intmax_t</a:t>
            </a:r>
            <a:r>
              <a:rPr lang="en-BE" b="1" dirty="0"/>
              <a:t> </a:t>
            </a:r>
            <a:r>
              <a:rPr lang="en-BE" dirty="0"/>
              <a:t>can represent the </a:t>
            </a:r>
            <a:r>
              <a:rPr lang="en-BE" dirty="0" err="1"/>
              <a:t>denomin</a:t>
            </a:r>
            <a:r>
              <a:rPr lang="nl-BE" dirty="0"/>
              <a:t>a</a:t>
            </a:r>
            <a:r>
              <a:rPr lang="en-BE" dirty="0"/>
              <a:t>tor or numerator (same requirement as </a:t>
            </a:r>
            <a:r>
              <a:rPr lang="en-BE" b="1" dirty="0"/>
              <a:t>std::</a:t>
            </a:r>
            <a:r>
              <a:rPr lang="en-BE" b="1" dirty="0" err="1"/>
              <a:t>yocto</a:t>
            </a:r>
            <a:r>
              <a:rPr lang="en-BE" dirty="0"/>
              <a:t>, </a:t>
            </a:r>
            <a:r>
              <a:rPr lang="en-BE" b="1" dirty="0" err="1"/>
              <a:t>zepto</a:t>
            </a:r>
            <a:r>
              <a:rPr lang="en-BE" dirty="0"/>
              <a:t>, </a:t>
            </a:r>
            <a:r>
              <a:rPr lang="en-BE" b="1" dirty="0"/>
              <a:t>zetta</a:t>
            </a:r>
            <a:r>
              <a:rPr lang="en-BE" dirty="0"/>
              <a:t>, and </a:t>
            </a:r>
            <a:r>
              <a:rPr lang="en-BE" b="1" dirty="0" err="1"/>
              <a:t>yotta</a:t>
            </a:r>
            <a:r>
              <a:rPr lang="en-BE" dirty="0"/>
              <a:t>)</a:t>
            </a:r>
            <a:endParaRPr lang="nl-BE" dirty="0"/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BA6FF-1375-1CA3-974D-525E59BDA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4BD7-B00B-F438-8AC1-AA6876B8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&lt;debugging&gt;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C2D38-E41B-76BF-1B57-96854ED781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New functions</a:t>
            </a:r>
          </a:p>
          <a:p>
            <a:pPr lvl="1"/>
            <a:r>
              <a:rPr lang="en-BE" b="1" dirty="0"/>
              <a:t>std::</a:t>
            </a:r>
            <a:r>
              <a:rPr lang="en-BE" b="1" dirty="0" err="1"/>
              <a:t>is_debugger_present</a:t>
            </a:r>
            <a:r>
              <a:rPr lang="en-BE" b="1" dirty="0"/>
              <a:t>()</a:t>
            </a:r>
          </a:p>
          <a:p>
            <a:pPr lvl="1"/>
            <a:r>
              <a:rPr lang="en-BE" b="1" dirty="0"/>
              <a:t>std::breakpoint()</a:t>
            </a:r>
          </a:p>
          <a:p>
            <a:pPr lvl="1"/>
            <a:r>
              <a:rPr lang="en-BE" b="1" dirty="0"/>
              <a:t>std::</a:t>
            </a:r>
            <a:r>
              <a:rPr lang="en-BE" b="1" dirty="0" err="1"/>
              <a:t>breakpoint_if_debugging</a:t>
            </a:r>
            <a:r>
              <a:rPr lang="en-BE" b="1" dirty="0"/>
              <a:t>()</a:t>
            </a:r>
          </a:p>
          <a:p>
            <a:pPr lvl="2"/>
            <a:r>
              <a:rPr lang="en-BE" dirty="0"/>
              <a:t>Equivalent to:</a:t>
            </a:r>
            <a:br>
              <a:rPr lang="en-BE" dirty="0"/>
            </a:br>
            <a:r>
              <a:rPr lang="en-US" b="1" dirty="0"/>
              <a:t>if (</a:t>
            </a:r>
            <a:r>
              <a:rPr lang="en-BE" b="1" dirty="0"/>
              <a:t>std::</a:t>
            </a:r>
            <a:r>
              <a:rPr lang="en-US" b="1" dirty="0" err="1"/>
              <a:t>is_debugger_present</a:t>
            </a:r>
            <a:r>
              <a:rPr lang="en-US" b="1" dirty="0"/>
              <a:t>()) </a:t>
            </a:r>
            <a:r>
              <a:rPr lang="en-BE" b="1" dirty="0"/>
              <a:t>{ std::</a:t>
            </a:r>
            <a:r>
              <a:rPr lang="en-US" b="1" dirty="0"/>
              <a:t>breakpoint();</a:t>
            </a:r>
            <a:r>
              <a:rPr lang="en-BE" b="1" dirty="0"/>
              <a:t> }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801605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8FEAF-6892-D42E-63A9-DA0230A52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DE1D4-26D5-3384-F40E-240CA97F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&lt;</a:t>
            </a:r>
            <a:r>
              <a:rPr dirty="0" err="1"/>
              <a:t>linalg</a:t>
            </a:r>
            <a:r>
              <a:rPr dirty="0"/>
              <a:t>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3AE04-3F80-7E8F-2509-8FEF423FA86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Introduces a free function linear algebra interface based on BLAS (</a:t>
            </a:r>
            <a:r>
              <a:rPr lang="en-US" dirty="0"/>
              <a:t>Basic Linear Algebra Subroutines</a:t>
            </a:r>
            <a:r>
              <a:rPr lang="en-BE" dirty="0"/>
              <a:t>).</a:t>
            </a:r>
          </a:p>
          <a:p>
            <a:r>
              <a:rPr lang="en-BE" dirty="0"/>
              <a:t>Only a subset of the BLAS standard.</a:t>
            </a:r>
          </a:p>
          <a:p>
            <a:r>
              <a:rPr lang="en-BE" dirty="0"/>
              <a:t>Supported functionality</a:t>
            </a:r>
          </a:p>
          <a:p>
            <a:pPr lvl="1"/>
            <a:r>
              <a:rPr lang="en-BE" dirty="0"/>
              <a:t>E</a:t>
            </a:r>
            <a:r>
              <a:rPr lang="en-US" dirty="0" err="1"/>
              <a:t>lementwise</a:t>
            </a:r>
            <a:r>
              <a:rPr lang="en-US" dirty="0"/>
              <a:t> vector sums</a:t>
            </a:r>
            <a:r>
              <a:rPr lang="en-BE" dirty="0"/>
              <a:t>.</a:t>
            </a:r>
            <a:endParaRPr lang="en-US" dirty="0"/>
          </a:p>
          <a:p>
            <a:pPr lvl="1"/>
            <a:r>
              <a:rPr lang="en-BE" dirty="0"/>
              <a:t>M</a:t>
            </a:r>
            <a:r>
              <a:rPr lang="en-US" dirty="0" err="1"/>
              <a:t>ultiplying</a:t>
            </a:r>
            <a:r>
              <a:rPr lang="en-US" dirty="0"/>
              <a:t> all elements of a vector or matrix by a scalar</a:t>
            </a:r>
            <a:r>
              <a:rPr lang="en-BE" dirty="0"/>
              <a:t>.</a:t>
            </a:r>
            <a:endParaRPr lang="en-US" dirty="0"/>
          </a:p>
          <a:p>
            <a:pPr lvl="1"/>
            <a:r>
              <a:rPr lang="en-US" dirty="0"/>
              <a:t>2-norms and 1-norms of vectors</a:t>
            </a:r>
            <a:r>
              <a:rPr lang="en-BE" dirty="0"/>
              <a:t>.</a:t>
            </a:r>
            <a:endParaRPr lang="en-US" dirty="0"/>
          </a:p>
          <a:p>
            <a:pPr lvl="1"/>
            <a:r>
              <a:rPr lang="en-BE" dirty="0"/>
              <a:t>V</a:t>
            </a:r>
            <a:r>
              <a:rPr lang="en-US" dirty="0" err="1"/>
              <a:t>ector</a:t>
            </a:r>
            <a:r>
              <a:rPr lang="en-US" dirty="0"/>
              <a:t>-vector, matrix-vector, matrix-matrix products</a:t>
            </a:r>
            <a:r>
              <a:rPr lang="en-BE" dirty="0"/>
              <a:t>.</a:t>
            </a:r>
            <a:endParaRPr lang="en-US" dirty="0"/>
          </a:p>
          <a:p>
            <a:pPr lvl="1"/>
            <a:r>
              <a:rPr lang="en-BE" dirty="0"/>
              <a:t>L</a:t>
            </a:r>
            <a:r>
              <a:rPr lang="en-US" dirty="0"/>
              <a:t>ow-rank updates of a matrix</a:t>
            </a:r>
            <a:r>
              <a:rPr lang="en-BE" dirty="0"/>
              <a:t>.</a:t>
            </a:r>
            <a:endParaRPr lang="en-US" dirty="0"/>
          </a:p>
          <a:p>
            <a:pPr lvl="1"/>
            <a:r>
              <a:rPr lang="en-BE" dirty="0"/>
              <a:t>T</a:t>
            </a:r>
            <a:r>
              <a:rPr lang="en-US" dirty="0" err="1"/>
              <a:t>riangular</a:t>
            </a:r>
            <a:r>
              <a:rPr lang="en-US" dirty="0"/>
              <a:t> solves with one or more “right-hand side” vectors</a:t>
            </a:r>
            <a:r>
              <a:rPr lang="en-BE" dirty="0"/>
              <a:t>.</a:t>
            </a:r>
            <a:endParaRPr lang="en-US" dirty="0"/>
          </a:p>
          <a:p>
            <a:pPr lvl="1"/>
            <a:r>
              <a:rPr lang="en-BE" dirty="0"/>
              <a:t>G</a:t>
            </a:r>
            <a:r>
              <a:rPr lang="en-US" dirty="0" err="1"/>
              <a:t>enerating</a:t>
            </a:r>
            <a:r>
              <a:rPr lang="en-US" dirty="0"/>
              <a:t> and applying plane (Givens) rotations.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49722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245AB-4707-4A1E-8A6C-20BD9C4CB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2906E-6233-CF07-A391-F625E6642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&lt;</a:t>
            </a:r>
            <a:r>
              <a:rPr dirty="0" err="1"/>
              <a:t>linalg</a:t>
            </a:r>
            <a:r>
              <a:rPr dirty="0"/>
              <a:t>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4AFDC-CD4C-6FCD-BDD1-977AFDFD91D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Features:</a:t>
            </a:r>
          </a:p>
          <a:p>
            <a:pPr lvl="1"/>
            <a:r>
              <a:rPr lang="en-BE" dirty="0"/>
              <a:t>Uses free functions, not operator overloading</a:t>
            </a:r>
          </a:p>
          <a:p>
            <a:pPr lvl="1"/>
            <a:r>
              <a:rPr lang="en-BE" dirty="0"/>
              <a:t>Uses std::mdspan to represent matrices and vectors</a:t>
            </a:r>
          </a:p>
          <a:p>
            <a:pPr lvl="1"/>
            <a:r>
              <a:rPr lang="en-BE" dirty="0"/>
              <a:t>Permits optimizations for matrices and vectors with small compile-time dimensions</a:t>
            </a:r>
          </a:p>
          <a:p>
            <a:pPr lvl="1"/>
            <a:r>
              <a:rPr lang="en-BE" dirty="0"/>
              <a:t>Supports mixed-precision computations with matrices and vectors that have different element types</a:t>
            </a:r>
          </a:p>
          <a:p>
            <a:pPr lvl="1"/>
            <a:r>
              <a:rPr lang="en-BE" dirty="0"/>
              <a:t>Operations take an optional execution policy to support parallel execution</a:t>
            </a:r>
          </a:p>
          <a:p>
            <a:pPr lvl="1"/>
            <a:r>
              <a:rPr lang="en-BE" dirty="0"/>
              <a:t>...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88029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C015D-52D5-0089-B8E4-2AA06895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4C505-0222-C320-F0AA-A4D575FB3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&lt;</a:t>
            </a:r>
            <a:r>
              <a:rPr dirty="0" err="1"/>
              <a:t>linalg</a:t>
            </a:r>
            <a:r>
              <a:rPr dirty="0"/>
              <a:t>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9EE82-FAC2-BD81-55DF-FBC4DAE9C4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Example: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size_t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 = 40;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x_vec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(N);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iota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(begin(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x_vec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 end(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x_vec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 0.0);</a:t>
            </a: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v-S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sv-SE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::mdspan</a:t>
            </a:r>
            <a:r>
              <a:rPr lang="sv-S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x(x_vec.data(), N);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0, 1, 2, 3, ...</a:t>
            </a:r>
            <a:endParaRPr lang="sv-S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it-IT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std::linalg::scale(2.0, x);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it-IT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0, 2, 4, 6, ...</a:t>
            </a:r>
            <a:endParaRPr lang="it-IT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linalg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scale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endParaRPr lang="en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execution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fr-FR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par_unseq</a:t>
            </a:r>
            <a:r>
              <a:rPr lang="fr-FR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3.0, x); </a:t>
            </a:r>
            <a:r>
              <a:rPr lang="fr-FR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0, 6, 12, 18, ...</a:t>
            </a:r>
            <a:endParaRPr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39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Tuple Protocol for std::complex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Access </a:t>
            </a:r>
            <a:r>
              <a:rPr b="1" dirty="0"/>
              <a:t>std::complex </a:t>
            </a:r>
            <a:r>
              <a:rPr dirty="0"/>
              <a:t>values as tuple-like values, enabling structured bindings</a:t>
            </a:r>
          </a:p>
          <a:p>
            <a:r>
              <a:rPr lang="en-BE" dirty="0"/>
              <a:t>Example, instead of: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complex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c{1, 2};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 [r, i] {</a:t>
            </a:r>
            <a:r>
              <a:rPr lang="nl-BE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reinterpret_cast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(&amp;)[2]&gt;(c)};</a:t>
            </a:r>
            <a:endParaRPr lang="en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BE" sz="2400" dirty="0"/>
              <a:t>You can write: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complex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c{1, 2};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 [r, i] {c};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en-BE" sz="2900" dirty="0"/>
          </a:p>
          <a:p>
            <a:pPr marL="320040" lvl="1" indent="0">
              <a:spcBef>
                <a:spcPts val="0"/>
              </a:spcBef>
              <a:buNone/>
            </a:pP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views::</a:t>
            </a:r>
            <a:r>
              <a:rPr dirty="0" err="1"/>
              <a:t>concat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BE" b="1" dirty="0"/>
              <a:t>std::</a:t>
            </a:r>
            <a:r>
              <a:rPr lang="en-BE" b="1" dirty="0" err="1"/>
              <a:t>views:concat</a:t>
            </a:r>
            <a:r>
              <a:rPr lang="en-BE" b="1" dirty="0"/>
              <a:t> </a:t>
            </a:r>
            <a:r>
              <a:rPr lang="en-BE" dirty="0"/>
              <a:t>is a new </a:t>
            </a:r>
            <a:r>
              <a:rPr dirty="0"/>
              <a:t>view factory</a:t>
            </a:r>
          </a:p>
          <a:p>
            <a:pPr lvl="1"/>
            <a:r>
              <a:rPr lang="en-BE" dirty="0"/>
              <a:t>Takes any number of input ranges</a:t>
            </a:r>
          </a:p>
          <a:p>
            <a:pPr lvl="1"/>
            <a:r>
              <a:rPr lang="en-BE" dirty="0"/>
              <a:t>Returns a view containing all elements of all ranges concatenated</a:t>
            </a:r>
          </a:p>
          <a:p>
            <a:r>
              <a:rPr lang="en-BE" dirty="0"/>
              <a:t>Example: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2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2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nl-BE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21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v1{ 1, 2, 3 }, v2{ 4, 5 }, v3{};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en-US" sz="21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::array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a{ 6, 7, 8 };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println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1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"{}"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std::views::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(v1, v2, v3, a));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2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l-BE" sz="21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[1, 2, 3, 4, 5, 6, 7, 8]</a:t>
            </a:r>
            <a:endParaRPr sz="21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String 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New overloads of </a:t>
            </a:r>
            <a:r>
              <a:rPr b="1" dirty="0"/>
              <a:t>operator+</a:t>
            </a:r>
            <a:r>
              <a:rPr dirty="0"/>
              <a:t> to allow concatenation between </a:t>
            </a:r>
            <a:r>
              <a:rPr b="1" dirty="0"/>
              <a:t>std::string </a:t>
            </a:r>
            <a:r>
              <a:rPr dirty="0"/>
              <a:t>and </a:t>
            </a:r>
            <a:r>
              <a:rPr b="1" dirty="0"/>
              <a:t>std::</a:t>
            </a:r>
            <a:r>
              <a:rPr b="1" dirty="0" err="1"/>
              <a:t>string_view</a:t>
            </a:r>
            <a:endParaRPr b="1" dirty="0"/>
          </a:p>
          <a:p>
            <a:r>
              <a:rPr lang="en-BE" dirty="0"/>
              <a:t>Example: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string_view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view;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println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"{}"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view);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println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"{}"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view +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64A69-9A21-9174-E524-60C5F4F0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1483-3D3C-BD1E-2978-6CBFF820D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Enabling List Initialization for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A0DC8-006A-94B6-6B3C-266460E671C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C++26 supports list initialization for algorithms</a:t>
            </a:r>
            <a:r>
              <a:rPr lang="en-US" dirty="0"/>
              <a:t>.</a:t>
            </a:r>
            <a:endParaRPr dirty="0"/>
          </a:p>
          <a:p>
            <a:r>
              <a:rPr lang="en-BE" dirty="0"/>
              <a:t>Example: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x;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y;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operator==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&amp;)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default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point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v;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v.push_back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({ 3, 4 });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No need to specify the "point" type here...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BE" sz="2400" dirty="0"/>
              <a:t>Instead of:</a:t>
            </a:r>
            <a:endParaRPr lang="nl-BE" sz="2400" dirty="0"/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res1</a:t>
            </a:r>
            <a:r>
              <a:rPr lang="en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v.begin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(), 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v.end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(), </a:t>
            </a:r>
            <a:r>
              <a:rPr lang="nl-BE" sz="1600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point</a:t>
            </a:r>
            <a:r>
              <a:rPr lang="nl-BE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{ 3, 4 }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};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::ranges::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fill</a:t>
            </a:r>
            <a:r>
              <a:rPr lang="nl-BE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v, </a:t>
            </a:r>
            <a:r>
              <a:rPr lang="nl-BE" sz="1600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point</a:t>
            </a:r>
            <a:r>
              <a:rPr lang="nl-BE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{ 3, 4 }</a:t>
            </a:r>
            <a:r>
              <a:rPr lang="nl-BE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BE" sz="2400" dirty="0"/>
              <a:t>You can now write:</a:t>
            </a:r>
            <a:endParaRPr lang="nl-BE" sz="2400" dirty="0"/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res2</a:t>
            </a:r>
            <a:r>
              <a:rPr lang="en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v.begin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(), </a:t>
            </a:r>
            <a:r>
              <a:rPr lang="nl-BE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v.end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(), </a:t>
            </a:r>
            <a:r>
              <a:rPr lang="nl-BE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{ 3, 4 }</a:t>
            </a:r>
            <a:r>
              <a:rPr lang="nl-BE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};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std::ranges::fill(v,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{ 3, 4 }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nl-BE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37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25C3B-9B3C-B628-CEAF-DC0530B0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45C6-80C6-C78F-57B0-37822FE81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std::ranges::</a:t>
            </a:r>
            <a:r>
              <a:rPr dirty="0" err="1"/>
              <a:t>cache_latest_view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3DE9F-1599-B39E-EADC-74E13CB1812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View adapter caching the result of the last dereference of the underlying iterator</a:t>
            </a:r>
          </a:p>
          <a:p>
            <a:r>
              <a:rPr lang="en-BE" dirty="0"/>
              <a:t>Example: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square = [](</a:t>
            </a:r>
            <a:r>
              <a:rPr lang="nl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::print(</a:t>
            </a:r>
            <a:r>
              <a:rPr lang="nl-BE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nl-BE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transform</a:t>
            </a:r>
            <a:r>
              <a:rPr lang="nl-BE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{} "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nl-BE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is_even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[](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::print(</a:t>
            </a:r>
            <a:r>
              <a:rPr lang="nl-BE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"filter: {} "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% 2 == 0;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 = { 1, 2, 3, 4, 5 };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even_squares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v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|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::views::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transform</a:t>
            </a:r>
            <a:r>
              <a:rPr lang="nl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square</a:t>
            </a:r>
            <a:r>
              <a:rPr lang="nl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nl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|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::views::filter</a:t>
            </a:r>
            <a:r>
              <a:rPr lang="nl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is_even</a:t>
            </a:r>
            <a:r>
              <a:rPr lang="nl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even_squares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 std::print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"Got: {}"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}</a:t>
            </a:r>
            <a:endParaRPr lang="en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endParaRPr lang="en-BE" sz="1400" dirty="0"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400" dirty="0" err="1">
                <a:latin typeface="Consolas" panose="020B0609020204030204" pitchFamily="49" charset="0"/>
              </a:rPr>
              <a:t>transform</a:t>
            </a:r>
            <a:r>
              <a:rPr lang="nl-BE" sz="1400" dirty="0">
                <a:latin typeface="Consolas" panose="020B0609020204030204" pitchFamily="49" charset="0"/>
              </a:rPr>
              <a:t>: 1 filter: 1 </a:t>
            </a:r>
            <a:r>
              <a:rPr lang="nl-BE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transform</a:t>
            </a:r>
            <a:r>
              <a:rPr lang="nl-BE" sz="1400" dirty="0">
                <a:solidFill>
                  <a:srgbClr val="FF0000"/>
                </a:solidFill>
                <a:latin typeface="Consolas" panose="020B0609020204030204" pitchFamily="49" charset="0"/>
              </a:rPr>
              <a:t>: 2 </a:t>
            </a:r>
            <a:r>
              <a:rPr lang="nl-BE" sz="1400" dirty="0">
                <a:latin typeface="Consolas" panose="020B0609020204030204" pitchFamily="49" charset="0"/>
              </a:rPr>
              <a:t>filter: 4 </a:t>
            </a:r>
            <a:r>
              <a:rPr lang="nl-BE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transform</a:t>
            </a:r>
            <a:r>
              <a:rPr lang="nl-BE" sz="1400" dirty="0">
                <a:solidFill>
                  <a:srgbClr val="FF0000"/>
                </a:solidFill>
                <a:latin typeface="Consolas" panose="020B0609020204030204" pitchFamily="49" charset="0"/>
              </a:rPr>
              <a:t>: 2 </a:t>
            </a:r>
            <a:r>
              <a:rPr lang="nl-BE" sz="1400" dirty="0">
                <a:latin typeface="Consolas" panose="020B0609020204030204" pitchFamily="49" charset="0"/>
              </a:rPr>
              <a:t>Got: 4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400" dirty="0" err="1">
                <a:latin typeface="Consolas" panose="020B0609020204030204" pitchFamily="49" charset="0"/>
              </a:rPr>
              <a:t>transform</a:t>
            </a:r>
            <a:r>
              <a:rPr lang="nl-BE" sz="1400" dirty="0">
                <a:latin typeface="Consolas" panose="020B0609020204030204" pitchFamily="49" charset="0"/>
              </a:rPr>
              <a:t>: 3 filter: 9 </a:t>
            </a:r>
            <a:r>
              <a:rPr lang="nl-BE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transform</a:t>
            </a:r>
            <a:r>
              <a:rPr lang="nl-BE" sz="1400" dirty="0">
                <a:solidFill>
                  <a:srgbClr val="FF0000"/>
                </a:solidFill>
                <a:latin typeface="Consolas" panose="020B0609020204030204" pitchFamily="49" charset="0"/>
              </a:rPr>
              <a:t>: 4 </a:t>
            </a:r>
            <a:r>
              <a:rPr lang="nl-BE" sz="1400" dirty="0">
                <a:latin typeface="Consolas" panose="020B0609020204030204" pitchFamily="49" charset="0"/>
              </a:rPr>
              <a:t>filter: 16 </a:t>
            </a:r>
            <a:r>
              <a:rPr lang="nl-BE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transform</a:t>
            </a:r>
            <a:r>
              <a:rPr lang="nl-BE" sz="1400" dirty="0">
                <a:solidFill>
                  <a:srgbClr val="FF0000"/>
                </a:solidFill>
                <a:latin typeface="Consolas" panose="020B0609020204030204" pitchFamily="49" charset="0"/>
              </a:rPr>
              <a:t>: 4 </a:t>
            </a:r>
            <a:r>
              <a:rPr lang="nl-BE" sz="1400" dirty="0">
                <a:latin typeface="Consolas" panose="020B0609020204030204" pitchFamily="49" charset="0"/>
              </a:rPr>
              <a:t>Got: 16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400" dirty="0" err="1">
                <a:latin typeface="Consolas" panose="020B0609020204030204" pitchFamily="49" charset="0"/>
              </a:rPr>
              <a:t>transform</a:t>
            </a:r>
            <a:r>
              <a:rPr lang="nl-BE" sz="1400" dirty="0">
                <a:latin typeface="Consolas" panose="020B0609020204030204" pitchFamily="49" charset="0"/>
              </a:rPr>
              <a:t>: 5 filter: 25</a:t>
            </a:r>
            <a:endParaRPr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09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C2E95-54B3-710B-A2F2-19970936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B526-D960-43E7-888F-18B4DD0A1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std::ranges::</a:t>
            </a:r>
            <a:r>
              <a:rPr dirty="0" err="1"/>
              <a:t>cache_latest_view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265CD-C38E-5507-D2A4-FCD7B884113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square = [](</a:t>
            </a:r>
            <a:r>
              <a:rPr lang="nl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::print(</a:t>
            </a:r>
            <a:r>
              <a:rPr lang="nl-BE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nl-BE" sz="14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transform</a:t>
            </a:r>
            <a:r>
              <a:rPr lang="nl-BE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{} "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* </a:t>
            </a:r>
            <a:r>
              <a:rPr lang="nl-BE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is_even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[](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::print(</a:t>
            </a:r>
            <a:r>
              <a:rPr lang="nl-BE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"filter: {} "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% 2 == 0;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vector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 = { 1, 2, 3, 4, 5 };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even_squares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v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|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::views::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transform</a:t>
            </a:r>
            <a:r>
              <a:rPr lang="nl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square</a:t>
            </a:r>
            <a:r>
              <a:rPr lang="nl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BE" sz="1400" dirty="0">
              <a:solidFill>
                <a:srgbClr val="00808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nl-BE" sz="1400" dirty="0">
                <a:solidFill>
                  <a:srgbClr val="0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|</a:t>
            </a:r>
            <a:r>
              <a:rPr lang="nl-BE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nl-BE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::views::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cache_latest</a:t>
            </a:r>
            <a:endParaRPr lang="nl-BE" sz="14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nl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|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::views::filter</a:t>
            </a:r>
            <a:r>
              <a:rPr lang="nl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is_even</a:t>
            </a:r>
            <a:r>
              <a:rPr lang="nl-BE" sz="14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nl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even_squares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 std::print</a:t>
            </a:r>
            <a:r>
              <a:rPr lang="en-BE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"Got: {}"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}</a:t>
            </a:r>
            <a:endParaRPr lang="en-BE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endParaRPr lang="en-BE" sz="1400" dirty="0">
              <a:latin typeface="Consolas" panose="020B0609020204030204" pitchFamily="49" charset="0"/>
            </a:endParaRP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400" dirty="0" err="1">
                <a:latin typeface="Consolas" panose="020B0609020204030204" pitchFamily="49" charset="0"/>
              </a:rPr>
              <a:t>transform</a:t>
            </a:r>
            <a:r>
              <a:rPr lang="nl-BE" sz="1400" dirty="0">
                <a:latin typeface="Consolas" panose="020B0609020204030204" pitchFamily="49" charset="0"/>
              </a:rPr>
              <a:t>: 1 filter: 1 </a:t>
            </a:r>
            <a:r>
              <a:rPr lang="nl-BE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transform</a:t>
            </a:r>
            <a:r>
              <a:rPr lang="nl-BE" sz="1400" dirty="0">
                <a:solidFill>
                  <a:srgbClr val="00B050"/>
                </a:solidFill>
                <a:latin typeface="Consolas" panose="020B0609020204030204" pitchFamily="49" charset="0"/>
              </a:rPr>
              <a:t>: 2 </a:t>
            </a:r>
            <a:r>
              <a:rPr lang="nl-BE" sz="1400" dirty="0">
                <a:latin typeface="Consolas" panose="020B0609020204030204" pitchFamily="49" charset="0"/>
              </a:rPr>
              <a:t>filter: 4 Got: 4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400" dirty="0" err="1">
                <a:latin typeface="Consolas" panose="020B0609020204030204" pitchFamily="49" charset="0"/>
              </a:rPr>
              <a:t>transform</a:t>
            </a:r>
            <a:r>
              <a:rPr lang="nl-BE" sz="1400" dirty="0">
                <a:latin typeface="Consolas" panose="020B0609020204030204" pitchFamily="49" charset="0"/>
              </a:rPr>
              <a:t>: 3 filter: 9 </a:t>
            </a:r>
            <a:r>
              <a:rPr lang="nl-BE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transform</a:t>
            </a:r>
            <a:r>
              <a:rPr lang="nl-BE" sz="1400" dirty="0">
                <a:solidFill>
                  <a:srgbClr val="00B050"/>
                </a:solidFill>
                <a:latin typeface="Consolas" panose="020B0609020204030204" pitchFamily="49" charset="0"/>
              </a:rPr>
              <a:t>: 4 </a:t>
            </a:r>
            <a:r>
              <a:rPr lang="nl-BE" sz="1400" dirty="0">
                <a:latin typeface="Consolas" panose="020B0609020204030204" pitchFamily="49" charset="0"/>
              </a:rPr>
              <a:t>filter: 16 Got: 16</a:t>
            </a:r>
          </a:p>
          <a:p>
            <a:pPr marL="32004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nl-BE" sz="1400" dirty="0" err="1">
                <a:latin typeface="Consolas" panose="020B0609020204030204" pitchFamily="49" charset="0"/>
              </a:rPr>
              <a:t>transform</a:t>
            </a:r>
            <a:r>
              <a:rPr lang="nl-BE" sz="1400" dirty="0">
                <a:latin typeface="Consolas" panose="020B0609020204030204" pitchFamily="49" charset="0"/>
              </a:rPr>
              <a:t>: 5 filter: 25</a:t>
            </a:r>
            <a:endParaRPr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76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std::ranges::</a:t>
            </a:r>
            <a:r>
              <a:rPr dirty="0" err="1"/>
              <a:t>generate_random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</a:t>
            </a:r>
            <a:r>
              <a:rPr dirty="0"/>
              <a:t>algorithm to generate random numbers</a:t>
            </a:r>
          </a:p>
          <a:p>
            <a:r>
              <a:rPr lang="en-BE" dirty="0"/>
              <a:t>Example: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array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42&gt;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random_ints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mt19937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gen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random_device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{}</a:t>
            </a:r>
            <a:r>
              <a:rPr lang="nl-BE" sz="18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uniform_int_distribution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dist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0, 100 };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::ranges::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generate_random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random_ints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gen, dist);</a:t>
            </a:r>
            <a:endParaRPr sz="1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62FB7-E931-F2C1-150E-386ED433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6219-A5BA-5FBA-78A5-9101B3164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std::</a:t>
            </a:r>
            <a:r>
              <a:rPr dirty="0" err="1"/>
              <a:t>philox_engine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84753-76FD-BE86-40C7-E8F6CC7473A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C++26 adds counter-based </a:t>
            </a:r>
            <a:r>
              <a:rPr dirty="0" err="1"/>
              <a:t>Philox</a:t>
            </a:r>
            <a:r>
              <a:rPr dirty="0"/>
              <a:t> engines to </a:t>
            </a:r>
            <a:r>
              <a:rPr b="1" dirty="0"/>
              <a:t>&lt;random&gt;</a:t>
            </a:r>
          </a:p>
          <a:p>
            <a:pPr lvl="1"/>
            <a:r>
              <a:rPr lang="nl-BE" b="1" dirty="0" err="1"/>
              <a:t>philox_engine</a:t>
            </a:r>
            <a:endParaRPr lang="en-BE" b="1" dirty="0"/>
          </a:p>
          <a:p>
            <a:pPr lvl="1"/>
            <a:r>
              <a:rPr lang="nl-BE" b="1" dirty="0"/>
              <a:t>philox4x32</a:t>
            </a:r>
            <a:r>
              <a:rPr lang="en-BE" dirty="0"/>
              <a:t> and </a:t>
            </a:r>
            <a:r>
              <a:rPr lang="nl-BE" b="1" dirty="0"/>
              <a:t>philox4x64</a:t>
            </a:r>
            <a:r>
              <a:rPr lang="en-BE" dirty="0"/>
              <a:t> predefined engines</a:t>
            </a:r>
            <a:endParaRPr dirty="0"/>
          </a:p>
          <a:p>
            <a:r>
              <a:rPr lang="en-BE" dirty="0"/>
              <a:t>Benefits:</a:t>
            </a:r>
          </a:p>
          <a:p>
            <a:pPr lvl="1"/>
            <a:r>
              <a:rPr lang="en-BE" dirty="0"/>
              <a:t>Small state (e.g. </a:t>
            </a:r>
            <a:r>
              <a:rPr lang="en-BE" b="1" dirty="0"/>
              <a:t>Philox4x32</a:t>
            </a:r>
            <a:r>
              <a:rPr lang="en-BE" dirty="0"/>
              <a:t> has ten 32-bit elements)</a:t>
            </a:r>
          </a:p>
          <a:p>
            <a:pPr lvl="1"/>
            <a:r>
              <a:rPr lang="en-BE" dirty="0"/>
              <a:t>Long period (e.g. </a:t>
            </a:r>
            <a:r>
              <a:rPr lang="en-BE" b="1" dirty="0"/>
              <a:t>Philox4x32</a:t>
            </a:r>
            <a:r>
              <a:rPr lang="en-BE" dirty="0"/>
              <a:t> has period 2</a:t>
            </a:r>
            <a:r>
              <a:rPr lang="en-BE" baseline="30000" dirty="0"/>
              <a:t>130</a:t>
            </a:r>
            <a:r>
              <a:rPr lang="en-BE" dirty="0"/>
              <a:t>)</a:t>
            </a:r>
          </a:p>
          <a:p>
            <a:pPr lvl="1"/>
            <a:r>
              <a:rPr lang="en-BE" dirty="0"/>
              <a:t>Easy to vectorize and parallelize</a:t>
            </a:r>
          </a:p>
          <a:p>
            <a:pPr lvl="1"/>
            <a:r>
              <a:rPr dirty="0"/>
              <a:t>Well suited for CPU/GPU/FPGA/</a:t>
            </a:r>
            <a:r>
              <a:rPr lang="nl-BE" dirty="0"/>
              <a:t>…</a:t>
            </a:r>
            <a:endParaRPr lang="en-BE" dirty="0"/>
          </a:p>
          <a:p>
            <a:pPr lvl="1"/>
            <a:r>
              <a:rPr lang="en-BE" dirty="0"/>
              <a:t>Already broadly used in Monte-Carlo simulations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525018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6CFCC-C344-8937-926C-47E7D1C9E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B8DA8-2B34-4009-1CFA-20B9AD0D0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std::</a:t>
            </a:r>
            <a:r>
              <a:rPr dirty="0" err="1"/>
              <a:t>philox_engine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80C69-E953-E9AB-7FC3-BB0CF6D3D9A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Example: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::philox4x32 gen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random_device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{}</a:t>
            </a:r>
            <a:r>
              <a:rPr lang="nl-BE" sz="18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normal_distribution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println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"{}"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nd</a:t>
            </a:r>
            <a:r>
              <a:rPr lang="nl-BE" sz="18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gen</a:t>
            </a:r>
            <a:r>
              <a:rPr lang="nl-BE" sz="18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3464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Filesystem Path Formatter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C++26 supports formatting of </a:t>
            </a:r>
            <a:r>
              <a:rPr b="1" dirty="0"/>
              <a:t>std::filesystem::path</a:t>
            </a:r>
          </a:p>
          <a:p>
            <a:r>
              <a:rPr lang="en-BE" dirty="0"/>
              <a:t>Example</a:t>
            </a:r>
            <a:r>
              <a:rPr lang="nl-BE" dirty="0"/>
              <a:t>:</a:t>
            </a:r>
            <a:endParaRPr lang="en-BE" dirty="0"/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::filesystem::</a:t>
            </a:r>
            <a:r>
              <a:rPr lang="nl-BE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path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"/</a:t>
            </a:r>
            <a:r>
              <a:rPr lang="nl-BE" sz="18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usr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/bin"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::format(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"{}"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p);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nl-BE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usr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/bin</a:t>
            </a:r>
            <a:endParaRPr lang="en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BE" dirty="0"/>
              <a:t>Example</a:t>
            </a:r>
            <a:r>
              <a:rPr lang="en-US" dirty="0"/>
              <a:t> </a:t>
            </a:r>
            <a:r>
              <a:rPr lang="en-BE" dirty="0"/>
              <a:t>o</a:t>
            </a:r>
            <a:r>
              <a:rPr lang="en-US" dirty="0"/>
              <a:t>n Windows with UTF-8 as a literal encoding</a:t>
            </a:r>
            <a:r>
              <a:rPr lang="en-BE" dirty="0"/>
              <a:t>:</a:t>
            </a:r>
            <a:endParaRPr lang="en-US" dirty="0"/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auto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::filesystem::</a:t>
            </a:r>
            <a:r>
              <a:rPr lang="nl-BE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path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L"</a:t>
            </a:r>
            <a:r>
              <a:rPr lang="az-Cyrl-AZ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Шчучыншчына"</a:t>
            </a:r>
            <a:r>
              <a:rPr lang="az-Cyrl-AZ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  <a:r>
              <a:rPr lang="az-Cyrl-AZ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::print(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"{}"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p); </a:t>
            </a: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az-Cyrl-AZ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Шчучыншчына</a:t>
            </a:r>
            <a:endParaRPr lang="en-BE" sz="1800" dirty="0">
              <a:latin typeface="Consolas" panose="020B0609020204030204" pitchFamily="49" charset="0"/>
            </a:endParaRP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nl-BE" sz="2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std::</a:t>
            </a:r>
            <a:r>
              <a:rPr dirty="0" err="1"/>
              <a:t>println</a:t>
            </a:r>
            <a:r>
              <a:rPr dirty="0"/>
              <a:t>() Blank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Easily print </a:t>
            </a:r>
            <a:r>
              <a:rPr dirty="0" err="1"/>
              <a:t>blan</a:t>
            </a:r>
            <a:r>
              <a:rPr lang="nl-BE" dirty="0"/>
              <a:t>k </a:t>
            </a:r>
            <a:r>
              <a:rPr lang="nl-BE" dirty="0" err="1"/>
              <a:t>lines</a:t>
            </a:r>
            <a:endParaRPr lang="en-BE" dirty="0"/>
          </a:p>
          <a:p>
            <a:r>
              <a:rPr lang="en-BE" dirty="0"/>
              <a:t>Instead of:</a:t>
            </a:r>
          </a:p>
          <a:p>
            <a:pPr marL="320040" lvl="1" indent="0">
              <a:buNone/>
            </a:pP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println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""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BE" dirty="0"/>
              <a:t>Write:</a:t>
            </a:r>
          </a:p>
          <a:p>
            <a:pPr marL="32004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std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::</a:t>
            </a: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println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  <a:endParaRPr kumimoji="0" lang="en-B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std::</a:t>
            </a:r>
            <a:r>
              <a:rPr dirty="0" err="1"/>
              <a:t>simd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dirty="0"/>
              <a:t>Defined in </a:t>
            </a:r>
            <a:r>
              <a:rPr b="1" dirty="0"/>
              <a:t>&lt;</a:t>
            </a:r>
            <a:r>
              <a:rPr b="1" dirty="0" err="1"/>
              <a:t>simd</a:t>
            </a:r>
            <a:r>
              <a:rPr b="1" dirty="0"/>
              <a:t>&gt;</a:t>
            </a:r>
          </a:p>
          <a:p>
            <a:r>
              <a:rPr dirty="0"/>
              <a:t>Defines data-parallel types and operations on those types in a portable manner</a:t>
            </a:r>
          </a:p>
          <a:p>
            <a:r>
              <a:rPr dirty="0"/>
              <a:t>Type </a:t>
            </a:r>
            <a:r>
              <a:rPr b="1" dirty="0"/>
              <a:t>std::</a:t>
            </a:r>
            <a:r>
              <a:rPr b="1" dirty="0" err="1"/>
              <a:t>datapar</a:t>
            </a:r>
            <a:r>
              <a:rPr b="1" dirty="0"/>
              <a:t>::</a:t>
            </a:r>
            <a:r>
              <a:rPr b="1" dirty="0" err="1"/>
              <a:t>simd</a:t>
            </a:r>
            <a:r>
              <a:rPr b="1" dirty="0"/>
              <a:t> </a:t>
            </a:r>
            <a:r>
              <a:rPr dirty="0"/>
              <a:t>and </a:t>
            </a:r>
            <a:r>
              <a:rPr b="1" dirty="0" err="1"/>
              <a:t>datapar</a:t>
            </a:r>
            <a:r>
              <a:rPr b="1" dirty="0"/>
              <a:t>::</a:t>
            </a:r>
            <a:r>
              <a:rPr b="1" dirty="0" err="1"/>
              <a:t>simd_mask</a:t>
            </a:r>
            <a:endParaRPr b="1" dirty="0"/>
          </a:p>
          <a:p>
            <a:r>
              <a:rPr lang="en-BE" dirty="0"/>
              <a:t>Operations such as </a:t>
            </a:r>
            <a:r>
              <a:rPr lang="en-BE" b="1" dirty="0" err="1"/>
              <a:t>datapar</a:t>
            </a:r>
            <a:r>
              <a:rPr lang="en-BE" b="1" dirty="0"/>
              <a:t>::min</a:t>
            </a:r>
            <a:r>
              <a:rPr lang="en-BE" dirty="0"/>
              <a:t>, </a:t>
            </a:r>
            <a:r>
              <a:rPr lang="en-BE" b="1" dirty="0"/>
              <a:t>clamp</a:t>
            </a:r>
            <a:r>
              <a:rPr lang="en-BE" dirty="0"/>
              <a:t>, </a:t>
            </a:r>
            <a:r>
              <a:rPr lang="en-BE" b="1" dirty="0"/>
              <a:t>reduce</a:t>
            </a:r>
            <a:r>
              <a:rPr lang="en-BE" dirty="0"/>
              <a:t>, </a:t>
            </a:r>
            <a:r>
              <a:rPr lang="en-BE" b="1" dirty="0" err="1"/>
              <a:t>all_of</a:t>
            </a:r>
            <a:r>
              <a:rPr lang="en-BE" dirty="0"/>
              <a:t>, ...</a:t>
            </a:r>
          </a:p>
          <a:p>
            <a:r>
              <a:rPr lang="en-BE" dirty="0"/>
              <a:t>Overloaded math function such as </a:t>
            </a:r>
            <a:r>
              <a:rPr lang="en-BE" b="1" dirty="0"/>
              <a:t>std::pow</a:t>
            </a:r>
            <a:r>
              <a:rPr lang="en-BE" dirty="0"/>
              <a:t>, </a:t>
            </a:r>
            <a:r>
              <a:rPr lang="en-BE" b="1" dirty="0"/>
              <a:t>cos</a:t>
            </a:r>
            <a:r>
              <a:rPr lang="en-BE" dirty="0"/>
              <a:t>, </a:t>
            </a:r>
            <a:r>
              <a:rPr lang="en-BE" b="1" dirty="0"/>
              <a:t>sin</a:t>
            </a:r>
            <a:r>
              <a:rPr lang="en-BE" dirty="0"/>
              <a:t>, ...</a:t>
            </a:r>
          </a:p>
          <a:p>
            <a:r>
              <a:rPr lang="en-BE" dirty="0"/>
              <a:t>Take advantage of SIMD instructions of CPUs</a:t>
            </a:r>
            <a:endParaRPr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79A43-EBD0-D587-6AFB-393D09240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22482-526E-51DD-7B13-52DEF1167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std::simd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33D70-3FEC-A399-D21F-8AF2CEB6FBA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dirty="0"/>
              <a:t>Example: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constexpr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datapar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simd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&lt;double, 16&gt; x([](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;});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println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"x</a:t>
            </a:r>
            <a:r>
              <a:rPr lang="en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x);</a:t>
            </a:r>
            <a:endParaRPr lang="en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nl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x: 0 1 2 3 4 5 6 7 8 9 10 11 12 13 14 15 </a:t>
            </a: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endParaRPr lang="nl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BE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verloaded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math functions defined in &lt;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simd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println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"cos²(x) + sin²(x)</a:t>
            </a:r>
            <a:r>
              <a:rPr lang="en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nl-BE" sz="1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endParaRPr lang="en-BE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320040" lvl="1" indent="0">
              <a:spcBef>
                <a:spcPts val="0"/>
              </a:spcBef>
              <a:buNone/>
            </a:pPr>
            <a:r>
              <a:rPr lang="en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pow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cos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(x), 2) + 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pow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nl-BE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sin</a:t>
            </a:r>
            <a:r>
              <a:rPr lang="nl-BE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(x), 2));</a:t>
            </a:r>
          </a:p>
          <a:p>
            <a:pPr marL="320040" lvl="1" indent="0">
              <a:spcBef>
                <a:spcPts val="0"/>
              </a:spcBef>
              <a:buNone/>
            </a:pPr>
            <a:r>
              <a:rPr lang="es-ES" sz="18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cos²(x) + sin²(x): 1 1 1 1 1 1 1 1 1 1 1 1 1 1 1 1</a:t>
            </a:r>
            <a:endParaRPr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07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5A1AF-2DFD-031E-E4E0-5DBE21E19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8BCE17-CD23-8711-9832-32F65E20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C7E0D-B921-3F82-2A0A-3CF5FA37E9F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numCol="2"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/>
              <a:t>C++2</a:t>
            </a:r>
            <a:r>
              <a:rPr lang="en-BE" sz="1800" b="1" dirty="0"/>
              <a:t>6</a:t>
            </a:r>
            <a:r>
              <a:rPr lang="en-US" sz="1800" b="1" dirty="0"/>
              <a:t> Core Language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Static Reflection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Contracts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Unnamed Placeholder Variables (_)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User-Generated </a:t>
            </a:r>
            <a:r>
              <a:rPr lang="en-US" sz="1600" dirty="0" err="1">
                <a:solidFill>
                  <a:srgbClr val="E6E6E6"/>
                </a:solidFill>
              </a:rPr>
              <a:t>static_assert</a:t>
            </a:r>
            <a:r>
              <a:rPr lang="en-US" sz="1600" dirty="0">
                <a:solidFill>
                  <a:srgbClr val="E6E6E6"/>
                </a:solidFill>
              </a:rPr>
              <a:t>() Messages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= delete("reason") Syntax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Attributes on Structured Bindings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Structured Bindings in Conditions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constexpr Structured Bindings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Structured Bindings Introducing Packs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Pack Indexing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#embed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Variadic Friend Declarations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constexpr Casts from void*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constexpr Placement new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constexpr Exceptions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Uninitialized Read Formalization</a:t>
            </a:r>
            <a:endParaRPr lang="en-BE" sz="1600" dirty="0">
              <a:solidFill>
                <a:srgbClr val="E6E6E6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/>
              <a:t>C++2</a:t>
            </a:r>
            <a:r>
              <a:rPr lang="en-BE" sz="1800" b="1" dirty="0"/>
              <a:t>6</a:t>
            </a:r>
            <a:r>
              <a:rPr lang="en-US" sz="1800" b="1" dirty="0"/>
              <a:t> Standard Library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Execution Control Library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std::</a:t>
            </a:r>
            <a:r>
              <a:rPr lang="en-US" sz="1600" dirty="0" err="1">
                <a:solidFill>
                  <a:srgbClr val="E6E6E6"/>
                </a:solidFill>
              </a:rPr>
              <a:t>inplace_vector</a:t>
            </a:r>
            <a:endParaRPr lang="en-US" sz="1600" dirty="0">
              <a:solidFill>
                <a:srgbClr val="E6E6E6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std::hive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std::</a:t>
            </a:r>
            <a:r>
              <a:rPr lang="en-US" sz="1600" dirty="0" err="1">
                <a:solidFill>
                  <a:srgbClr val="E6E6E6"/>
                </a:solidFill>
              </a:rPr>
              <a:t>submdspan</a:t>
            </a:r>
            <a:r>
              <a:rPr lang="en-US" sz="1600" dirty="0">
                <a:solidFill>
                  <a:srgbClr val="E6E6E6"/>
                </a:solidFill>
              </a:rPr>
              <a:t>()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Saturation Arithmetic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 err="1">
                <a:solidFill>
                  <a:srgbClr val="E6E6E6"/>
                </a:solidFill>
              </a:rPr>
              <a:t>string_view</a:t>
            </a:r>
            <a:r>
              <a:rPr lang="en-US" sz="1600" dirty="0">
                <a:solidFill>
                  <a:srgbClr val="E6E6E6"/>
                </a:solidFill>
              </a:rPr>
              <a:t> </a:t>
            </a:r>
            <a:r>
              <a:rPr lang="en-US" sz="1600" dirty="0" err="1">
                <a:solidFill>
                  <a:srgbClr val="E6E6E6"/>
                </a:solidFill>
              </a:rPr>
              <a:t>init</a:t>
            </a:r>
            <a:r>
              <a:rPr lang="en-US" sz="1600" dirty="0">
                <a:solidFill>
                  <a:srgbClr val="E6E6E6"/>
                </a:solidFill>
              </a:rPr>
              <a:t> for </a:t>
            </a:r>
            <a:r>
              <a:rPr lang="en-US" sz="1600" dirty="0" err="1">
                <a:solidFill>
                  <a:srgbClr val="E6E6E6"/>
                </a:solidFill>
              </a:rPr>
              <a:t>stringstreams</a:t>
            </a:r>
            <a:r>
              <a:rPr lang="en-US" sz="1600" dirty="0">
                <a:solidFill>
                  <a:srgbClr val="E6E6E6"/>
                </a:solidFill>
              </a:rPr>
              <a:t>/</a:t>
            </a:r>
            <a:r>
              <a:rPr lang="en-US" sz="1600" dirty="0" err="1">
                <a:solidFill>
                  <a:srgbClr val="E6E6E6"/>
                </a:solidFill>
              </a:rPr>
              <a:t>bitset</a:t>
            </a:r>
            <a:endParaRPr lang="en-US" sz="1600" dirty="0">
              <a:solidFill>
                <a:srgbClr val="E6E6E6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std::</a:t>
            </a:r>
            <a:r>
              <a:rPr lang="en-US" sz="1600" dirty="0" err="1">
                <a:solidFill>
                  <a:srgbClr val="E6E6E6"/>
                </a:solidFill>
              </a:rPr>
              <a:t>text_encoding</a:t>
            </a:r>
            <a:endParaRPr lang="en-US" sz="1600" dirty="0">
              <a:solidFill>
                <a:srgbClr val="E6E6E6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Native File Handles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More constexpr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New SI Prefixes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&lt;debugging&gt;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&lt;</a:t>
            </a:r>
            <a:r>
              <a:rPr lang="en-US" sz="1600" dirty="0" err="1">
                <a:solidFill>
                  <a:srgbClr val="E6E6E6"/>
                </a:solidFill>
              </a:rPr>
              <a:t>linalg</a:t>
            </a:r>
            <a:r>
              <a:rPr lang="en-US" sz="1600" dirty="0">
                <a:solidFill>
                  <a:srgbClr val="E6E6E6"/>
                </a:solidFill>
              </a:rPr>
              <a:t>&gt;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Tuple Protocol for std::complex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views::</a:t>
            </a:r>
            <a:r>
              <a:rPr lang="en-US" sz="1600" dirty="0" err="1">
                <a:solidFill>
                  <a:srgbClr val="E6E6E6"/>
                </a:solidFill>
              </a:rPr>
              <a:t>concat</a:t>
            </a:r>
            <a:endParaRPr lang="en-US" sz="1600" dirty="0">
              <a:solidFill>
                <a:srgbClr val="E6E6E6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String Concatenation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Enabling List Initialization for Algorithms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std::ranges::</a:t>
            </a:r>
            <a:r>
              <a:rPr lang="en-US" sz="1600" dirty="0" err="1">
                <a:solidFill>
                  <a:srgbClr val="E6E6E6"/>
                </a:solidFill>
              </a:rPr>
              <a:t>generate_random</a:t>
            </a:r>
            <a:endParaRPr lang="en-US" sz="1600" dirty="0">
              <a:solidFill>
                <a:srgbClr val="E6E6E6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Filesystem Path Formatter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std::</a:t>
            </a:r>
            <a:r>
              <a:rPr lang="en-US" sz="1600" dirty="0" err="1">
                <a:solidFill>
                  <a:srgbClr val="E6E6E6"/>
                </a:solidFill>
              </a:rPr>
              <a:t>println</a:t>
            </a:r>
            <a:r>
              <a:rPr lang="en-US" sz="1600" dirty="0">
                <a:solidFill>
                  <a:srgbClr val="E6E6E6"/>
                </a:solidFill>
              </a:rPr>
              <a:t>() Blank Lines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std::</a:t>
            </a:r>
            <a:r>
              <a:rPr lang="en-US" sz="1600" dirty="0" err="1">
                <a:solidFill>
                  <a:srgbClr val="E6E6E6"/>
                </a:solidFill>
              </a:rPr>
              <a:t>philox_engine</a:t>
            </a:r>
            <a:endParaRPr lang="en-US" sz="1600" dirty="0">
              <a:solidFill>
                <a:srgbClr val="E6E6E6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std::ranges::</a:t>
            </a:r>
            <a:r>
              <a:rPr lang="en-US" sz="1600" dirty="0" err="1">
                <a:solidFill>
                  <a:srgbClr val="E6E6E6"/>
                </a:solidFill>
              </a:rPr>
              <a:t>cache_latest_view</a:t>
            </a:r>
            <a:endParaRPr lang="en-US" sz="1600" dirty="0">
              <a:solidFill>
                <a:srgbClr val="E6E6E6"/>
              </a:solidFill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rgbClr val="E6E6E6"/>
                </a:solidFill>
              </a:rPr>
              <a:t>std::</a:t>
            </a:r>
            <a:r>
              <a:rPr lang="en-US" sz="1600" dirty="0" err="1">
                <a:solidFill>
                  <a:srgbClr val="E6E6E6"/>
                </a:solidFill>
              </a:rPr>
              <a:t>simd</a:t>
            </a:r>
            <a:endParaRPr lang="en-US" sz="1600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756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EEF30-281D-5E48-2AEE-993EDD01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496A95-AF3F-66C8-E14F-54418E01B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Even More Features/Changes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2D20D-33C6-BC9E-6CD8-C962A146E9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numCol="2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/>
              <a:t>C++2</a:t>
            </a:r>
            <a:r>
              <a:rPr lang="en-BE" sz="1800" b="1" dirty="0"/>
              <a:t>6</a:t>
            </a:r>
            <a:r>
              <a:rPr lang="en-US" sz="1800" b="1" dirty="0"/>
              <a:t> Core Language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Unevaluated strings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Adding @, $, and ` to the basic character set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Removing deprecated arithmetic conversion on enumerations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Disallow binding a returned reference to a temporary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Ordering of constraints involving fold expressions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Deleting a pointer to an incomplete type should be ill-formed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Oxford variadic comma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Removing deprecated array comparisons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Concept and variable-template template-parameters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Trivial </a:t>
            </a:r>
            <a:r>
              <a:rPr lang="en-US" sz="1600" dirty="0" err="1"/>
              <a:t>relocatability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Trivial unions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Observable checkpoints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…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24838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2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6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E3DDF-B35C-CCE2-D7AB-341EB9948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8CB624-BE30-73E1-7900-4C64C9037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Even More Features/Changes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A5F5-361A-25AB-B6D8-166CD476B18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numCol="2"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/>
              <a:t>C++2</a:t>
            </a:r>
            <a:r>
              <a:rPr lang="en-BE" sz="1800" b="1" dirty="0"/>
              <a:t>6</a:t>
            </a:r>
            <a:r>
              <a:rPr lang="en-US" sz="1800" b="1" dirty="0"/>
              <a:t> Standard Library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Arithmetic overloads of std::</a:t>
            </a:r>
            <a:r>
              <a:rPr lang="en-US" sz="1600" dirty="0" err="1"/>
              <a:t>to_string</a:t>
            </a:r>
            <a:r>
              <a:rPr lang="en-US" sz="1600" dirty="0"/>
              <a:t> and std::</a:t>
            </a:r>
            <a:r>
              <a:rPr lang="en-US" sz="1600" dirty="0" err="1"/>
              <a:t>to_wstring</a:t>
            </a:r>
            <a:r>
              <a:rPr lang="en-US" sz="1600" dirty="0"/>
              <a:t> use std::format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Type checking format </a:t>
            </a:r>
            <a:r>
              <a:rPr lang="en-US" sz="1600" dirty="0" err="1"/>
              <a:t>args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Formatting pointers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Hashing support for std::chrono value classes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&lt;</a:t>
            </a:r>
            <a:r>
              <a:rPr lang="en-US" sz="1600" dirty="0" err="1"/>
              <a:t>rcu</a:t>
            </a:r>
            <a:r>
              <a:rPr lang="en-US" sz="1600" dirty="0"/>
              <a:t>&gt;: Read-Copy Update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&lt;</a:t>
            </a:r>
            <a:r>
              <a:rPr lang="en-US" sz="1600" dirty="0" err="1"/>
              <a:t>hazard_pointer</a:t>
            </a:r>
            <a:r>
              <a:rPr lang="en-US" sz="1600" dirty="0"/>
              <a:t>&gt;: Hazard pointers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ADL-proof std::projected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Member std::</a:t>
            </a:r>
            <a:r>
              <a:rPr lang="en-US" sz="1600" dirty="0" err="1"/>
              <a:t>basic_format_arg</a:t>
            </a:r>
            <a:r>
              <a:rPr lang="en-US" sz="1600" dirty="0"/>
              <a:t>::visit()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Member std::variant::visit()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is_within_lifetime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Extending associative containers with the remaining heterogeneous overloads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Enabling the use of std::</a:t>
            </a:r>
            <a:r>
              <a:rPr lang="en-US" sz="1600" dirty="0" err="1"/>
              <a:t>weak_ptr</a:t>
            </a:r>
            <a:r>
              <a:rPr lang="en-US" sz="1600" dirty="0"/>
              <a:t> as keys in unordered associative containers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function_ref</a:t>
            </a:r>
            <a:r>
              <a:rPr lang="en-US" sz="1600" dirty="0"/>
              <a:t>: type-erased callable reference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copyable_function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bind_front</a:t>
            </a:r>
            <a:r>
              <a:rPr lang="en-US" sz="1600" dirty="0"/>
              <a:t>, std::</a:t>
            </a:r>
            <a:r>
              <a:rPr lang="en-US" sz="1600" dirty="0" err="1"/>
              <a:t>bind_back</a:t>
            </a:r>
            <a:r>
              <a:rPr lang="en-US" sz="1600" dirty="0"/>
              <a:t>, and std::</a:t>
            </a:r>
            <a:r>
              <a:rPr lang="en-US" sz="1600" dirty="0" err="1"/>
              <a:t>not_fn</a:t>
            </a:r>
            <a:r>
              <a:rPr lang="en-US" sz="1600" dirty="0"/>
              <a:t> to NTTP </a:t>
            </a:r>
            <a:r>
              <a:rPr lang="en-US" sz="1600" dirty="0" err="1"/>
              <a:t>callables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Freestanding language: Optional ::operator new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Freestanding std::</a:t>
            </a:r>
            <a:r>
              <a:rPr lang="en-US" sz="1600" dirty="0" err="1"/>
              <a:t>char_traits</a:t>
            </a:r>
            <a:r>
              <a:rPr lang="en-US" sz="1600" dirty="0"/>
              <a:t>, std::</a:t>
            </a:r>
            <a:r>
              <a:rPr lang="en-US" sz="1600" dirty="0" err="1"/>
              <a:t>errc</a:t>
            </a:r>
            <a:r>
              <a:rPr lang="en-US" sz="1600" dirty="0"/>
              <a:t> and facilities in: &lt;</a:t>
            </a:r>
            <a:r>
              <a:rPr lang="en-US" sz="1600" dirty="0" err="1"/>
              <a:t>charconv</a:t>
            </a:r>
            <a:r>
              <a:rPr lang="en-US" sz="1600" dirty="0"/>
              <a:t>&gt;, &lt;</a:t>
            </a:r>
            <a:r>
              <a:rPr lang="en-US" sz="1600" dirty="0" err="1"/>
              <a:t>cstdlib</a:t>
            </a:r>
            <a:r>
              <a:rPr lang="en-US" sz="1600" dirty="0"/>
              <a:t>&gt;, &lt;</a:t>
            </a:r>
            <a:r>
              <a:rPr lang="en-US" sz="1600" dirty="0" err="1"/>
              <a:t>cstring</a:t>
            </a:r>
            <a:r>
              <a:rPr lang="en-US" sz="1600" dirty="0"/>
              <a:t>&gt;, &lt;</a:t>
            </a:r>
            <a:r>
              <a:rPr lang="en-US" sz="1600" dirty="0" err="1"/>
              <a:t>cwchar</a:t>
            </a:r>
            <a:r>
              <a:rPr lang="en-US" sz="1600" dirty="0"/>
              <a:t>&gt;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Making assert() macro user friendly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Runtime format strings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std::span over an initializer list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std::span::at()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A new specification for std::</a:t>
            </a:r>
            <a:r>
              <a:rPr lang="en-US" sz="1600" dirty="0" err="1"/>
              <a:t>generate_canonical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More freestanding changes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Comparisons for std::</a:t>
            </a:r>
            <a:r>
              <a:rPr lang="en-US" sz="1600" dirty="0" err="1"/>
              <a:t>reference_wrapper</a:t>
            </a:r>
            <a:r>
              <a:rPr lang="en-US" sz="1600" dirty="0"/>
              <a:t>, and constraints for comparisons of std::pair, std::tuple, std::optional, and std::variant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Padded </a:t>
            </a:r>
            <a:r>
              <a:rPr lang="en-US" sz="1600" dirty="0" err="1"/>
              <a:t>mdspan</a:t>
            </a:r>
            <a:r>
              <a:rPr lang="en-US" sz="1600" dirty="0"/>
              <a:t> layouts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New CTAD for std::span and std::</a:t>
            </a:r>
            <a:r>
              <a:rPr lang="en-US" sz="1600" dirty="0" err="1"/>
              <a:t>mdspan</a:t>
            </a:r>
            <a:r>
              <a:rPr lang="en-US" sz="1600" dirty="0"/>
              <a:t> with integral constants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Atomic maximum and minimum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Undeprecate std::</a:t>
            </a:r>
            <a:r>
              <a:rPr lang="en-US" sz="1600" dirty="0" err="1"/>
              <a:t>polymorphic_allocator</a:t>
            </a:r>
            <a:r>
              <a:rPr lang="en-US" sz="1600" dirty="0"/>
              <a:t>::destroy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std::optional range support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is_virtual_base_of</a:t>
            </a:r>
            <a:r>
              <a:rPr lang="en-US" sz="1600" dirty="0"/>
              <a:t>: type trait for detecting virtual base classes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std::dims for std::</a:t>
            </a:r>
            <a:r>
              <a:rPr lang="en-US" sz="1600" dirty="0" err="1"/>
              <a:t>mdspan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Deprecating std::</a:t>
            </a:r>
            <a:r>
              <a:rPr lang="en-US" sz="1600" dirty="0" err="1"/>
              <a:t>is_trivial</a:t>
            </a:r>
            <a:r>
              <a:rPr lang="en-US" sz="1600" dirty="0"/>
              <a:t> and std::</a:t>
            </a:r>
            <a:r>
              <a:rPr lang="en-US" sz="1600" dirty="0" err="1"/>
              <a:t>is_trivial_v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Constraining std::expected equality operators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aligned_accessor</a:t>
            </a:r>
            <a:r>
              <a:rPr lang="en-US" sz="1600" dirty="0"/>
              <a:t>: an std::</a:t>
            </a:r>
            <a:r>
              <a:rPr lang="en-US" sz="1600" dirty="0" err="1"/>
              <a:t>mdspan</a:t>
            </a:r>
            <a:r>
              <a:rPr lang="en-US" sz="1600" dirty="0"/>
              <a:t> accessor expressing pointer over-alignment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is_sufficiently_aligned</a:t>
            </a:r>
            <a:r>
              <a:rPr lang="en-US" sz="1600" dirty="0"/>
              <a:t>: checks a pointer’s alignment precondition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</a:t>
            </a:r>
            <a:r>
              <a:rPr lang="en-US" sz="1600" dirty="0" err="1"/>
              <a:t>atomic_ref</a:t>
            </a:r>
            <a:r>
              <a:rPr lang="en-US" sz="1600" dirty="0"/>
              <a:t>::address()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&lt;</a:t>
            </a:r>
            <a:r>
              <a:rPr lang="en-US" sz="1600" dirty="0" err="1"/>
              <a:t>stdbit.h</a:t>
            </a:r>
            <a:r>
              <a:rPr lang="en-US" sz="1600" dirty="0"/>
              <a:t>&gt; and &lt;</a:t>
            </a:r>
            <a:r>
              <a:rPr lang="en-US" sz="1600" dirty="0" err="1"/>
              <a:t>stdckdint.h</a:t>
            </a:r>
            <a:r>
              <a:rPr lang="en-US" sz="1600" dirty="0"/>
              <a:t>&gt;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Trivial </a:t>
            </a:r>
            <a:r>
              <a:rPr lang="en-US" sz="1600" dirty="0" err="1"/>
              <a:t>relocatability</a:t>
            </a:r>
            <a:r>
              <a:rPr lang="en-US" sz="1600" dirty="0"/>
              <a:t> traits and operations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Defang and deprecate std::</a:t>
            </a:r>
            <a:r>
              <a:rPr lang="en-US" sz="1600" dirty="0" err="1"/>
              <a:t>memory_order</a:t>
            </a:r>
            <a:r>
              <a:rPr lang="en-US" sz="1600" dirty="0"/>
              <a:t>::consume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std::indirect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std::polymorphic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std::ranges::</a:t>
            </a:r>
            <a:r>
              <a:rPr lang="en-US" sz="1600" dirty="0" err="1"/>
              <a:t>to_input_view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std::ranges::</a:t>
            </a:r>
            <a:r>
              <a:rPr lang="en-US" sz="1600" dirty="0" err="1"/>
              <a:t>approximately_sized_range</a:t>
            </a:r>
            <a:r>
              <a:rPr lang="en-US" sz="1600" dirty="0"/>
              <a:t> and std::ranges::</a:t>
            </a:r>
            <a:r>
              <a:rPr lang="en-US" sz="1600" dirty="0" err="1"/>
              <a:t>reserve_hint</a:t>
            </a:r>
            <a:endParaRPr lang="en-US" sz="16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Standard library hardening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b="1" dirty="0"/>
              <a:t>…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41660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6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5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9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5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1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5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25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5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7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5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85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5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5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15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5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3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5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5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5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6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5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75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5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9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5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4050"/>
                            </p:stCondLst>
                            <p:childTnLst>
                              <p:par>
                                <p:cTn id="1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5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200"/>
                            </p:stCondLst>
                            <p:childTnLst>
                              <p:par>
                                <p:cTn id="1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50"/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350"/>
                            </p:stCondLst>
                            <p:childTnLst>
                              <p:par>
                                <p:cTn id="1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50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500"/>
                            </p:stCondLst>
                            <p:childTnLst>
                              <p:par>
                                <p:cTn id="1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50"/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4650"/>
                            </p:stCondLst>
                            <p:childTnLst>
                              <p:par>
                                <p:cTn id="1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50"/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4800"/>
                            </p:stCondLst>
                            <p:childTnLst>
                              <p:par>
                                <p:cTn id="1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50"/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950"/>
                            </p:stCondLst>
                            <p:childTnLst>
                              <p:par>
                                <p:cTn id="1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50"/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10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50"/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250"/>
                            </p:stCondLst>
                            <p:childTnLst>
                              <p:par>
                                <p:cTn id="1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50"/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400"/>
                            </p:stCondLst>
                            <p:childTnLst>
                              <p:par>
                                <p:cTn id="1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50"/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550"/>
                            </p:stCondLst>
                            <p:childTnLst>
                              <p:par>
                                <p:cTn id="1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50"/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700"/>
                            </p:stCondLst>
                            <p:childTnLst>
                              <p:par>
                                <p:cTn id="1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50"/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850"/>
                            </p:stCondLst>
                            <p:childTnLst>
                              <p:par>
                                <p:cTn id="1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50"/>
                                        <p:tgtEl>
                                          <p:spTgt spid="3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6000"/>
                            </p:stCondLst>
                            <p:childTnLst>
                              <p:par>
                                <p:cTn id="1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50"/>
                                        <p:tgtEl>
                                          <p:spTgt spid="3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6150"/>
                            </p:stCondLst>
                            <p:childTnLst>
                              <p:par>
                                <p:cTn id="1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50"/>
                                        <p:tgtEl>
                                          <p:spTgt spid="3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6300"/>
                            </p:stCondLst>
                            <p:childTnLst>
                              <p:par>
                                <p:cTn id="1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50"/>
                                        <p:tgtEl>
                                          <p:spTgt spid="3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6450"/>
                            </p:stCondLst>
                            <p:childTnLst>
                              <p:par>
                                <p:cTn id="1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50"/>
                                        <p:tgtEl>
                                          <p:spTgt spid="3">
                                            <p:txEl>
                                              <p:pRg st="43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6600"/>
                            </p:stCondLst>
                            <p:childTnLst>
                              <p:par>
                                <p:cTn id="1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50"/>
                                        <p:tgtEl>
                                          <p:spTgt spid="3">
                                            <p:txEl>
                                              <p:pRg st="44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6750"/>
                            </p:stCondLst>
                            <p:childTnLst>
                              <p:par>
                                <p:cTn id="1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5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50"/>
                                        <p:tgtEl>
                                          <p:spTgt spid="3">
                                            <p:txEl>
                                              <p:pRg st="45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Questions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76200" y="971550"/>
            <a:ext cx="8991600" cy="3124200"/>
          </a:xfrm>
          <a:effectLst>
            <a:outerShdw blurRad="114300" dist="165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16600" b="1" dirty="0">
                <a:latin typeface="Segoe UI Semibold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6451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E92F831A-BD16-4DAF-8CAE-F21564186F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WidescreenPres</Template>
  <TotalTime>0</TotalTime>
  <Words>7574</Words>
  <Application>Microsoft Office PowerPoint</Application>
  <PresentationFormat>On-screen Show (16:9)</PresentationFormat>
  <Paragraphs>1015</Paragraphs>
  <Slides>89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100" baseType="lpstr">
      <vt:lpstr>Arial</vt:lpstr>
      <vt:lpstr>Calibri</vt:lpstr>
      <vt:lpstr>Cascadia Mono</vt:lpstr>
      <vt:lpstr>Consolas</vt:lpstr>
      <vt:lpstr>Segoe UI</vt:lpstr>
      <vt:lpstr>Segoe UI Light</vt:lpstr>
      <vt:lpstr>Segoe UI Semibold</vt:lpstr>
      <vt:lpstr>Tw Cen MT</vt:lpstr>
      <vt:lpstr>Wingdings</vt:lpstr>
      <vt:lpstr>Wingdings 2</vt:lpstr>
      <vt:lpstr>WidescreenPres</vt:lpstr>
      <vt:lpstr>PowerPoint Presentation</vt:lpstr>
      <vt:lpstr>Marc Grégoire</vt:lpstr>
      <vt:lpstr>Agenda</vt:lpstr>
      <vt:lpstr>C++26 Core Language</vt:lpstr>
      <vt:lpstr>Static Reflection</vt:lpstr>
      <vt:lpstr>Static Reflection</vt:lpstr>
      <vt:lpstr>Static Reflection</vt:lpstr>
      <vt:lpstr>Static Reflection</vt:lpstr>
      <vt:lpstr>Contracts</vt:lpstr>
      <vt:lpstr>Contracts</vt:lpstr>
      <vt:lpstr>Contracts</vt:lpstr>
      <vt:lpstr>Contracts</vt:lpstr>
      <vt:lpstr>Contracts</vt:lpstr>
      <vt:lpstr>Contracts</vt:lpstr>
      <vt:lpstr>Contracts</vt:lpstr>
      <vt:lpstr>Contracts</vt:lpstr>
      <vt:lpstr>Unnamed Placeholder Variables (_)</vt:lpstr>
      <vt:lpstr>User-Generated static_assert() Messages</vt:lpstr>
      <vt:lpstr>User-Generated static_assert() Messages</vt:lpstr>
      <vt:lpstr>= delete("reason") Syntax</vt:lpstr>
      <vt:lpstr>= delete("reason") Syntax</vt:lpstr>
      <vt:lpstr>Attributes on Structured Bindings</vt:lpstr>
      <vt:lpstr>Structured Bindings in Conditions</vt:lpstr>
      <vt:lpstr>Structured Bindings in Conditions</vt:lpstr>
      <vt:lpstr>constexpr Structured Bindings</vt:lpstr>
      <vt:lpstr>Structured Bindings Introducing Packs</vt:lpstr>
      <vt:lpstr>Pack Indexing</vt:lpstr>
      <vt:lpstr>Pack Indexing</vt:lpstr>
      <vt:lpstr>Pack Indexing</vt:lpstr>
      <vt:lpstr>#embed</vt:lpstr>
      <vt:lpstr>Variadic Friend Declarations</vt:lpstr>
      <vt:lpstr>constexpr Casts from void*</vt:lpstr>
      <vt:lpstr>constexpr Casts from void*</vt:lpstr>
      <vt:lpstr>constexpr Casts from void*</vt:lpstr>
      <vt:lpstr>constexpr Placement new</vt:lpstr>
      <vt:lpstr>constexpr Exceptions</vt:lpstr>
      <vt:lpstr>Uninitialized Read Formalization</vt:lpstr>
      <vt:lpstr>Uninitialized Read Formalization</vt:lpstr>
      <vt:lpstr>Uninitialized Read Formalization</vt:lpstr>
      <vt:lpstr>Agenda</vt:lpstr>
      <vt:lpstr>C++26 Standard Library</vt:lpstr>
      <vt:lpstr>Execution Control Library</vt:lpstr>
      <vt:lpstr>Execution Control Library</vt:lpstr>
      <vt:lpstr>Execution Control Library</vt:lpstr>
      <vt:lpstr>Execution Control Library</vt:lpstr>
      <vt:lpstr>Execution Control Library</vt:lpstr>
      <vt:lpstr>Execution Control Library</vt:lpstr>
      <vt:lpstr>Execution Control Library</vt:lpstr>
      <vt:lpstr>std::inplace_vector</vt:lpstr>
      <vt:lpstr>std::inplace_vector</vt:lpstr>
      <vt:lpstr>std::hive</vt:lpstr>
      <vt:lpstr>std::hive</vt:lpstr>
      <vt:lpstr>std::hive</vt:lpstr>
      <vt:lpstr>std::hive</vt:lpstr>
      <vt:lpstr>std::submdspan()</vt:lpstr>
      <vt:lpstr>std::submdspan()</vt:lpstr>
      <vt:lpstr>Saturation Arithmetic</vt:lpstr>
      <vt:lpstr>Saturation Arithmetic</vt:lpstr>
      <vt:lpstr>string_view init for stringstreams/bitset</vt:lpstr>
      <vt:lpstr>std::text_encoding</vt:lpstr>
      <vt:lpstr>std::text_encoding</vt:lpstr>
      <vt:lpstr>Native File Handles</vt:lpstr>
      <vt:lpstr>Native File Handles</vt:lpstr>
      <vt:lpstr>constexpr Stable Sorting</vt:lpstr>
      <vt:lpstr>More constexpr &lt;cmath&gt; and &lt;complex&gt;</vt:lpstr>
      <vt:lpstr>More constexpr</vt:lpstr>
      <vt:lpstr>constexpr for Containers &amp; Adapters</vt:lpstr>
      <vt:lpstr>New SI Prefixes</vt:lpstr>
      <vt:lpstr>&lt;debugging&gt;</vt:lpstr>
      <vt:lpstr>&lt;linalg&gt;</vt:lpstr>
      <vt:lpstr>&lt;linalg&gt;</vt:lpstr>
      <vt:lpstr>&lt;linalg&gt;</vt:lpstr>
      <vt:lpstr>Tuple Protocol for std::complex</vt:lpstr>
      <vt:lpstr>views::concat</vt:lpstr>
      <vt:lpstr>String Concatenation</vt:lpstr>
      <vt:lpstr>Enabling List Initialization for Algorithms</vt:lpstr>
      <vt:lpstr>std::ranges::cache_latest_view</vt:lpstr>
      <vt:lpstr>std::ranges::cache_latest_view</vt:lpstr>
      <vt:lpstr>std::ranges::generate_random</vt:lpstr>
      <vt:lpstr>std::philox_engine</vt:lpstr>
      <vt:lpstr>std::philox_engine</vt:lpstr>
      <vt:lpstr>Filesystem Path Formatter</vt:lpstr>
      <vt:lpstr>std::println() Blank Lines</vt:lpstr>
      <vt:lpstr>std::simd</vt:lpstr>
      <vt:lpstr>std::simd</vt:lpstr>
      <vt:lpstr>Agenda</vt:lpstr>
      <vt:lpstr>Even More Features/Changes</vt:lpstr>
      <vt:lpstr>Even More Features/Changes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2012-01-03T18:42:20Z</dcterms:created>
  <dcterms:modified xsi:type="dcterms:W3CDTF">2025-09-18T13:22:41Z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TC101769309990</vt:lpwstr>
  </property>
</Properties>
</file>