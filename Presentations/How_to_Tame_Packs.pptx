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48"/>
  </p:notesMasterIdLst>
  <p:handoutMasterIdLst>
    <p:handoutMasterId r:id="rId49"/>
  </p:handoutMasterIdLst>
  <p:sldIdLst>
    <p:sldId id="256" r:id="rId5"/>
    <p:sldId id="513" r:id="rId6"/>
    <p:sldId id="447" r:id="rId7"/>
    <p:sldId id="522" r:id="rId8"/>
    <p:sldId id="452" r:id="rId9"/>
    <p:sldId id="492" r:id="rId10"/>
    <p:sldId id="518" r:id="rId11"/>
    <p:sldId id="491" r:id="rId12"/>
    <p:sldId id="487" r:id="rId13"/>
    <p:sldId id="489" r:id="rId14"/>
    <p:sldId id="488" r:id="rId15"/>
    <p:sldId id="490" r:id="rId16"/>
    <p:sldId id="493" r:id="rId17"/>
    <p:sldId id="494" r:id="rId18"/>
    <p:sldId id="506" r:id="rId19"/>
    <p:sldId id="519" r:id="rId20"/>
    <p:sldId id="495" r:id="rId21"/>
    <p:sldId id="496" r:id="rId22"/>
    <p:sldId id="484" r:id="rId23"/>
    <p:sldId id="520" r:id="rId24"/>
    <p:sldId id="511" r:id="rId25"/>
    <p:sldId id="516" r:id="rId26"/>
    <p:sldId id="509" r:id="rId27"/>
    <p:sldId id="514" r:id="rId28"/>
    <p:sldId id="510" r:id="rId29"/>
    <p:sldId id="470" r:id="rId30"/>
    <p:sldId id="512" r:id="rId31"/>
    <p:sldId id="508" r:id="rId32"/>
    <p:sldId id="521" r:id="rId33"/>
    <p:sldId id="515" r:id="rId34"/>
    <p:sldId id="485" r:id="rId35"/>
    <p:sldId id="507" r:id="rId36"/>
    <p:sldId id="465" r:id="rId37"/>
    <p:sldId id="499" r:id="rId38"/>
    <p:sldId id="500" r:id="rId39"/>
    <p:sldId id="502" r:id="rId40"/>
    <p:sldId id="501" r:id="rId41"/>
    <p:sldId id="503" r:id="rId42"/>
    <p:sldId id="504" r:id="rId43"/>
    <p:sldId id="505" r:id="rId44"/>
    <p:sldId id="486" r:id="rId45"/>
    <p:sldId id="517" r:id="rId46"/>
    <p:sldId id="301" r:id="rId47"/>
  </p:sldIdLst>
  <p:sldSz cx="36576000" cy="20574000"/>
  <p:notesSz cx="6858000" cy="9144000"/>
  <p:embeddedFontLst>
    <p:embeddedFont>
      <p:font typeface="NVIDIA Sans" panose="020B0503020203020204" pitchFamily="34" charset="0"/>
      <p:regular r:id="rId50"/>
      <p:bold r:id="rId51"/>
      <p:italic r:id="rId52"/>
      <p:boldItalic r:id="rId53"/>
    </p:embeddedFont>
    <p:embeddedFont>
      <p:font typeface="NVIDIA Sans Light" panose="020B0303020203020204" pitchFamily="34" charset="0"/>
      <p:regular r:id="rId54"/>
      <p:italic r:id="rId55"/>
    </p:embeddedFont>
    <p:embeddedFont>
      <p:font typeface="NVIDIA Sans Medium" panose="020B0503020203020204" pitchFamily="34" charset="0"/>
      <p:regular r:id="rId56"/>
      <p:italic r:id="rId57"/>
    </p:embeddedFont>
    <p:embeddedFont>
      <p:font typeface="Roboto Mono" pitchFamily="2" charset="0"/>
      <p:regular r:id="rId58"/>
      <p:bold r:id="rId59"/>
      <p:italic r:id="rId60"/>
      <p:boldItalic r:id="rId6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F4364DD-46BD-4D10-A79A-6F56DC38EA7C}">
          <p14:sldIdLst>
            <p14:sldId id="256"/>
            <p14:sldId id="513"/>
            <p14:sldId id="447"/>
            <p14:sldId id="522"/>
            <p14:sldId id="452"/>
            <p14:sldId id="492"/>
            <p14:sldId id="518"/>
            <p14:sldId id="491"/>
            <p14:sldId id="487"/>
            <p14:sldId id="489"/>
            <p14:sldId id="488"/>
            <p14:sldId id="490"/>
            <p14:sldId id="493"/>
            <p14:sldId id="494"/>
            <p14:sldId id="506"/>
            <p14:sldId id="519"/>
            <p14:sldId id="495"/>
            <p14:sldId id="496"/>
            <p14:sldId id="484"/>
            <p14:sldId id="520"/>
            <p14:sldId id="511"/>
            <p14:sldId id="516"/>
            <p14:sldId id="509"/>
            <p14:sldId id="514"/>
            <p14:sldId id="510"/>
            <p14:sldId id="470"/>
            <p14:sldId id="512"/>
            <p14:sldId id="508"/>
            <p14:sldId id="521"/>
            <p14:sldId id="515"/>
            <p14:sldId id="485"/>
            <p14:sldId id="507"/>
            <p14:sldId id="465"/>
            <p14:sldId id="499"/>
            <p14:sldId id="500"/>
            <p14:sldId id="502"/>
            <p14:sldId id="501"/>
            <p14:sldId id="503"/>
            <p14:sldId id="504"/>
            <p14:sldId id="505"/>
            <p14:sldId id="486"/>
            <p14:sldId id="517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55" userDrawn="1">
          <p15:clr>
            <a:srgbClr val="A4A3A4"/>
          </p15:clr>
        </p15:guide>
        <p15:guide id="2" pos="1564" userDrawn="1">
          <p15:clr>
            <a:srgbClr val="A4A3A4"/>
          </p15:clr>
        </p15:guide>
        <p15:guide id="3" pos="21476" userDrawn="1">
          <p15:clr>
            <a:srgbClr val="A4A3A4"/>
          </p15:clr>
        </p15:guide>
        <p15:guide id="4" orient="horz" pos="116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200"/>
    <a:srgbClr val="6D6037"/>
    <a:srgbClr val="B6A56F"/>
    <a:srgbClr val="151617"/>
    <a:srgbClr val="000000"/>
    <a:srgbClr val="FFFFFF"/>
    <a:srgbClr val="111111"/>
    <a:srgbClr val="2C2C2C"/>
    <a:srgbClr val="202020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2"/>
    <p:restoredTop sz="94694"/>
  </p:normalViewPr>
  <p:slideViewPr>
    <p:cSldViewPr snapToGrid="0">
      <p:cViewPr varScale="1">
        <p:scale>
          <a:sx n="49" d="100"/>
          <a:sy n="49" d="100"/>
        </p:scale>
        <p:origin x="216" y="304"/>
      </p:cViewPr>
      <p:guideLst>
        <p:guide orient="horz" pos="3055"/>
        <p:guide pos="1564"/>
        <p:guide pos="21476"/>
        <p:guide orient="horz" pos="1169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5832" y="22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5" Type="http://schemas.openxmlformats.org/officeDocument/2006/relationships/slide" Target="slides/slide1.xml"/><Relationship Id="rId61" Type="http://schemas.openxmlformats.org/officeDocument/2006/relationships/font" Target="fonts/font12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font" Target="fonts/font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10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5.fntdata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handoutMaster" Target="handoutMasters/handoutMaster1.xml"/><Relationship Id="rId57" Type="http://schemas.openxmlformats.org/officeDocument/2006/relationships/font" Target="fonts/font8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E88521-8FCE-4BCB-8B67-37305855271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0846B-0977-4E9D-973A-F0EA2C10623B}" type="datetimeFigureOut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t>9/15/25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0820F8-FB5B-4060-9702-8BB4F61830F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6212FBFF-564E-4199-8DDC-2B82D308BF1D}" type="slidenum">
              <a:rPr lang="en-US" smtClean="0">
                <a:latin typeface="NVIDIA Sans" panose="020B0503020203020204" pitchFamily="34" charset="0"/>
                <a:cs typeface="NVIDIA Sans" panose="020B0503020203020204" pitchFamily="34" charset="0"/>
              </a:rPr>
              <a:pPr algn="l"/>
              <a:t>‹#›</a:t>
            </a:fld>
            <a:endParaRPr lang="en-US"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10724E-A9C9-4E1D-A8CB-7A164E7A5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515" y="8736013"/>
            <a:ext cx="963022" cy="33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8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354A8664-169C-4436-81C8-E492002C26A5}" type="datetimeFigureOut">
              <a:rPr lang="en-US" smtClean="0"/>
              <a:pPr/>
              <a:t>9/15/25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fld id="{A93AD357-0C40-4436-9D38-C47D60C1C9C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65101A-1EE2-4F1C-9F5D-3DBEF8BECB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515" y="8736013"/>
            <a:ext cx="963022" cy="33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3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VIDIA Sans" panose="020B0503020203020204" pitchFamily="34" charset="0"/>
        <a:ea typeface="+mn-ea"/>
        <a:cs typeface="NVIDIA Sans" panose="020B0503020203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sz="5400" dirty="0"/>
              <a:t>Most familiar programming techniques are inoperant</a:t>
            </a:r>
          </a:p>
          <a:p>
            <a:pPr lvl="1"/>
            <a:r>
              <a:rPr lang="en-US" sz="5400" dirty="0"/>
              <a:t>Packs must be “pushed” into functions, can’t be “pulled” (declared locally, returned, renamed)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AD357-0C40-4436-9D38-C47D60C1C9C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997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sz="6000" dirty="0"/>
              <a:t>Include support for tuples and packs</a:t>
            </a:r>
          </a:p>
          <a:p>
            <a:pPr lvl="1"/>
            <a:r>
              <a:rPr lang="en-US" sz="6000" dirty="0"/>
              <a:t>We’re not competing!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High leverage: 50 lines you and your bot will love and reuse forever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AD357-0C40-4436-9D38-C47D60C1C9C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7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NVIDIA Sans" panose="020B0503020203020204" pitchFamily="34" charset="0"/>
                <a:ea typeface="Roboto Mono" panose="00000009000000000000" pitchFamily="49" charset="0"/>
                <a:cs typeface="NVIDIA Sans" panose="020B0503020203020204" pitchFamily="34" charset="0"/>
              </a:rPr>
              <a:t>Tradition of singular types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NVIDIA Sans" panose="020B0503020203020204" pitchFamily="34" charset="0"/>
                <a:ea typeface="Roboto Mono" panose="00000009000000000000" pitchFamily="49" charset="0"/>
                <a:cs typeface="NVIDIA Sans" panose="020B0503020203020204" pitchFamily="34" charset="0"/>
              </a:rPr>
              <a:t>Define themselves by a lack, not presence, of specific capability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3AD357-0C40-4436-9D38-C47D60C1C9C1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629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lack background&#10;&#10;Description automatically generated">
            <a:extLst>
              <a:ext uri="{FF2B5EF4-FFF2-40B4-BE49-F238E27FC236}">
                <a16:creationId xmlns:a16="http://schemas.microsoft.com/office/drawing/2014/main" id="{EE7D0D92-ABF9-0096-098F-6F4AF3F5F2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13012" y="2983577"/>
            <a:ext cx="19282214" cy="4937760"/>
          </a:xfrm>
        </p:spPr>
        <p:txBody>
          <a:bodyPr anchor="b">
            <a:normAutofit/>
          </a:bodyPr>
          <a:lstStyle>
            <a:lvl1pPr algn="l">
              <a:defRPr sz="8800" b="1" cap="none" baseline="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13012" y="7941727"/>
            <a:ext cx="19282214" cy="170383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0" cap="none" baseline="0"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None/>
              <a:defRPr sz="6000"/>
            </a:lvl2pPr>
            <a:lvl3pPr marL="2743200" indent="0" algn="ctr">
              <a:buNone/>
              <a:defRPr sz="5400"/>
            </a:lvl3pPr>
            <a:lvl4pPr marL="4114800" indent="0" algn="ctr">
              <a:buNone/>
              <a:defRPr sz="4800"/>
            </a:lvl4pPr>
            <a:lvl5pPr marL="5486400" indent="0" algn="ctr">
              <a:buNone/>
              <a:defRPr sz="4800"/>
            </a:lvl5pPr>
            <a:lvl6pPr marL="6858000" indent="0" algn="ctr">
              <a:buNone/>
              <a:defRPr sz="4800"/>
            </a:lvl6pPr>
            <a:lvl7pPr marL="8229600" indent="0" algn="ctr">
              <a:buNone/>
              <a:defRPr sz="4800"/>
            </a:lvl7pPr>
            <a:lvl8pPr marL="9601200" indent="0" algn="ctr">
              <a:buNone/>
              <a:defRPr sz="4800"/>
            </a:lvl8pPr>
            <a:lvl9pPr marL="10972800" indent="0" algn="ctr">
              <a:buNone/>
              <a:defRPr sz="4800"/>
            </a:lvl9pPr>
          </a:lstStyle>
          <a:p>
            <a:r>
              <a:rPr lang="en-US"/>
              <a:t>Click to Add Subtitle/Name/Date</a:t>
            </a:r>
          </a:p>
        </p:txBody>
      </p:sp>
      <p:pic>
        <p:nvPicPr>
          <p:cNvPr id="6" name="Picture 5" descr="A black background with white letters&#10;&#10;Description automatically generated with low confidence">
            <a:extLst>
              <a:ext uri="{FF2B5EF4-FFF2-40B4-BE49-F238E27FC236}">
                <a16:creationId xmlns:a16="http://schemas.microsoft.com/office/drawing/2014/main" id="{01C13F64-EEF6-A2D1-6462-380B9C786C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66" y="773531"/>
            <a:ext cx="8520635" cy="293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71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F4B3C8-1BB0-4553-892C-C0A9CA7092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5C15A8-2EC0-4C53-87C6-66E26EAB0D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799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t T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524CF4-9B62-4122-9333-1892D55837C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B7365B-4C46-8DCA-CCBD-540978213346}"/>
              </a:ext>
            </a:extLst>
          </p:cNvPr>
          <p:cNvSpPr/>
          <p:nvPr userDrawn="1"/>
        </p:nvSpPr>
        <p:spPr>
          <a:xfrm>
            <a:off x="15000920" y="10599518"/>
            <a:ext cx="11020290" cy="74920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lnSpc>
                <a:spcPct val="90000"/>
              </a:lnSpc>
            </a:pPr>
            <a:endParaRPr lang="en-US" sz="9600" b="1" err="1">
              <a:solidFill>
                <a:schemeClr val="tx1"/>
              </a:solidFill>
              <a:latin typeface="NVIDIA Sans" panose="020B0503020203020204" pitchFamily="34" charset="0"/>
              <a:cs typeface="NVIDIA Sans" panose="020B0503020203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3BA62A-75B2-D8F1-6262-09D2093EB8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7422" y="10599518"/>
            <a:ext cx="11022523" cy="7864522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F1E6AB9-6A8F-973B-3751-A8FDFB0085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5951796" y="11184435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7D1CEBC-3685-1A7C-3C1B-72CC0201163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5951796" y="13773007"/>
            <a:ext cx="9273032" cy="2550828"/>
          </a:xfrm>
          <a:prstGeom prst="rect">
            <a:avLst/>
          </a:prstGeom>
        </p:spPr>
        <p:txBody>
          <a:bodyPr/>
          <a:lstStyle>
            <a:lvl1pPr marL="0" indent="0">
              <a:buClr>
                <a:schemeClr val="tx2"/>
              </a:buClr>
              <a:buFontTx/>
              <a:buNone/>
              <a:defRPr sz="9600" b="0">
                <a:solidFill>
                  <a:schemeClr val="bg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9144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18288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27432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3657600" indent="0">
              <a:buClr>
                <a:schemeClr val="tx2"/>
              </a:buClr>
              <a:buFontTx/>
              <a:buNone/>
              <a:defRPr sz="9600" b="1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</p:spTree>
    <p:extLst>
      <p:ext uri="{BB962C8B-B14F-4D97-AF65-F5344CB8AC3E}">
        <p14:creationId xmlns:p14="http://schemas.microsoft.com/office/powerpoint/2010/main" val="54776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F4B3C8-1BB0-4553-892C-C0A9CA7092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1212348-FD7A-DFE0-EEA3-CDB6BEC4F6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9529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F4B3C8-1BB0-4553-892C-C0A9CA7092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524CF4-9B62-4122-9333-1892D55837C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3AA32-C8DF-D401-3213-32E142CA99A4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56382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_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F4B3C8-1BB0-4553-892C-C0A9CA7092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84427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>
            <a:normAutofit/>
          </a:bodyPr>
          <a:lstStyle>
            <a:lvl1pPr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14600" y="4873752"/>
            <a:ext cx="31546800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F4B3C8-1BB0-4553-892C-C0A9CA7092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55D55-A910-C04F-12B0-0BFE3A1F3E22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</p:spTree>
    <p:extLst>
      <p:ext uri="{BB962C8B-B14F-4D97-AF65-F5344CB8AC3E}">
        <p14:creationId xmlns:p14="http://schemas.microsoft.com/office/powerpoint/2010/main" val="365395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8641B6F-CD74-2AAF-1542-E0AE12B745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3576642-6EAB-23FE-3986-92DD20B405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13A90BD-05C9-CFD3-121E-8132840ADA3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B44D077-AA3F-DD19-E214-B713D28270E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800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8641B6F-CD74-2AAF-1542-E0AE12B745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C3576642-6EAB-23FE-3986-92DD20B405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2A7A66-2427-2C20-5EBA-9811B6222886}"/>
              </a:ext>
            </a:extLst>
          </p:cNvPr>
          <p:cNvSpPr txBox="1"/>
          <p:nvPr userDrawn="1"/>
        </p:nvSpPr>
        <p:spPr>
          <a:xfrm>
            <a:off x="708485" y="19635786"/>
            <a:ext cx="650466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00">
                <a:latin typeface="NVIDIA Sans Medium" panose="020B0603020203020204" pitchFamily="34" charset="0"/>
                <a:cs typeface="NVIDIA Sans Medium" panose="020B0603020203020204" pitchFamily="34" charset="0"/>
              </a:rPr>
              <a:t>NVIDIA CONFIDENTIAL. DO NOT DISTRIBUTE.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3BA0166-CF18-2BCB-1AC7-ED20BF648E9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14600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1E9A502-E4B3-6D84-D91A-70E7893D5E8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8845785" y="4846320"/>
            <a:ext cx="15215615" cy="1365199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028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Text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570FF5D0-4E10-4EA0-B135-056BC13D41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rgbClr val="151617">
              <a:alpha val="85000"/>
            </a:srgbClr>
          </a:solidFill>
          <a:ln w="19050">
            <a:noFill/>
          </a:ln>
        </p:spPr>
        <p:txBody>
          <a:bodyPr tIns="4572000" anchor="ctr"/>
          <a:lstStyle>
            <a:lvl1pPr marL="0" indent="0" algn="ctr">
              <a:buFontTx/>
              <a:buNone/>
              <a:defRPr sz="6000">
                <a:solidFill>
                  <a:schemeClr val="accent5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129248" y="298437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F4B3C8-1BB0-4553-892C-C0A9CA7092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29248" y="3728140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19F34B-97D0-CFC4-1B50-78556A13BE20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28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- No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570FF5D0-4E10-4EA0-B135-056BC13D41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6413163" cy="20574000"/>
          </a:xfrm>
          <a:prstGeom prst="rect">
            <a:avLst/>
          </a:prstGeom>
          <a:solidFill>
            <a:srgbClr val="151617">
              <a:alpha val="85000"/>
            </a:srgbClr>
          </a:solidFill>
          <a:ln w="19050">
            <a:noFill/>
          </a:ln>
        </p:spPr>
        <p:txBody>
          <a:bodyPr tIns="4572000" anchor="ctr"/>
          <a:lstStyle>
            <a:lvl1pPr marL="0" indent="0" algn="ctr">
              <a:buFontTx/>
              <a:buNone/>
              <a:defRPr sz="6000">
                <a:solidFill>
                  <a:schemeClr val="accent5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129248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19F34B-97D0-CFC4-1B50-78556A13BE20}"/>
              </a:ext>
            </a:extLst>
          </p:cNvPr>
          <p:cNvCxnSpPr>
            <a:cxnSpLocks/>
          </p:cNvCxnSpPr>
          <p:nvPr userDrawn="1"/>
        </p:nvCxnSpPr>
        <p:spPr>
          <a:xfrm>
            <a:off x="16413162" y="5693228"/>
            <a:ext cx="17282478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1AEB9813-8D39-485A-CA94-7F635F9E5C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129248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631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0DCFC1-2FC6-A88E-5123-D2E12B35F5E8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570FF5D0-4E10-4EA0-B135-056BC13D41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rgbClr val="151617">
              <a:alpha val="85000"/>
            </a:srgbClr>
          </a:solidFill>
          <a:ln w="19050">
            <a:noFill/>
          </a:ln>
        </p:spPr>
        <p:txBody>
          <a:bodyPr tIns="4572000" anchor="ctr"/>
          <a:lstStyle>
            <a:lvl1pPr marL="0" indent="0" algn="ctr">
              <a:buFontTx/>
              <a:buNone/>
              <a:defRPr sz="6000">
                <a:solidFill>
                  <a:schemeClr val="accent5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6896" y="298437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F4B3C8-1BB0-4553-892C-C0A9CA7092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28140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EB8C1C-2063-5CFA-9CA7-8DA8B2DB2275}"/>
              </a:ext>
            </a:extLst>
          </p:cNvPr>
          <p:cNvGrpSpPr/>
          <p:nvPr userDrawn="1"/>
        </p:nvGrpSpPr>
        <p:grpSpPr>
          <a:xfrm>
            <a:off x="0" y="19477636"/>
            <a:ext cx="2462426" cy="1103738"/>
            <a:chOff x="33712838" y="19477636"/>
            <a:chExt cx="2462426" cy="110373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EC35DE4-C0F2-D7C7-F46C-B30B57912B43}"/>
                </a:ext>
              </a:extLst>
            </p:cNvPr>
            <p:cNvSpPr/>
            <p:nvPr userDrawn="1"/>
          </p:nvSpPr>
          <p:spPr>
            <a:xfrm>
              <a:off x="33712838" y="19691703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8" name="Picture 17" descr="Logo&#10;&#10;Description automatically generated">
              <a:extLst>
                <a:ext uri="{FF2B5EF4-FFF2-40B4-BE49-F238E27FC236}">
                  <a16:creationId xmlns:a16="http://schemas.microsoft.com/office/drawing/2014/main" id="{6340DA24-F84C-F90E-5E6D-436664CACF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5681" y="19477636"/>
              <a:ext cx="2159583" cy="743794"/>
            </a:xfrm>
            <a:prstGeom prst="rect">
              <a:avLst/>
            </a:prstGeom>
          </p:spPr>
        </p:pic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D2620E-FD05-6896-3C28-0332EB8F6077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758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0DCFC1-2FC6-A88E-5123-D2E12B35F5E8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6896" y="298437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b="1" cap="none"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F4B3C8-1BB0-4553-892C-C0A9CA7092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3728140"/>
            <a:ext cx="14639544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82A44D-1653-89C3-AF1E-B01EB4967F96}"/>
              </a:ext>
            </a:extLst>
          </p:cNvPr>
          <p:cNvSpPr/>
          <p:nvPr userDrawn="1"/>
        </p:nvSpPr>
        <p:spPr>
          <a:xfrm>
            <a:off x="20162837" y="0"/>
            <a:ext cx="16413163" cy="20573998"/>
          </a:xfrm>
          <a:prstGeom prst="rect">
            <a:avLst/>
          </a:prstGeom>
          <a:solidFill>
            <a:srgbClr val="151617">
              <a:alpha val="85000"/>
            </a:srgbClr>
          </a:solidFill>
          <a:ln w="19050">
            <a:noFill/>
          </a:ln>
        </p:spPr>
        <p:txBody>
          <a:bodyPr tIns="4572000" anchor="ctr"/>
          <a:lstStyle/>
          <a:p>
            <a:pPr lvl="0" indent="0" algn="ctr" defTabSz="2743200">
              <a:lnSpc>
                <a:spcPct val="90000"/>
              </a:lnSpc>
              <a:spcBef>
                <a:spcPts val="3000"/>
              </a:spcBef>
              <a:buFontTx/>
              <a:buNone/>
            </a:pPr>
            <a:endParaRPr lang="en-US" sz="6000" err="1">
              <a:solidFill>
                <a:schemeClr val="accent5"/>
              </a:solidFill>
              <a:latin typeface="NVIDIA Sans" panose="020B0503020203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41BFAB-E331-EE2F-116E-3625FAE405EC}"/>
              </a:ext>
            </a:extLst>
          </p:cNvPr>
          <p:cNvGrpSpPr/>
          <p:nvPr userDrawn="1"/>
        </p:nvGrpSpPr>
        <p:grpSpPr>
          <a:xfrm>
            <a:off x="0" y="19477636"/>
            <a:ext cx="2462426" cy="1103738"/>
            <a:chOff x="33712838" y="19477636"/>
            <a:chExt cx="2462426" cy="1103738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4DDECF9-BC56-DDCB-7256-1BAF715ACD6A}"/>
                </a:ext>
              </a:extLst>
            </p:cNvPr>
            <p:cNvSpPr/>
            <p:nvPr userDrawn="1"/>
          </p:nvSpPr>
          <p:spPr>
            <a:xfrm>
              <a:off x="33712838" y="19691703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21" name="Picture 20" descr="Logo&#10;&#10;Description automatically generated">
              <a:extLst>
                <a:ext uri="{FF2B5EF4-FFF2-40B4-BE49-F238E27FC236}">
                  <a16:creationId xmlns:a16="http://schemas.microsoft.com/office/drawing/2014/main" id="{0E742C4C-0BE2-A66C-DFFA-39329F5C09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5681" y="19477636"/>
              <a:ext cx="2159583" cy="743794"/>
            </a:xfrm>
            <a:prstGeom prst="rect">
              <a:avLst/>
            </a:prstGeom>
          </p:spPr>
        </p:pic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EBFDD8F-418F-2A18-27FB-F979070A3252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42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SUBTITLE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0DCFC1-2FC6-A88E-5123-D2E12B35F5E8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570FF5D0-4E10-4EA0-B135-056BC13D41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62837" y="0"/>
            <a:ext cx="16413163" cy="20574000"/>
          </a:xfrm>
          <a:prstGeom prst="rect">
            <a:avLst/>
          </a:prstGeom>
          <a:solidFill>
            <a:srgbClr val="151617">
              <a:alpha val="85000"/>
            </a:srgbClr>
          </a:solidFill>
          <a:ln w="19050">
            <a:noFill/>
          </a:ln>
        </p:spPr>
        <p:txBody>
          <a:bodyPr tIns="4572000" anchor="ctr"/>
          <a:lstStyle>
            <a:lvl1pPr marL="0" indent="0" algn="ctr">
              <a:buFontTx/>
              <a:buNone/>
              <a:defRPr sz="6000">
                <a:solidFill>
                  <a:schemeClr val="accent5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6896" y="1218776"/>
            <a:ext cx="14639544" cy="3365695"/>
          </a:xfrm>
        </p:spPr>
        <p:txBody>
          <a:bodyPr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596896" y="6988192"/>
            <a:ext cx="14639544" cy="11345523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19F34B-97D0-CFC4-1B50-78556A13BE20}"/>
              </a:ext>
            </a:extLst>
          </p:cNvPr>
          <p:cNvCxnSpPr>
            <a:cxnSpLocks/>
          </p:cNvCxnSpPr>
          <p:nvPr userDrawn="1"/>
        </p:nvCxnSpPr>
        <p:spPr>
          <a:xfrm>
            <a:off x="0" y="5693228"/>
            <a:ext cx="17236440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C58243-C680-335D-B728-B3C7009041AD}"/>
              </a:ext>
            </a:extLst>
          </p:cNvPr>
          <p:cNvGrpSpPr/>
          <p:nvPr userDrawn="1"/>
        </p:nvGrpSpPr>
        <p:grpSpPr>
          <a:xfrm>
            <a:off x="0" y="19477636"/>
            <a:ext cx="2462426" cy="1103738"/>
            <a:chOff x="33712838" y="19477636"/>
            <a:chExt cx="2462426" cy="110373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00482FC-8EB6-C045-44BA-8723A3140836}"/>
                </a:ext>
              </a:extLst>
            </p:cNvPr>
            <p:cNvSpPr/>
            <p:nvPr userDrawn="1"/>
          </p:nvSpPr>
          <p:spPr>
            <a:xfrm>
              <a:off x="33712838" y="19691703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6" name="Picture 15" descr="Logo&#10;&#10;Description automatically generated">
              <a:extLst>
                <a:ext uri="{FF2B5EF4-FFF2-40B4-BE49-F238E27FC236}">
                  <a16:creationId xmlns:a16="http://schemas.microsoft.com/office/drawing/2014/main" id="{BC8B0A3E-F422-8177-4864-18101E9C25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5681" y="19477636"/>
              <a:ext cx="2159583" cy="7437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7617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TITLE ONLY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0DCFC1-2FC6-A88E-5123-D2E12B35F5E8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570FF5D0-4E10-4EA0-B135-056BC13D41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422624" y="0"/>
            <a:ext cx="20153377" cy="20574000"/>
          </a:xfrm>
          <a:prstGeom prst="rect">
            <a:avLst/>
          </a:prstGeom>
          <a:solidFill>
            <a:srgbClr val="151617">
              <a:alpha val="85000"/>
            </a:srgbClr>
          </a:solidFill>
          <a:ln w="19050">
            <a:noFill/>
          </a:ln>
        </p:spPr>
        <p:txBody>
          <a:bodyPr tIns="4572000" anchor="ctr"/>
          <a:lstStyle>
            <a:lvl1pPr marL="0" indent="0" algn="ctr">
              <a:buFontTx/>
              <a:buNone/>
              <a:defRPr sz="6000">
                <a:solidFill>
                  <a:schemeClr val="accent5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6896" y="8604153"/>
            <a:ext cx="12179806" cy="3365695"/>
          </a:xfrm>
        </p:spPr>
        <p:txBody>
          <a:bodyPr anchor="ctr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D128A5-0C08-25D4-9315-E8268238EC61}"/>
              </a:ext>
            </a:extLst>
          </p:cNvPr>
          <p:cNvGrpSpPr/>
          <p:nvPr userDrawn="1"/>
        </p:nvGrpSpPr>
        <p:grpSpPr>
          <a:xfrm>
            <a:off x="0" y="19477636"/>
            <a:ext cx="2462426" cy="1103738"/>
            <a:chOff x="33712838" y="19477636"/>
            <a:chExt cx="2462426" cy="110373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62D436B-78BD-B184-4FA9-9F1D141EFFCC}"/>
                </a:ext>
              </a:extLst>
            </p:cNvPr>
            <p:cNvSpPr/>
            <p:nvPr userDrawn="1"/>
          </p:nvSpPr>
          <p:spPr>
            <a:xfrm>
              <a:off x="33712838" y="19691703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4" name="Picture 13" descr="Logo&#10;&#10;Description automatically generated">
              <a:extLst>
                <a:ext uri="{FF2B5EF4-FFF2-40B4-BE49-F238E27FC236}">
                  <a16:creationId xmlns:a16="http://schemas.microsoft.com/office/drawing/2014/main" id="{70BAB8B4-3B17-1202-D93F-D0A3563E09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5681" y="19477636"/>
              <a:ext cx="2159583" cy="7437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4840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eft NO BULLETS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0DCFC1-2FC6-A88E-5123-D2E12B35F5E8}"/>
              </a:ext>
            </a:extLst>
          </p:cNvPr>
          <p:cNvSpPr/>
          <p:nvPr userDrawn="1"/>
        </p:nvSpPr>
        <p:spPr>
          <a:xfrm>
            <a:off x="32964120" y="18928080"/>
            <a:ext cx="3611880" cy="1645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570FF5D0-4E10-4EA0-B135-056BC13D41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422625" y="0"/>
            <a:ext cx="20153376" cy="20574000"/>
          </a:xfrm>
          <a:prstGeom prst="rect">
            <a:avLst/>
          </a:prstGeom>
          <a:solidFill>
            <a:srgbClr val="151617">
              <a:alpha val="85000"/>
            </a:srgbClr>
          </a:solidFill>
          <a:ln w="19050">
            <a:noFill/>
          </a:ln>
        </p:spPr>
        <p:txBody>
          <a:bodyPr tIns="4572000" anchor="ctr"/>
          <a:lstStyle>
            <a:lvl1pPr marL="0" indent="0" algn="ctr">
              <a:buFontTx/>
              <a:buNone/>
              <a:defRPr sz="6000">
                <a:solidFill>
                  <a:schemeClr val="accent5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6896" y="6829593"/>
            <a:ext cx="12143232" cy="3365695"/>
          </a:xfrm>
        </p:spPr>
        <p:txBody>
          <a:bodyPr anchor="b">
            <a:normAutofit/>
          </a:bodyPr>
          <a:lstStyle>
            <a:lvl1pPr algn="l">
              <a:spcBef>
                <a:spcPts val="600"/>
              </a:spcBef>
              <a:spcAft>
                <a:spcPts val="600"/>
              </a:spcAft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238AB403-3A37-671C-EBFF-B6B6742E2C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96896" y="10283120"/>
            <a:ext cx="12143232" cy="140817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600"/>
              </a:spcBef>
              <a:spcAft>
                <a:spcPts val="600"/>
              </a:spcAft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B0C25A1-6470-21D5-CEF0-F774F8B46B18}"/>
              </a:ext>
            </a:extLst>
          </p:cNvPr>
          <p:cNvGrpSpPr/>
          <p:nvPr userDrawn="1"/>
        </p:nvGrpSpPr>
        <p:grpSpPr>
          <a:xfrm>
            <a:off x="0" y="19477636"/>
            <a:ext cx="2462426" cy="1103738"/>
            <a:chOff x="33712838" y="19477636"/>
            <a:chExt cx="2462426" cy="110373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C92EA5E-C57E-C335-370C-DA58E7E27F81}"/>
                </a:ext>
              </a:extLst>
            </p:cNvPr>
            <p:cNvSpPr/>
            <p:nvPr userDrawn="1"/>
          </p:nvSpPr>
          <p:spPr>
            <a:xfrm>
              <a:off x="33712838" y="19691703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5" name="Picture 14" descr="Logo&#10;&#10;Description automatically generated">
              <a:extLst>
                <a:ext uri="{FF2B5EF4-FFF2-40B4-BE49-F238E27FC236}">
                  <a16:creationId xmlns:a16="http://schemas.microsoft.com/office/drawing/2014/main" id="{1B8D1067-1BB4-B86F-03D4-73C0AA4DED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5681" y="19477636"/>
              <a:ext cx="2159583" cy="7437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1293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9363D0E3-C94F-9BCE-647A-ED9BC9E454A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062650" y="4849813"/>
            <a:ext cx="24450701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B73C0501-790E-8C61-347A-12BF62D404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5A26857-B5E2-6D6F-FF1E-7A0D947899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3F88A5B-E854-635A-32FC-00B9A59C7AA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062650" y="17063961"/>
            <a:ext cx="2445070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8F9679A-C21E-9940-FF0E-D47BAFD4D98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062650" y="17751568"/>
            <a:ext cx="2445070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04745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90076BE-2C4A-9941-E7E3-FB0365B293A0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9354800" y="6919968"/>
            <a:ext cx="15583596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2F2C4A3-9CF3-49F6-10E9-C92720B08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5EAAE0D9-1DB2-86B5-00BF-ED7AEBF958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23D282C3-0C0F-687D-03F8-23B2CE8E9D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67D94787-858F-C10E-69F2-C0DA571A2CE4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9644E8E0-CFB9-4E32-2E01-557FEAD81437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65185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1E41DED6-CCA0-D7A9-1F74-E4038FA8D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E9C95CFC-E5B8-61E2-5C6E-F80225060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8585E6C9-4F2D-C7C3-F867-38A34FA08BB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C3981B17-295F-612E-52EB-69C23AB3C14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8592799" y="4849813"/>
            <a:ext cx="1634559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D8B0FA3-BB35-E308-8748-5636FF260B94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16345595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14822978-9A8B-BA1A-29B4-A4D5A34C6AB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16345595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388D63DA-7DD6-5A7C-DA8B-4CFC8A2C11AD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1634627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82A02330-1C8D-3A43-CC02-280BEE3E9F9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1634627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22060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up Imag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icture Placeholder 2">
            <a:extLst>
              <a:ext uri="{FF2B5EF4-FFF2-40B4-BE49-F238E27FC236}">
                <a16:creationId xmlns:a16="http://schemas.microsoft.com/office/drawing/2014/main" id="{0DB73185-4B12-207B-A563-03489F9318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37604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DA92969-C310-63CE-3F72-775C082B9411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11058350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FB29732-9796-A4DE-98D9-00D700CF8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EAA75E97-AD62-27C4-FD2E-ED1683E127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BA2F1458-703E-545B-04B1-AF86042FE76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8592805" y="4849813"/>
            <a:ext cx="8832277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40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9A8D111A-E1F8-A948-CBFE-5D2F26F75686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8013551" y="6919968"/>
            <a:ext cx="6924849" cy="7879524"/>
          </a:xfrm>
          <a:prstGeom prst="rect">
            <a:avLst/>
          </a:prstGeom>
        </p:spPr>
        <p:txBody>
          <a:bodyPr anchor="ctr"/>
          <a:lstStyle>
            <a:lvl1pPr marL="4572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4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40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2pPr>
            <a:lvl3pPr marL="22860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6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3pPr>
            <a:lvl4pPr marL="3200400" indent="-457200">
              <a:buClr>
                <a:schemeClr val="tx2"/>
              </a:buClr>
              <a:buFont typeface="NVIDIA Sans" panose="020B0503020203020204" pitchFamily="34" charset="0"/>
              <a:buChar char="•"/>
              <a:defRPr sz="32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4pPr>
            <a:lvl5pPr marL="4054475" indent="-396875">
              <a:buClr>
                <a:schemeClr val="tx2"/>
              </a:buClr>
              <a:buFont typeface="NVIDIA Sans" panose="020B0503020203020204" pitchFamily="34" charset="0"/>
              <a:buChar char="•"/>
              <a:defRPr sz="280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edit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B20355E-C75C-9611-E8A4-CCD14D187F6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37604" y="17063961"/>
            <a:ext cx="883227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D977D6B-2B62-CF43-0538-7E10B2285AE8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37604" y="17751568"/>
            <a:ext cx="883227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BD036A36-CAD3-3BF6-11D8-B00C065B8D52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8592805" y="17063961"/>
            <a:ext cx="883264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942F0EA-6EB9-9EE3-98C4-F0EE17A54E8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8592805" y="17751568"/>
            <a:ext cx="883264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53380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3C3323F7-6CFD-8F41-A81E-15EF39B80FD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4148473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06B2B1AB-3D31-F10F-4F52-A303BBF6C65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2893038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14918D7C-5C8B-DDFF-CA38-B2D99C46DA0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637604" y="4849813"/>
            <a:ext cx="1078992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107C0C66-9DCE-7307-974E-F72674AAF0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BFEE6D4-A47E-6684-624B-E767DE824C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7F4AA6D-72EE-A06D-0A14-EF92063ED9E0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65311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D4ADDDD8-1897-5ABF-316C-257A9ED37945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5311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8345C6B0-D639-8626-ECEE-48E1C967DE9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2893040" y="17063961"/>
            <a:ext cx="1078992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F911269-3B20-1FE3-0617-7927D0521DA2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2893040" y="17751568"/>
            <a:ext cx="1078992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148CF8D5-9125-0B70-C821-9BEBDA4120BC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4132970" y="17063961"/>
            <a:ext cx="1079037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E8D185DB-12A3-DF47-B611-5C3458C2E8D1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4132970" y="17751568"/>
            <a:ext cx="1079037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743016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210A6B41-FA76-BBC7-DE8B-57A453F0293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20757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F2F9C112-C3B3-0830-A38B-CD81B4B85D8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72254" y="4849813"/>
            <a:ext cx="7982985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2BA54EF2-D7D4-F4EF-65F1-F49F9CBDED4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637606" y="4849813"/>
            <a:ext cx="7969130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EF56EC66-5AE1-C660-FAC4-F36A43B96D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6969260" y="4849813"/>
            <a:ext cx="7969133" cy="12019835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E5BA0875-7A3A-0406-4527-046B0D8842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952119A9-BED4-0634-6ECB-BCBDE4110E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D2D732F-8FFC-C0F2-EB70-37196BA54CC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63961"/>
            <a:ext cx="7967906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3E7B6991-6330-210F-145E-A24A6CC6DBC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63961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8D35D4ED-4087-6A45-751F-AA580A59D6B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51568"/>
            <a:ext cx="7967906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6AEF36C-442D-B21B-F01B-8024F92550F2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51568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90E21C61-C77E-55CF-2F29-EF23E6CB629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63961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C9EE6C34-8026-7068-9F4F-45AF232CEA38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51568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D58C0948-3E4D-2805-438E-84EBC03B465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63961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75A6C30E-1C51-4B06-2AFC-5AA33F7D76E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51568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18583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>
            <a:extLst>
              <a:ext uri="{FF2B5EF4-FFF2-40B4-BE49-F238E27FC236}">
                <a16:creationId xmlns:a16="http://schemas.microsoft.com/office/drawing/2014/main" id="{F9C7EF5F-BF55-6D87-A3CF-ACA9C90582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28C42E98-EEB6-13F3-033A-1FA82C5FE5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BBE70AF8-065D-846F-9B29-282378224E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963F1584-F97F-FC7C-AA2C-CEC13BE644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293DE09B-1797-9A3D-5D98-67CFC74775A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4171285C-A647-C93E-5BB8-417F9834963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085C70AC-35CE-A36D-584E-3E921763914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4B39272C-F5EE-20DC-C4A8-2974FC00B95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AF4348A8-FC16-8EBB-BBCB-7CB35166A05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E1541127-4AEB-D51D-4DDD-172C6553F8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346FEBFB-CACC-9335-ACCF-83C7736220F9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6C6F5CA-5A4E-8CEC-3100-10C34C9B11F7}"/>
              </a:ext>
            </a:extLst>
          </p:cNvPr>
          <p:cNvSpPr>
            <a:spLocks noGrp="1"/>
          </p:cNvSpPr>
          <p:nvPr>
            <p:ph type="pic" sz="quarter" idx="75"/>
          </p:nvPr>
        </p:nvSpPr>
        <p:spPr>
          <a:xfrm>
            <a:off x="18520757" y="11931888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272CC0FF-6C69-376D-885A-F39FE24059E0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7265320" y="11931888"/>
            <a:ext cx="10789919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 typeface="NVIDIA Sans" panose="020B0503020203020204" pitchFamily="34" charset="0"/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D4B7E2B-1CD2-8AFD-2608-664A258B3AB4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7276587" y="17063961"/>
            <a:ext cx="1077865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09E60ED-C6CA-B49E-F825-3F43BA18A5A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7276587" y="17751568"/>
            <a:ext cx="1077865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6AC9D7FB-7E39-5873-7F5F-95082CAABE71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18533554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64D095D8-B554-7BD8-391B-BC94A067502A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18533554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32257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>
            <a:extLst>
              <a:ext uri="{FF2B5EF4-FFF2-40B4-BE49-F238E27FC236}">
                <a16:creationId xmlns:a16="http://schemas.microsoft.com/office/drawing/2014/main" id="{F229FD72-AB9D-9547-BF65-19965188F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FD43776E-3460-CC7B-6B1C-3612802566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0D0FB907-17B6-006D-EF46-307B58E8FF3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289139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3A650A5E-AB12-AD8B-F28F-29035408398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4558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96E87B3-B836-16CB-24F4-3597FCFFE7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4148473" y="4849814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D0A033C2-1DF7-761D-CF21-CABCB3A7EA0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656844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20C1FB10-5469-8E2D-32A3-81CFB4BCCD82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656844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4CAC403D-CA18-5A16-B554-76BD079F3C8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2894348" y="9981886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0EE2C9F9-0ECA-BF43-81E1-C751DA8C15B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2894348" y="10669493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CA736BB-5004-BA0E-3A29-890C72B50A3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151315" y="9981886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4F299DE7-FFC0-C524-B1B7-85BCFE697E48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151315" y="10669493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E164CFF1-2395-2DAB-182B-7B6B95EE70E5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1290265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C15FBA7D-EF87-04C3-F145-D574E031784E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65684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A5CBEDD6-531F-D850-9C2C-6A1A5DBE7EA9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4159734" y="11931889"/>
            <a:ext cx="1078992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F3EDB3EC-7723-613B-71D4-A68D0C3416A9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668105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527A862-BDAC-0257-1CEF-AAC964D2EF5B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668105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955D43BA-BC56-5C2F-4D7A-26F4F018DC38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2905609" y="17063961"/>
            <a:ext cx="1077865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1CB71B6D-2BC1-1181-EC34-B9E2E241BADF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2905609" y="17751568"/>
            <a:ext cx="1077865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017C9D6F-59AB-30A8-CF87-6037B24A477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24162576" y="17063961"/>
            <a:ext cx="107791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2F357B07-F2CF-5BEA-8F9D-5372582B8C66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24162576" y="17751568"/>
            <a:ext cx="107791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87721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57BEA884-8F3C-2864-2BCF-6524327F17A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335071" y="17059122"/>
            <a:ext cx="795528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C3412727-FAE8-945B-3239-31E0797564F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6573" y="17059122"/>
            <a:ext cx="7970338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CA632C21-FC10-1C35-662C-58EB5D10951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4335071" y="17727056"/>
            <a:ext cx="795528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671EFDF3-6771-C253-C4C2-19DC800D74C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86573" y="17727056"/>
            <a:ext cx="7970338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1" name="Picture Placeholder 2">
            <a:extLst>
              <a:ext uri="{FF2B5EF4-FFF2-40B4-BE49-F238E27FC236}">
                <a16:creationId xmlns:a16="http://schemas.microsoft.com/office/drawing/2014/main" id="{2874C76E-4B22-D834-EAB7-F8E4CD07218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88657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BD7532D0-913D-C47A-6986-5DE049620DE8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433507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0" name="Picture Placeholder 2">
            <a:extLst>
              <a:ext uri="{FF2B5EF4-FFF2-40B4-BE49-F238E27FC236}">
                <a16:creationId xmlns:a16="http://schemas.microsoft.com/office/drawing/2014/main" id="{C460A1DA-2F4E-A291-F57A-77785ABAB454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8357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F5CD9FE3-3757-5D95-504D-787BB28B30C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2783575" y="17059122"/>
            <a:ext cx="7951467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5F89E560-FA41-237C-8ADF-DECF6E4F7FE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783575" y="17727056"/>
            <a:ext cx="7951467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21210AFF-6E4B-C87E-93B0-923FE1CF0FD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6" name="Picture Placeholder 2">
            <a:extLst>
              <a:ext uri="{FF2B5EF4-FFF2-40B4-BE49-F238E27FC236}">
                <a16:creationId xmlns:a16="http://schemas.microsoft.com/office/drawing/2014/main" id="{DCE92E50-DD67-6C4C-841B-0FA0EE3D36AF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69" name="Picture Placeholder 2">
            <a:extLst>
              <a:ext uri="{FF2B5EF4-FFF2-40B4-BE49-F238E27FC236}">
                <a16:creationId xmlns:a16="http://schemas.microsoft.com/office/drawing/2014/main" id="{544F12E5-C284-CE75-304E-3B85A116AC46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72" name="Picture Placeholder 2">
            <a:extLst>
              <a:ext uri="{FF2B5EF4-FFF2-40B4-BE49-F238E27FC236}">
                <a16:creationId xmlns:a16="http://schemas.microsoft.com/office/drawing/2014/main" id="{9A458E65-C4CE-D91A-7EE3-70632301C30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F77C7B88-1AC4-FCFE-FB99-096CCF7E3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62DE45B4-3152-1F2D-D80F-C2B116565F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5FF34090-C092-6BDF-82BB-056A49BC74E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DA9C0F1D-C77B-C0B8-2CEC-10E27213E1E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ACE7BDFF-1970-798C-F72C-058E7CA8E56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47DA7426-82D9-B695-5553-AD019A76D0E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35AEAC0C-6CA1-3B7C-EB41-F3ED0189FFE6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0EAEC2CD-D1C1-6D5D-9A4F-AC1811499E6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AE4C94A0-BBD4-C296-683F-8A91A35F9BBE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D08BED00-10D6-AD95-CD40-042A6CAC506A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54669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1">
            <a:extLst>
              <a:ext uri="{FF2B5EF4-FFF2-40B4-BE49-F238E27FC236}">
                <a16:creationId xmlns:a16="http://schemas.microsoft.com/office/drawing/2014/main" id="{8F2FED39-3547-AE1E-6FDF-8539F1C32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C048BEF9-FDC7-1A51-6127-56DCCA9DB3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4" name="Picture Placeholder 2">
            <a:extLst>
              <a:ext uri="{FF2B5EF4-FFF2-40B4-BE49-F238E27FC236}">
                <a16:creationId xmlns:a16="http://schemas.microsoft.com/office/drawing/2014/main" id="{0CDA6746-5705-E785-EAC6-39452C3AF29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3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ED8E874E-1990-81A1-8694-2FABDFC79E2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0086104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7" name="Picture Placeholder 2">
            <a:extLst>
              <a:ext uri="{FF2B5EF4-FFF2-40B4-BE49-F238E27FC236}">
                <a16:creationId xmlns:a16="http://schemas.microsoft.com/office/drawing/2014/main" id="{DA253DB9-525D-05A8-39E0-46A9C3C7C7A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8534606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07933502-65A0-0B91-D4A2-196D2C29C1F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8534610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51979239-5F28-6A74-4FC1-5E42A41EA3A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0086108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FE384DF1-9F52-2FD9-A67D-1B204FD93CD0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C15A9D8E-1D0E-E6D8-BBBA-0AC509F4DAF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3113" y="4849814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86" name="Picture Placeholder 2">
            <a:extLst>
              <a:ext uri="{FF2B5EF4-FFF2-40B4-BE49-F238E27FC236}">
                <a16:creationId xmlns:a16="http://schemas.microsoft.com/office/drawing/2014/main" id="{A6EFE403-8D33-63A6-3826-B82ACE4E4240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6968061" y="11926198"/>
            <a:ext cx="795528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40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EF649003-40DA-BA73-00AC-C86FF262B71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0094409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5EAB964-8A5B-488F-2B08-E6FC677989E0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637603" y="9981886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84CF532A-6735-38E9-95CA-DA8BE7133BA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094409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0B327B0D-2AFC-97CB-AFCE-95C9BAB22E01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637603" y="10669493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F5D39E0C-1BE1-758A-23DA-79093BE34B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8534605" y="9981886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3C311DE7-BAC9-14E7-C9B2-B0190E882AB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8534605" y="10669493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FB88A3E6-903C-4F2C-3213-A99D1E52E8F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6983113" y="9981886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5F908762-EA90-C087-AA67-C6133778BE8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6983113" y="10669493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AC0AA856-BA3F-4D1D-0851-76429A9BA78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087333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A069EB14-BAD5-323C-74DD-4F51435C9FC4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0527" y="17059122"/>
            <a:ext cx="794697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BD0A17DC-A496-8D9E-35D7-6A33E7C44B40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087333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1343CFC4-6E0C-F0C6-CDDB-679CCCD3D373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1630527" y="17746729"/>
            <a:ext cx="794697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20824D00-F26F-6327-CAF8-FFC361850C55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8527529" y="17059122"/>
            <a:ext cx="794697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2" name="Text Placeholder 7">
            <a:extLst>
              <a:ext uri="{FF2B5EF4-FFF2-40B4-BE49-F238E27FC236}">
                <a16:creationId xmlns:a16="http://schemas.microsoft.com/office/drawing/2014/main" id="{B58C6B09-8579-D254-0627-AE389B221A7E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8527529" y="17746729"/>
            <a:ext cx="794697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483B9563-438F-A204-87B7-8E5FCCC0DCEF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26976037" y="17059122"/>
            <a:ext cx="7947304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6162D149-052B-59BE-392C-38CEA1C7AD7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26976037" y="17746729"/>
            <a:ext cx="7947304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734845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CED82722-D946-32F5-6BB8-5FF8EB7A4B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782110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135033EF-B494-EA49-338A-3D38E0EE39E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037420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D1518CEE-3DD3-11E0-B2BE-1C9DDAAC34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782110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BDE5384B-7236-C4C3-A89B-B6BD52AF7CD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037420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5" name="Picture Placeholder 2">
            <a:extLst>
              <a:ext uri="{FF2B5EF4-FFF2-40B4-BE49-F238E27FC236}">
                <a16:creationId xmlns:a16="http://schemas.microsoft.com/office/drawing/2014/main" id="{686AA147-EA70-F27D-2143-6C26D715D02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021177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6" name="Picture Placeholder 2">
            <a:extLst>
              <a:ext uri="{FF2B5EF4-FFF2-40B4-BE49-F238E27FC236}">
                <a16:creationId xmlns:a16="http://schemas.microsoft.com/office/drawing/2014/main" id="{EA0FAC02-37D8-9BC1-BBFD-7AD33F09FA3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1177971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7" name="Picture Placeholder 2">
            <a:extLst>
              <a:ext uri="{FF2B5EF4-FFF2-40B4-BE49-F238E27FC236}">
                <a16:creationId xmlns:a16="http://schemas.microsoft.com/office/drawing/2014/main" id="{0FAA751F-D2A6-0D25-29EC-E17DC7D5C37A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528615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5C06C706-6647-7B33-FFA3-B2FEE1DFD5E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8532409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9A3AA809-DE7A-C417-0AE2-35B4A2D5ED8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8532409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0" name="Picture Placeholder 2">
            <a:extLst>
              <a:ext uri="{FF2B5EF4-FFF2-40B4-BE49-F238E27FC236}">
                <a16:creationId xmlns:a16="http://schemas.microsoft.com/office/drawing/2014/main" id="{8DE82D27-6183-A8AA-ACFF-FD55759532A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1" name="Picture Placeholder 2">
            <a:extLst>
              <a:ext uri="{FF2B5EF4-FFF2-40B4-BE49-F238E27FC236}">
                <a16:creationId xmlns:a16="http://schemas.microsoft.com/office/drawing/2014/main" id="{5E08B0AA-E72A-8860-5243-A7CDEE5553B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2" name="Picture Placeholder 2">
            <a:extLst>
              <a:ext uri="{FF2B5EF4-FFF2-40B4-BE49-F238E27FC236}">
                <a16:creationId xmlns:a16="http://schemas.microsoft.com/office/drawing/2014/main" id="{83367A83-171F-85E5-FBA7-716BF4EED3E6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3" name="Picture Placeholder 2">
            <a:extLst>
              <a:ext uri="{FF2B5EF4-FFF2-40B4-BE49-F238E27FC236}">
                <a16:creationId xmlns:a16="http://schemas.microsoft.com/office/drawing/2014/main" id="{47D8A652-4F2D-E1FE-4433-3ED21B45B83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4" name="Picture Placeholder 2">
            <a:extLst>
              <a:ext uri="{FF2B5EF4-FFF2-40B4-BE49-F238E27FC236}">
                <a16:creationId xmlns:a16="http://schemas.microsoft.com/office/drawing/2014/main" id="{025EC417-BEFE-6E4F-8D72-C07AC3E0A12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5" name="Picture Placeholder 2">
            <a:extLst>
              <a:ext uri="{FF2B5EF4-FFF2-40B4-BE49-F238E27FC236}">
                <a16:creationId xmlns:a16="http://schemas.microsoft.com/office/drawing/2014/main" id="{726F9E31-65B7-DA36-ECB3-A9CFDE07645F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8527620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6" name="Text Placeholder 7">
            <a:extLst>
              <a:ext uri="{FF2B5EF4-FFF2-40B4-BE49-F238E27FC236}">
                <a16:creationId xmlns:a16="http://schemas.microsoft.com/office/drawing/2014/main" id="{FFAA12F9-528B-CF0E-14A3-28FC2BF07B62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307424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7" name="Text Placeholder 7">
            <a:extLst>
              <a:ext uri="{FF2B5EF4-FFF2-40B4-BE49-F238E27FC236}">
                <a16:creationId xmlns:a16="http://schemas.microsoft.com/office/drawing/2014/main" id="{D830F469-340A-89CC-0F61-F167A51D0A4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307424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0" name="Text Placeholder 7">
            <a:extLst>
              <a:ext uri="{FF2B5EF4-FFF2-40B4-BE49-F238E27FC236}">
                <a16:creationId xmlns:a16="http://schemas.microsoft.com/office/drawing/2014/main" id="{3081B4F8-273B-10B7-0B4A-26027F9B3B43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1" name="Text Placeholder 7">
            <a:extLst>
              <a:ext uri="{FF2B5EF4-FFF2-40B4-BE49-F238E27FC236}">
                <a16:creationId xmlns:a16="http://schemas.microsoft.com/office/drawing/2014/main" id="{E577FA22-126E-6B9F-3CC8-9E752FCC183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2" name="Text Placeholder 7">
            <a:extLst>
              <a:ext uri="{FF2B5EF4-FFF2-40B4-BE49-F238E27FC236}">
                <a16:creationId xmlns:a16="http://schemas.microsoft.com/office/drawing/2014/main" id="{1C2860DF-6860-CFDE-FAF3-5C726B2FD731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C7BEE301-5C6D-942E-BEE3-73E092EA7E9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FD5F599B-8744-7849-EEF7-8849E72C04F7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5" name="Text Placeholder 7">
            <a:extLst>
              <a:ext uri="{FF2B5EF4-FFF2-40B4-BE49-F238E27FC236}">
                <a16:creationId xmlns:a16="http://schemas.microsoft.com/office/drawing/2014/main" id="{B9E0C8A2-2FAE-A711-9256-A203090DDC5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6" name="Text Placeholder 7">
            <a:extLst>
              <a:ext uri="{FF2B5EF4-FFF2-40B4-BE49-F238E27FC236}">
                <a16:creationId xmlns:a16="http://schemas.microsoft.com/office/drawing/2014/main" id="{305BEF65-DEAD-9F86-5044-73541D0A0A8E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7" name="Text Placeholder 7">
            <a:extLst>
              <a:ext uri="{FF2B5EF4-FFF2-40B4-BE49-F238E27FC236}">
                <a16:creationId xmlns:a16="http://schemas.microsoft.com/office/drawing/2014/main" id="{D7441545-C9DB-64A8-9760-7D78A9423BDE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2ABCC9E6-5AC7-FBA9-9CE6-B66A8B5F7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2E7BD215-80C1-F12A-5812-B0FE5172AA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DB17CC64-7F84-F2E4-FB72-204654F51AD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C79526A2-FAFD-A536-6CC7-1FA7C332CF91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014997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-up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1">
            <a:extLst>
              <a:ext uri="{FF2B5EF4-FFF2-40B4-BE49-F238E27FC236}">
                <a16:creationId xmlns:a16="http://schemas.microsoft.com/office/drawing/2014/main" id="{2E1C6640-71A0-5409-4C14-771F7A8D63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806BB1B9-41DF-E49A-0AD9-42EBAC296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E120A58E-9737-58C3-9A67-579BE854526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382295" y="17059122"/>
            <a:ext cx="626148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583ACEA7-F35D-497B-1336-1DDC4C9E436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37605" y="17059122"/>
            <a:ext cx="625484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39906679-F1C7-C099-BA78-B1EC03DE485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82295" y="17727056"/>
            <a:ext cx="626148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55D764A1-AAFB-AAAF-440B-E577DEAEDAD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637605" y="17727056"/>
            <a:ext cx="625484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79" name="Picture Placeholder 2">
            <a:extLst>
              <a:ext uri="{FF2B5EF4-FFF2-40B4-BE49-F238E27FC236}">
                <a16:creationId xmlns:a16="http://schemas.microsoft.com/office/drawing/2014/main" id="{3E5A7CCC-CEDA-5A08-9F83-8207E4B4678A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637605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80" name="Picture Placeholder 2">
            <a:extLst>
              <a:ext uri="{FF2B5EF4-FFF2-40B4-BE49-F238E27FC236}">
                <a16:creationId xmlns:a16="http://schemas.microsoft.com/office/drawing/2014/main" id="{04FB1F5A-4A6D-8263-D8EC-9F649ADB580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396143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81" name="Picture Placeholder 2">
            <a:extLst>
              <a:ext uri="{FF2B5EF4-FFF2-40B4-BE49-F238E27FC236}">
                <a16:creationId xmlns:a16="http://schemas.microsoft.com/office/drawing/2014/main" id="{08E60250-68D4-4DFF-E6B0-FD2F0743093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1902586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F5A0254-7997-A47B-CC1D-E26124BDDD6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132594" y="17059122"/>
            <a:ext cx="6263641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F56C1EBA-1286-640F-7405-F921F02412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132594" y="17727056"/>
            <a:ext cx="6263641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4" name="Picture Placeholder 2">
            <a:extLst>
              <a:ext uri="{FF2B5EF4-FFF2-40B4-BE49-F238E27FC236}">
                <a16:creationId xmlns:a16="http://schemas.microsoft.com/office/drawing/2014/main" id="{B6FB89B5-041B-6845-8C0C-D37F03F679D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52060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87" name="Picture Placeholder 2">
            <a:extLst>
              <a:ext uri="{FF2B5EF4-FFF2-40B4-BE49-F238E27FC236}">
                <a16:creationId xmlns:a16="http://schemas.microsoft.com/office/drawing/2014/main" id="{5B456072-1265-9582-56EC-A141423FCB2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394833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88" name="Picture Placeholder 2">
            <a:extLst>
              <a:ext uri="{FF2B5EF4-FFF2-40B4-BE49-F238E27FC236}">
                <a16:creationId xmlns:a16="http://schemas.microsoft.com/office/drawing/2014/main" id="{1E3D49AA-D010-8931-E38D-9EFAC650BE4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1637606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89" name="Picture Placeholder 2">
            <a:extLst>
              <a:ext uri="{FF2B5EF4-FFF2-40B4-BE49-F238E27FC236}">
                <a16:creationId xmlns:a16="http://schemas.microsoft.com/office/drawing/2014/main" id="{AF7C04F1-CBE2-DEFD-842C-51766F3982B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1909287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0" name="Picture Placeholder 2">
            <a:extLst>
              <a:ext uri="{FF2B5EF4-FFF2-40B4-BE49-F238E27FC236}">
                <a16:creationId xmlns:a16="http://schemas.microsoft.com/office/drawing/2014/main" id="{754FF476-6D9D-3BF5-5DA3-B92158389167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8666515" y="4848840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1" name="Picture Placeholder 2">
            <a:extLst>
              <a:ext uri="{FF2B5EF4-FFF2-40B4-BE49-F238E27FC236}">
                <a16:creationId xmlns:a16="http://schemas.microsoft.com/office/drawing/2014/main" id="{CF0FAC33-22B1-A1AA-A597-E20D83EC82B3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15144048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9821ECA1-0B8D-9D58-BC92-600E602A75F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1907609" y="17059122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D778EB77-2B9E-1894-E950-FBDDD5E6CF9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1907609" y="17727056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66FB9232-DDCE-9146-19EB-DB826C83AC2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5141913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DC527D0A-2D56-3DD0-560F-930D7B94349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8391957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4819793C-ABB4-F312-B423-93ED34A17F9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5141913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B5500A73-C1D9-6E99-C7F0-EE5D6523718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91957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D4E21DA6-E42F-E9B7-4D96-0492DDA8A79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21900662" y="9981886"/>
            <a:ext cx="6263640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886C4896-4193-9353-8113-FEAEA1A8E249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1900662" y="10669493"/>
            <a:ext cx="6263640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D8CE68A0-EE05-17DF-53F1-1760EA20BD44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28666515" y="9981886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5E6A3FD2-8586-0741-0E6C-CBF441D79C5F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8666515" y="10669493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04" name="Picture Placeholder 2">
            <a:extLst>
              <a:ext uri="{FF2B5EF4-FFF2-40B4-BE49-F238E27FC236}">
                <a16:creationId xmlns:a16="http://schemas.microsoft.com/office/drawing/2014/main" id="{79D69BE1-42CD-E248-6FF4-6883C7AD9CAC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28661124" y="11926198"/>
            <a:ext cx="6263640" cy="4937760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None/>
              <a:defRPr lang="en-US" sz="3600" dirty="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pPr marL="685800" lvl="0" indent="-685800" algn="ctr"/>
            <a:r>
              <a:rPr lang="en-US"/>
              <a:t>Click icon to add picture</a:t>
            </a:r>
          </a:p>
        </p:txBody>
      </p:sp>
      <p:sp>
        <p:nvSpPr>
          <p:cNvPr id="105" name="Text Placeholder 7">
            <a:extLst>
              <a:ext uri="{FF2B5EF4-FFF2-40B4-BE49-F238E27FC236}">
                <a16:creationId xmlns:a16="http://schemas.microsoft.com/office/drawing/2014/main" id="{A00FDC47-81CE-5DA7-F2C0-CCE8FDA8F033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8644881" y="17103569"/>
            <a:ext cx="6263902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6" name="Text Placeholder 7">
            <a:extLst>
              <a:ext uri="{FF2B5EF4-FFF2-40B4-BE49-F238E27FC236}">
                <a16:creationId xmlns:a16="http://schemas.microsoft.com/office/drawing/2014/main" id="{E03D1B87-1CAB-A060-10B0-66672F980B33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8644881" y="17791176"/>
            <a:ext cx="6263902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D6FB8B31-FA09-125D-6A0C-85126C99B38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637606" y="9981886"/>
            <a:ext cx="6263639" cy="750359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41B9B228-A0BE-A5BD-E50D-FFB95250F9EE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637606" y="10669493"/>
            <a:ext cx="6263639" cy="750359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91651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 C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9DC113-853F-C9DC-C16D-BE6B969498D1}"/>
              </a:ext>
            </a:extLst>
          </p:cNvPr>
          <p:cNvSpPr/>
          <p:nvPr userDrawn="1"/>
        </p:nvSpPr>
        <p:spPr>
          <a:xfrm>
            <a:off x="33084655" y="18953018"/>
            <a:ext cx="3491345" cy="1620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77920F6-AC26-4611-AAD3-44D6CEA3FBA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5999" cy="20574000"/>
          </a:xfrm>
          <a:prstGeom prst="rect">
            <a:avLst/>
          </a:prstGeom>
          <a:solidFill>
            <a:srgbClr val="151617">
              <a:alpha val="61000"/>
            </a:srgb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35972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A0E8BF-AF0D-20A3-5DF1-1F832B33778D}"/>
              </a:ext>
            </a:extLst>
          </p:cNvPr>
          <p:cNvSpPr/>
          <p:nvPr userDrawn="1"/>
        </p:nvSpPr>
        <p:spPr>
          <a:xfrm>
            <a:off x="33084655" y="18953018"/>
            <a:ext cx="3491345" cy="1620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AA31F85-6A24-F6BC-ED18-721298C874D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36575999" cy="20574000"/>
          </a:xfrm>
          <a:prstGeom prst="rect">
            <a:avLst/>
          </a:prstGeom>
          <a:solidFill>
            <a:srgbClr val="151617">
              <a:alpha val="60784"/>
            </a:srgbClr>
          </a:solidFill>
          <a:ln w="19050">
            <a:noFill/>
          </a:ln>
        </p:spPr>
        <p:txBody>
          <a:bodyPr tIns="0" bIns="4206240" anchor="ctr"/>
          <a:lstStyle>
            <a:lvl1pPr marL="0" indent="0" algn="ctr">
              <a:buFontTx/>
              <a:buNone/>
              <a:defRPr sz="72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image of video/demo</a:t>
            </a:r>
          </a:p>
        </p:txBody>
      </p:sp>
    </p:spTree>
    <p:extLst>
      <p:ext uri="{BB962C8B-B14F-4D97-AF65-F5344CB8AC3E}">
        <p14:creationId xmlns:p14="http://schemas.microsoft.com/office/powerpoint/2010/main" val="2602793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- Insert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A0E8BF-AF0D-20A3-5DF1-1F832B33778D}"/>
              </a:ext>
            </a:extLst>
          </p:cNvPr>
          <p:cNvSpPr/>
          <p:nvPr userDrawn="1"/>
        </p:nvSpPr>
        <p:spPr>
          <a:xfrm>
            <a:off x="33084655" y="18953018"/>
            <a:ext cx="3491345" cy="1620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679228C4-4387-5425-E657-3863E37061A5}"/>
              </a:ext>
            </a:extLst>
          </p:cNvPr>
          <p:cNvSpPr>
            <a:spLocks noGrp="1"/>
          </p:cNvSpPr>
          <p:nvPr>
            <p:ph type="media" sz="quarter" idx="12" hasCustomPrompt="1"/>
          </p:nvPr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151617">
              <a:alpha val="61000"/>
            </a:srgbClr>
          </a:solidFill>
        </p:spPr>
        <p:txBody>
          <a:bodyPr tIns="0" bIns="3108960" anchor="ctr"/>
          <a:lstStyle>
            <a:lvl1pPr marL="0" indent="0" algn="ctr">
              <a:buFontTx/>
              <a:buNone/>
              <a:defRPr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325232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black background&#10;&#10;Description automatically generated">
            <a:extLst>
              <a:ext uri="{FF2B5EF4-FFF2-40B4-BE49-F238E27FC236}">
                <a16:creationId xmlns:a16="http://schemas.microsoft.com/office/drawing/2014/main" id="{8397C11F-E523-45C0-C5D0-3DEFD5F01F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BD43049-D79A-ADD1-0173-BEDDD0EB0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4D333104-F858-F61E-1D34-E52D82F78D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4F9B9E-4A41-50DE-3018-ED6347BF5066}"/>
              </a:ext>
            </a:extLst>
          </p:cNvPr>
          <p:cNvCxnSpPr/>
          <p:nvPr userDrawn="1"/>
        </p:nvCxnSpPr>
        <p:spPr>
          <a:xfrm>
            <a:off x="0" y="11329275"/>
            <a:ext cx="36576000" cy="0"/>
          </a:xfrm>
          <a:prstGeom prst="line">
            <a:avLst/>
          </a:prstGeom>
          <a:ln w="508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6E20E0C-42D8-444A-E2A3-A3F26F670331}"/>
              </a:ext>
            </a:extLst>
          </p:cNvPr>
          <p:cNvGrpSpPr/>
          <p:nvPr userDrawn="1"/>
        </p:nvGrpSpPr>
        <p:grpSpPr>
          <a:xfrm>
            <a:off x="34015681" y="19477636"/>
            <a:ext cx="2560319" cy="1099561"/>
            <a:chOff x="34015681" y="19477636"/>
            <a:chExt cx="2560319" cy="109956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BB4EF6D-B88C-A6C9-D713-90A79BC44923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20" name="Picture 19" descr="Logo&#10;&#10;Description automatically generated">
              <a:extLst>
                <a:ext uri="{FF2B5EF4-FFF2-40B4-BE49-F238E27FC236}">
                  <a16:creationId xmlns:a16="http://schemas.microsoft.com/office/drawing/2014/main" id="{AA25C9DA-4631-954F-6626-A20F7FA887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5681" y="19477636"/>
              <a:ext cx="2159583" cy="7437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545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x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black background&#10;&#10;Description automatically generated">
            <a:extLst>
              <a:ext uri="{FF2B5EF4-FFF2-40B4-BE49-F238E27FC236}">
                <a16:creationId xmlns:a16="http://schemas.microsoft.com/office/drawing/2014/main" id="{33A6ECAC-99FD-7D7F-E939-6BE14DA36C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BD43049-D79A-ADD1-0173-BEDDD0EB0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4D333104-F858-F61E-1D34-E52D82F78D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635E57F-0D6B-C15C-C6AE-CDF3F3C44695}"/>
              </a:ext>
            </a:extLst>
          </p:cNvPr>
          <p:cNvGrpSpPr/>
          <p:nvPr userDrawn="1"/>
        </p:nvGrpSpPr>
        <p:grpSpPr>
          <a:xfrm>
            <a:off x="34015681" y="19477636"/>
            <a:ext cx="2560319" cy="1099561"/>
            <a:chOff x="34015681" y="19477636"/>
            <a:chExt cx="2560319" cy="109956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18B7F7-F437-9FFD-6F99-29B03241B236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14" name="Picture 13" descr="Logo&#10;&#10;Description automatically generated">
              <a:extLst>
                <a:ext uri="{FF2B5EF4-FFF2-40B4-BE49-F238E27FC236}">
                  <a16:creationId xmlns:a16="http://schemas.microsoft.com/office/drawing/2014/main" id="{8D4352AA-F908-CE83-BC03-C1EEE50A30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5681" y="19477636"/>
              <a:ext cx="2159583" cy="7437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229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w/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black background&#10;&#10;Description automatically generated">
            <a:extLst>
              <a:ext uri="{FF2B5EF4-FFF2-40B4-BE49-F238E27FC236}">
                <a16:creationId xmlns:a16="http://schemas.microsoft.com/office/drawing/2014/main" id="{E03AC92D-6847-2C39-2834-8498E063F2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0A0E643B-74E9-0738-E4E6-1F695DB0DA1A}"/>
              </a:ext>
            </a:extLst>
          </p:cNvPr>
          <p:cNvGrpSpPr/>
          <p:nvPr userDrawn="1"/>
        </p:nvGrpSpPr>
        <p:grpSpPr>
          <a:xfrm>
            <a:off x="34015681" y="19477636"/>
            <a:ext cx="2560319" cy="1099561"/>
            <a:chOff x="34015681" y="19477636"/>
            <a:chExt cx="2560319" cy="109956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746190D-3889-E65B-ABFC-3929B0EAFB5C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39" name="Picture 38" descr="Logo&#10;&#10;Description automatically generated">
              <a:extLst>
                <a:ext uri="{FF2B5EF4-FFF2-40B4-BE49-F238E27FC236}">
                  <a16:creationId xmlns:a16="http://schemas.microsoft.com/office/drawing/2014/main" id="{99569F42-600A-8600-69BE-3D5F1AF1F0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5681" y="19477636"/>
              <a:ext cx="2159583" cy="743794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2BD43049-D79A-ADD1-0173-BEDDD0EB0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14600" y="0"/>
            <a:ext cx="31546800" cy="2514601"/>
          </a:xfrm>
        </p:spPr>
        <p:txBody>
          <a:bodyPr/>
          <a:lstStyle>
            <a:lvl1pPr>
              <a:defRPr sz="7200" cap="none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4D333104-F858-F61E-1D34-E52D82F78D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14600" y="2487168"/>
            <a:ext cx="31546800" cy="140817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FontTx/>
              <a:buNone/>
              <a:defRPr sz="480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1371600" indent="0" algn="ctr">
              <a:buFontTx/>
              <a:buNone/>
              <a:defRPr sz="4400">
                <a:latin typeface="NVIDIA Sans" panose="020B0503020203020204" pitchFamily="34" charset="0"/>
              </a:defRPr>
            </a:lvl2pPr>
            <a:lvl3pPr marL="2743200" indent="0" algn="ctr">
              <a:buFontTx/>
              <a:buNone/>
              <a:defRPr sz="4400">
                <a:latin typeface="NVIDIA Sans" panose="020B0503020203020204" pitchFamily="34" charset="0"/>
              </a:defRPr>
            </a:lvl3pPr>
            <a:lvl4pPr marL="4114800" indent="0" algn="ctr">
              <a:buFontTx/>
              <a:buNone/>
              <a:defRPr sz="4400">
                <a:latin typeface="NVIDIA Sans" panose="020B0503020203020204" pitchFamily="34" charset="0"/>
              </a:defRPr>
            </a:lvl4pPr>
            <a:lvl5pPr marL="5486400" indent="0" algn="ctr">
              <a:buFontTx/>
              <a:buNone/>
              <a:defRPr sz="4400"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44A21F-646B-567B-FAE9-6E47F0ECAA37}"/>
              </a:ext>
            </a:extLst>
          </p:cNvPr>
          <p:cNvCxnSpPr/>
          <p:nvPr userDrawn="1"/>
        </p:nvCxnSpPr>
        <p:spPr>
          <a:xfrm>
            <a:off x="0" y="12517118"/>
            <a:ext cx="36576000" cy="0"/>
          </a:xfrm>
          <a:prstGeom prst="line">
            <a:avLst/>
          </a:prstGeom>
          <a:ln w="508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4D640899-3CB7-4B23-CDD1-8329CB1E78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04900" y="8828853"/>
            <a:ext cx="6172214" cy="4209393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36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25FD997-2518-1DCF-11C2-18A0405106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4901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BC2A030-6623-A3A7-DF99-AF3D2E41295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104900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9640EF61-1B00-B9A2-1971-0883561D1D6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04901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3D8B3CE7-28EB-10E8-04B4-9F9871D287F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153396" y="12016056"/>
            <a:ext cx="6172214" cy="4209393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36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7DE9702A-359A-D5FF-742A-F9FA15CB947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53397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EDBB0F-2F57-E3F6-9BD8-512FB0792D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53396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CA91D96F-DC9F-C438-5AE8-64E71635AA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153397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39281FA5-9A9A-990D-E497-06751BFB108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5163793" y="8828853"/>
            <a:ext cx="6172214" cy="4209393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36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98DD1682-9133-0FED-047E-B9B7DCBBB18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63794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BF44F206-52BB-D025-A518-E0AE0F928F1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63793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7E7E7018-F73D-9EBC-373D-810D5B4F16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63794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66F34E23-881D-4482-AAE4-5E5CBED11F88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2212297" y="12016056"/>
            <a:ext cx="6172214" cy="4209393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36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2BC3EB00-4D9F-C402-2738-FC713BA0B9A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2212298" y="10422886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BCB35310-28D5-4CCA-07D7-776E3CC2ACE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2212297" y="11134791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7AF48CBF-F9F1-BA19-5056-5655B27802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2212298" y="9680157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5D0B70E-7B46-5C62-A393-0461B273893E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9298902" y="8828853"/>
            <a:ext cx="6172214" cy="4209393"/>
          </a:xfrm>
          <a:prstGeom prst="rect">
            <a:avLst/>
          </a:prstGeom>
          <a:solidFill>
            <a:srgbClr val="151617">
              <a:alpha val="61000"/>
            </a:srgbClr>
          </a:solidFill>
          <a:ln w="9525">
            <a:solidFill>
              <a:schemeClr val="accent5"/>
            </a:solidFill>
          </a:ln>
        </p:spPr>
        <p:txBody>
          <a:bodyPr tIns="2194560" anchor="ctr"/>
          <a:lstStyle>
            <a:lvl1pPr marL="0" indent="0" algn="ctr">
              <a:buFontTx/>
              <a:buNone/>
              <a:defRPr sz="3600">
                <a:solidFill>
                  <a:schemeClr val="bg2">
                    <a:lumMod val="50000"/>
                  </a:schemeClr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0F94557A-728C-EB9B-6D27-E1522E71658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98903" y="7235683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4000" b="0" cap="none" baseline="0">
                <a:solidFill>
                  <a:schemeClr val="tx1"/>
                </a:solidFill>
                <a:latin typeface="+mj-lt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7FBD90FC-A59B-DD00-CAD3-6CE9D1F5F7B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9298902" y="7947588"/>
            <a:ext cx="6172214" cy="679755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600"/>
              </a:spcBef>
              <a:buFontTx/>
              <a:buNone/>
              <a:defRPr sz="2800" b="0">
                <a:solidFill>
                  <a:schemeClr val="tx1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19118EC-245C-5E88-050A-0F4F9388819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9298903" y="6492954"/>
            <a:ext cx="6172213" cy="795528"/>
          </a:xfrm>
          <a:prstGeom prst="rect">
            <a:avLst/>
          </a:prstGeom>
        </p:spPr>
        <p:txBody>
          <a:bodyPr anchor="b"/>
          <a:lstStyle>
            <a:lvl1pPr marL="0" indent="0" algn="ctr">
              <a:spcBef>
                <a:spcPts val="1200"/>
              </a:spcBef>
              <a:buFontTx/>
              <a:buNone/>
              <a:defRPr sz="7200" b="0" cap="none" baseline="0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0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2pPr>
            <a:lvl3pPr marL="4883584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3pPr>
            <a:lvl4pPr marL="693372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4pPr>
            <a:lvl5pPr marL="8471409" indent="0">
              <a:buFontTx/>
              <a:buNone/>
              <a:defRPr sz="4000" b="1">
                <a:solidFill>
                  <a:schemeClr val="tx1"/>
                </a:solidFill>
                <a:latin typeface="NVIDIA Sans" panose="020B0503020203020204" pitchFamily="34" charset="0"/>
              </a:defRPr>
            </a:lvl5pPr>
          </a:lstStyle>
          <a:p>
            <a:pPr lvl="0"/>
            <a:r>
              <a:rPr lang="en-US"/>
              <a:t>Year</a:t>
            </a:r>
          </a:p>
        </p:txBody>
      </p:sp>
    </p:spTree>
    <p:extLst>
      <p:ext uri="{BB962C8B-B14F-4D97-AF65-F5344CB8AC3E}">
        <p14:creationId xmlns:p14="http://schemas.microsoft.com/office/powerpoint/2010/main" val="997361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and black background&#10;&#10;Description automatically generated">
            <a:extLst>
              <a:ext uri="{FF2B5EF4-FFF2-40B4-BE49-F238E27FC236}">
                <a16:creationId xmlns:a16="http://schemas.microsoft.com/office/drawing/2014/main" id="{84660C5B-F183-A809-5ED8-FC5B865AC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2" cy="20574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EC72E02-B14C-9CE6-C2F8-512D9403FDB9}"/>
              </a:ext>
            </a:extLst>
          </p:cNvPr>
          <p:cNvSpPr/>
          <p:nvPr userDrawn="1"/>
        </p:nvSpPr>
        <p:spPr>
          <a:xfrm flipV="1">
            <a:off x="-1" y="-2"/>
            <a:ext cx="36576003" cy="5284871"/>
          </a:xfrm>
          <a:prstGeom prst="rect">
            <a:avLst/>
          </a:prstGeom>
          <a:gradFill>
            <a:gsLst>
              <a:gs pos="0">
                <a:schemeClr val="bg1"/>
              </a:gs>
              <a:gs pos="67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8ABED5-E4D9-3873-930D-02751465A798}"/>
              </a:ext>
            </a:extLst>
          </p:cNvPr>
          <p:cNvSpPr/>
          <p:nvPr userDrawn="1"/>
        </p:nvSpPr>
        <p:spPr>
          <a:xfrm>
            <a:off x="-3" y="15269900"/>
            <a:ext cx="36576000" cy="53041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4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93969F7-3958-4B24-B6D8-C4B33AA8D1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3484783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/>
              <a:t>— Quote source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6197F771-0913-481D-869B-6DFB927297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5756431"/>
            <a:ext cx="24258494" cy="73070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68F9CC-C8B7-072D-9E8F-4C0B4E29DEE8}"/>
              </a:ext>
            </a:extLst>
          </p:cNvPr>
          <p:cNvSpPr txBox="1"/>
          <p:nvPr userDrawn="1"/>
        </p:nvSpPr>
        <p:spPr>
          <a:xfrm rot="10800000">
            <a:off x="17582278" y="12326888"/>
            <a:ext cx="1468672" cy="45089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700">
                <a:solidFill>
                  <a:schemeClr val="tx2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rPr>
              <a:t>“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F1BC634-A05D-FFA5-EC0B-77851EA9E2EE}"/>
              </a:ext>
            </a:extLst>
          </p:cNvPr>
          <p:cNvCxnSpPr>
            <a:cxnSpLocks/>
          </p:cNvCxnSpPr>
          <p:nvPr userDrawn="1"/>
        </p:nvCxnSpPr>
        <p:spPr>
          <a:xfrm>
            <a:off x="6158753" y="15573732"/>
            <a:ext cx="11394911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EE54A0-2372-69B0-3856-8C493192BC68}"/>
              </a:ext>
            </a:extLst>
          </p:cNvPr>
          <p:cNvCxnSpPr>
            <a:cxnSpLocks/>
          </p:cNvCxnSpPr>
          <p:nvPr userDrawn="1"/>
        </p:nvCxnSpPr>
        <p:spPr>
          <a:xfrm>
            <a:off x="19022336" y="15573732"/>
            <a:ext cx="11394911" cy="0"/>
          </a:xfrm>
          <a:prstGeom prst="line">
            <a:avLst/>
          </a:prstGeom>
          <a:ln w="317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361B34A-7028-DE65-D6AA-502359D4281C}"/>
              </a:ext>
            </a:extLst>
          </p:cNvPr>
          <p:cNvGrpSpPr/>
          <p:nvPr userDrawn="1"/>
        </p:nvGrpSpPr>
        <p:grpSpPr>
          <a:xfrm>
            <a:off x="6158753" y="3847032"/>
            <a:ext cx="24258494" cy="4508927"/>
            <a:chOff x="6158753" y="6234204"/>
            <a:chExt cx="24258494" cy="4508927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6502D34-2947-1D95-0F91-CC3263D1B3E1}"/>
                </a:ext>
              </a:extLst>
            </p:cNvPr>
            <p:cNvSpPr txBox="1"/>
            <p:nvPr userDrawn="1"/>
          </p:nvSpPr>
          <p:spPr>
            <a:xfrm>
              <a:off x="17553664" y="6234204"/>
              <a:ext cx="1468672" cy="4508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700">
                  <a:solidFill>
                    <a:schemeClr val="tx2"/>
                  </a:solidFill>
                  <a:latin typeface="NVIDIA Sans Light" panose="020B0303020203020204" pitchFamily="34" charset="0"/>
                  <a:cs typeface="NVIDIA Sans Light" panose="020B0303020203020204" pitchFamily="34" charset="0"/>
                </a:rPr>
                <a:t>“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EF7F7D1-0BB5-B508-3FDD-08320D7DF61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099AB4B4-8931-58F2-D3ED-9EE02AD5692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13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black background&#10;&#10;Description automatically generated">
            <a:extLst>
              <a:ext uri="{FF2B5EF4-FFF2-40B4-BE49-F238E27FC236}">
                <a16:creationId xmlns:a16="http://schemas.microsoft.com/office/drawing/2014/main" id="{04D6DC98-C926-F690-F630-83DC835082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6576002" cy="205740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82E8B4D-D584-88C2-9F3A-92307E058DEA}"/>
              </a:ext>
            </a:extLst>
          </p:cNvPr>
          <p:cNvSpPr/>
          <p:nvPr userDrawn="1"/>
        </p:nvSpPr>
        <p:spPr>
          <a:xfrm flipV="1">
            <a:off x="-1" y="-2"/>
            <a:ext cx="36576003" cy="5284871"/>
          </a:xfrm>
          <a:prstGeom prst="rect">
            <a:avLst/>
          </a:prstGeom>
          <a:gradFill>
            <a:gsLst>
              <a:gs pos="0">
                <a:schemeClr val="bg1"/>
              </a:gs>
              <a:gs pos="67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B8C172-12C4-4983-602B-D563BAE8C767}"/>
              </a:ext>
            </a:extLst>
          </p:cNvPr>
          <p:cNvSpPr/>
          <p:nvPr userDrawn="1"/>
        </p:nvSpPr>
        <p:spPr>
          <a:xfrm>
            <a:off x="-3" y="15269900"/>
            <a:ext cx="36576000" cy="53041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4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E9D6C4-18C2-E097-61AB-4E250D3633A0}"/>
              </a:ext>
            </a:extLst>
          </p:cNvPr>
          <p:cNvSpPr/>
          <p:nvPr userDrawn="1"/>
        </p:nvSpPr>
        <p:spPr>
          <a:xfrm>
            <a:off x="0" y="4706222"/>
            <a:ext cx="36576000" cy="2151778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93969F7-3958-4B24-B6D8-C4B33AA8D1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8753" y="11846842"/>
            <a:ext cx="24258494" cy="104392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4400" i="1" cap="none" baseline="0">
                <a:solidFill>
                  <a:schemeClr val="tx2"/>
                </a:solidFill>
                <a:latin typeface="NVIDIA Sans" panose="020B0503020203020204" pitchFamily="34" charset="0"/>
                <a:cs typeface="NVIDIA Sans" panose="020B05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/>
              <a:t>— Quote source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6197F771-0913-481D-869B-6DFB927297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8754" y="7022063"/>
            <a:ext cx="24258494" cy="440322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FontTx/>
              <a:buNone/>
              <a:defRPr sz="12000" cap="none" baseline="0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/>
              <a:t>Click to add quote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A68AA5E-525F-6232-4857-9C0627C2D75C}"/>
              </a:ext>
            </a:extLst>
          </p:cNvPr>
          <p:cNvGrpSpPr/>
          <p:nvPr userDrawn="1"/>
        </p:nvGrpSpPr>
        <p:grpSpPr>
          <a:xfrm>
            <a:off x="6158753" y="5235574"/>
            <a:ext cx="24258494" cy="10102852"/>
            <a:chOff x="6158753" y="6264684"/>
            <a:chExt cx="24258494" cy="1010285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CE685B6-A390-82AA-DB6E-2C2DDAACFDC3}"/>
                </a:ext>
              </a:extLst>
            </p:cNvPr>
            <p:cNvGrpSpPr/>
            <p:nvPr userDrawn="1"/>
          </p:nvGrpSpPr>
          <p:grpSpPr>
            <a:xfrm>
              <a:off x="17553664" y="6264684"/>
              <a:ext cx="1497286" cy="10102852"/>
              <a:chOff x="17553664" y="5634063"/>
              <a:chExt cx="1497286" cy="1010285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F4ADF65-B9A0-B9BA-22C3-0672477340CC}"/>
                  </a:ext>
                </a:extLst>
              </p:cNvPr>
              <p:cNvSpPr txBox="1"/>
              <p:nvPr/>
            </p:nvSpPr>
            <p:spPr>
              <a:xfrm>
                <a:off x="17553664" y="5634063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0F4DAA7-396B-EFC1-B7FA-BD1AE6A4D454}"/>
                  </a:ext>
                </a:extLst>
              </p:cNvPr>
              <p:cNvSpPr txBox="1"/>
              <p:nvPr/>
            </p:nvSpPr>
            <p:spPr>
              <a:xfrm rot="10800000">
                <a:off x="17582278" y="11227988"/>
                <a:ext cx="1468672" cy="4508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8700">
                    <a:solidFill>
                      <a:schemeClr val="tx2"/>
                    </a:solidFill>
                    <a:latin typeface="NVIDIA Sans Light" panose="020B0303020203020204" pitchFamily="34" charset="0"/>
                    <a:cs typeface="NVIDIA Sans Light" panose="020B0303020203020204" pitchFamily="34" charset="0"/>
                  </a:rPr>
                  <a:t>“</a:t>
                </a:r>
              </a:p>
            </p:txBody>
          </p: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27AA061-DFAD-4993-9E24-D726EF9D43D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974A23C-6E0D-153F-811B-57FF6DE3B2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7454586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183AA77-BEE4-5712-48A1-3EA8C73EA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158753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0687553-94FB-E29C-ADEF-BA65FA95185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022336" y="15144241"/>
              <a:ext cx="11394911" cy="0"/>
            </a:xfrm>
            <a:prstGeom prst="line">
              <a:avLst/>
            </a:prstGeom>
            <a:ln w="317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5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540E45F-1BC0-0422-4F86-B5F4B7620E8C}"/>
              </a:ext>
            </a:extLst>
          </p:cNvPr>
          <p:cNvSpPr/>
          <p:nvPr userDrawn="1"/>
        </p:nvSpPr>
        <p:spPr>
          <a:xfrm>
            <a:off x="17204620" y="5394960"/>
            <a:ext cx="566928" cy="151790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pic>
        <p:nvPicPr>
          <p:cNvPr id="2" name="Picture 1" descr="A green and black background&#10;&#10;Description automatically generated">
            <a:extLst>
              <a:ext uri="{FF2B5EF4-FFF2-40B4-BE49-F238E27FC236}">
                <a16:creationId xmlns:a16="http://schemas.microsoft.com/office/drawing/2014/main" id="{BDCC69BF-5958-6903-A652-FBA74BD31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8" t="2671" r="52856" b="1887"/>
          <a:stretch/>
        </p:blipFill>
        <p:spPr>
          <a:xfrm>
            <a:off x="0" y="0"/>
            <a:ext cx="17151594" cy="2057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43FDBC0-A6CE-B0D3-4F4C-4AA5758150CF}"/>
              </a:ext>
            </a:extLst>
          </p:cNvPr>
          <p:cNvSpPr/>
          <p:nvPr userDrawn="1"/>
        </p:nvSpPr>
        <p:spPr>
          <a:xfrm>
            <a:off x="1" y="0"/>
            <a:ext cx="17151594" cy="20573999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430666-A193-A734-C5A2-86D4927DCA69}"/>
              </a:ext>
            </a:extLst>
          </p:cNvPr>
          <p:cNvSpPr/>
          <p:nvPr userDrawn="1"/>
        </p:nvSpPr>
        <p:spPr>
          <a:xfrm>
            <a:off x="0" y="0"/>
            <a:ext cx="17151594" cy="12235546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453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and black background&#10;&#10;Description automatically generated">
            <a:extLst>
              <a:ext uri="{FF2B5EF4-FFF2-40B4-BE49-F238E27FC236}">
                <a16:creationId xmlns:a16="http://schemas.microsoft.com/office/drawing/2014/main" id="{63DEBDB3-6A38-EF3B-586A-A7D8151E2E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4" t="19063" r="959"/>
          <a:stretch/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3A2D18A-A11E-78F7-4111-280D2BBEBAD2}"/>
              </a:ext>
            </a:extLst>
          </p:cNvPr>
          <p:cNvSpPr/>
          <p:nvPr userDrawn="1"/>
        </p:nvSpPr>
        <p:spPr>
          <a:xfrm>
            <a:off x="3413" y="3412"/>
            <a:ext cx="36572588" cy="20570588"/>
          </a:xfrm>
          <a:prstGeom prst="rect">
            <a:avLst/>
          </a:prstGeom>
          <a:gradFill>
            <a:gsLst>
              <a:gs pos="0">
                <a:schemeClr val="bg1"/>
              </a:gs>
              <a:gs pos="85000">
                <a:schemeClr val="bg1">
                  <a:alpha val="0"/>
                </a:schemeClr>
              </a:gs>
            </a:gsLst>
            <a:lin ang="2700000" scaled="0"/>
          </a:gradFill>
          <a:ln>
            <a:noFill/>
          </a:ln>
          <a:scene3d>
            <a:camera prst="orthographicFront"/>
            <a:lightRig rig="soft" dir="t">
              <a:rot lat="0" lon="0" rev="20400000"/>
            </a:lightRig>
          </a:scene3d>
          <a:sp3d prstMaterial="plastic">
            <a:bevelT w="0" h="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tIns="91440" rIns="45720" bIns="91440" rtlCol="0" anchor="ctr"/>
          <a:lstStyle/>
          <a:p>
            <a:pPr algn="ctr">
              <a:lnSpc>
                <a:spcPct val="90000"/>
              </a:lnSpc>
            </a:pP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ECEA4828-9D13-4B7D-9EF8-A254AE85F9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3866" y="1865236"/>
            <a:ext cx="18476688" cy="59436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buFontTx/>
              <a:buNone/>
              <a:defRPr lang="en-US" sz="9000" b="1" kern="0" cap="none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NVIDIA Sans" panose="020B0503020203020204" pitchFamily="34" charset="0"/>
              </a:defRPr>
            </a:lvl1pPr>
            <a:lvl2pPr marL="2562790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2pPr>
            <a:lvl3pPr marL="4883584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3pPr>
            <a:lvl4pPr marL="6933729" indent="0">
              <a:buFontTx/>
              <a:buNone/>
              <a:defRPr lang="en-US" sz="8000" b="1" kern="0" cap="all" baseline="0" dirty="0" smtClean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4pPr>
            <a:lvl5pPr marL="8471409" indent="0">
              <a:buFontTx/>
              <a:buNone/>
              <a:defRPr lang="en-US" sz="8000" b="1" kern="0" cap="all" baseline="0" dirty="0">
                <a:solidFill>
                  <a:schemeClr val="tx1"/>
                </a:solidFill>
                <a:latin typeface="NVIDIA Sans" panose="020B0503020203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D75764-16E1-7868-FB62-3FAC80FAC14C}"/>
              </a:ext>
            </a:extLst>
          </p:cNvPr>
          <p:cNvSpPr/>
          <p:nvPr userDrawn="1"/>
        </p:nvSpPr>
        <p:spPr>
          <a:xfrm>
            <a:off x="0" y="0"/>
            <a:ext cx="566928" cy="74980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1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bar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068417-0A49-4E97-BD32-9EE897037421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rgbClr val="9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491FCA0-A4E3-4331-8F3E-3CF9FC8D1D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34260" y="10771999"/>
            <a:ext cx="22733876" cy="547618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FontTx/>
              <a:buNone/>
              <a:defRPr sz="4400" cap="none" baseline="0">
                <a:solidFill>
                  <a:schemeClr val="tx1"/>
                </a:solidFill>
                <a:latin typeface="NVIDIA Sans Medium" panose="020B0603020203020204" pitchFamily="34" charset="0"/>
                <a:cs typeface="NVIDIA Sans Medium" panose="020B0603020203020204" pitchFamily="34" charset="0"/>
              </a:defRPr>
            </a:lvl1pPr>
            <a:lvl2pPr marL="2562793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2pPr>
            <a:lvl3pPr marL="4883581" indent="0" algn="l">
              <a:lnSpc>
                <a:spcPct val="90000"/>
              </a:lnSpc>
              <a:buFontTx/>
              <a:buNone/>
              <a:defRPr sz="7539" cap="all" baseline="0">
                <a:solidFill>
                  <a:schemeClr val="tx2"/>
                </a:solidFill>
                <a:latin typeface="NVIDIA Sans" panose="020B0503020203020204" pitchFamily="34" charset="0"/>
              </a:defRPr>
            </a:lvl3pPr>
            <a:lvl4pPr marL="6933729" indent="0">
              <a:buNone/>
              <a:defRPr/>
            </a:lvl4pPr>
          </a:lstStyle>
          <a:p>
            <a:pPr lvl="0"/>
            <a:r>
              <a:rPr lang="en-US"/>
              <a:t>Edit Text Style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A43FC4E-58F2-4EAD-8EB3-29B66F0FA4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260" y="9024760"/>
            <a:ext cx="22733877" cy="1754266"/>
          </a:xfrm>
          <a:prstGeom prst="rect">
            <a:avLst/>
          </a:prstGeom>
        </p:spPr>
        <p:txBody>
          <a:bodyPr/>
          <a:lstStyle>
            <a:lvl1pPr algn="l">
              <a:defRPr sz="12000" b="0" cap="none">
                <a:solidFill>
                  <a:schemeClr val="tx1"/>
                </a:solidFill>
                <a:latin typeface="NVIDIA Sans Light" panose="020B0303020203020204" pitchFamily="34" charset="0"/>
                <a:cs typeface="NVIDIA Sans Light" panose="020B0303020203020204" pitchFamily="34" charset="0"/>
              </a:defRPr>
            </a:lvl1pPr>
          </a:lstStyle>
          <a:p>
            <a:r>
              <a:rPr lang="en-US"/>
              <a:t>Click to add text</a:t>
            </a:r>
          </a:p>
        </p:txBody>
      </p:sp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760A5FC5-2CFA-4CF6-81CC-1664A29C99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3140" y="6248046"/>
            <a:ext cx="2357259" cy="235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40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black background&#10;&#10;Description automatically generated">
            <a:extLst>
              <a:ext uri="{FF2B5EF4-FFF2-40B4-BE49-F238E27FC236}">
                <a16:creationId xmlns:a16="http://schemas.microsoft.com/office/drawing/2014/main" id="{C22B51E5-0348-8589-CC2E-4817B47169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0" cy="20574000"/>
          </a:xfrm>
          <a:prstGeom prst="rect">
            <a:avLst/>
          </a:prstGeom>
        </p:spPr>
      </p:pic>
      <p:pic>
        <p:nvPicPr>
          <p:cNvPr id="6" name="Picture 5" descr="A black background with white letters&#10;&#10;Description automatically generated with low confidence">
            <a:extLst>
              <a:ext uri="{FF2B5EF4-FFF2-40B4-BE49-F238E27FC236}">
                <a16:creationId xmlns:a16="http://schemas.microsoft.com/office/drawing/2014/main" id="{753B11DF-B973-CDA7-704A-7D6E85B496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666" y="773531"/>
            <a:ext cx="8520635" cy="293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5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DC6EB70-167F-44ED-A524-383312E5C024}"/>
              </a:ext>
            </a:extLst>
          </p:cNvPr>
          <p:cNvSpPr/>
          <p:nvPr userDrawn="1"/>
        </p:nvSpPr>
        <p:spPr>
          <a:xfrm>
            <a:off x="0" y="0"/>
            <a:ext cx="36576000" cy="2057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4000" b="1" err="1">
              <a:solidFill>
                <a:schemeClr val="tx1"/>
              </a:solidFill>
              <a:latin typeface="NVIDIA Sans" panose="020B0503020203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0"/>
            <a:ext cx="31546800" cy="2514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CDDAE1-1E41-6567-BF28-38F085D04E80}"/>
              </a:ext>
            </a:extLst>
          </p:cNvPr>
          <p:cNvGrpSpPr/>
          <p:nvPr userDrawn="1"/>
        </p:nvGrpSpPr>
        <p:grpSpPr>
          <a:xfrm>
            <a:off x="34015681" y="19477636"/>
            <a:ext cx="2560319" cy="1099561"/>
            <a:chOff x="34015681" y="19477636"/>
            <a:chExt cx="2560319" cy="109956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7F41A48-02C3-527D-2DF3-DB07CAF7CD21}"/>
                </a:ext>
              </a:extLst>
            </p:cNvPr>
            <p:cNvSpPr/>
            <p:nvPr userDrawn="1"/>
          </p:nvSpPr>
          <p:spPr>
            <a:xfrm>
              <a:off x="36420552" y="19687526"/>
              <a:ext cx="155448" cy="889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 lang="en-US" sz="4000" err="1">
                <a:solidFill>
                  <a:schemeClr val="tx1"/>
                </a:solidFill>
                <a:latin typeface="NVIDIA Sans" panose="020B0503020203020204" pitchFamily="34" charset="0"/>
              </a:endParaRPr>
            </a:p>
          </p:txBody>
        </p:sp>
        <p:pic>
          <p:nvPicPr>
            <p:cNvPr id="7" name="Picture 6" descr="Logo&#10;&#10;Description automatically generated">
              <a:extLst>
                <a:ext uri="{FF2B5EF4-FFF2-40B4-BE49-F238E27FC236}">
                  <a16:creationId xmlns:a16="http://schemas.microsoft.com/office/drawing/2014/main" id="{BD9EA725-452F-71D1-B519-1EF700642F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15681" y="19477636"/>
              <a:ext cx="2159583" cy="7437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2407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750" r:id="rId3"/>
    <p:sldLayoutId id="2147483736" r:id="rId4"/>
    <p:sldLayoutId id="2147483730" r:id="rId5"/>
    <p:sldLayoutId id="2147483680" r:id="rId6"/>
    <p:sldLayoutId id="2147483682" r:id="rId7"/>
    <p:sldLayoutId id="2147483683" r:id="rId8"/>
    <p:sldLayoutId id="2147483731" r:id="rId9"/>
    <p:sldLayoutId id="2147483721" r:id="rId10"/>
    <p:sldLayoutId id="2147483734" r:id="rId11"/>
    <p:sldLayoutId id="2147483687" r:id="rId12"/>
    <p:sldLayoutId id="2147483735" r:id="rId13"/>
    <p:sldLayoutId id="2147483732" r:id="rId14"/>
    <p:sldLayoutId id="2147483720" r:id="rId15"/>
    <p:sldLayoutId id="2147483722" r:id="rId16"/>
    <p:sldLayoutId id="2147483728" r:id="rId17"/>
    <p:sldLayoutId id="2147483745" r:id="rId18"/>
    <p:sldLayoutId id="2147483743" r:id="rId19"/>
    <p:sldLayoutId id="2147483746" r:id="rId20"/>
    <p:sldLayoutId id="2147483740" r:id="rId21"/>
    <p:sldLayoutId id="2147483742" r:id="rId22"/>
    <p:sldLayoutId id="2147483741" r:id="rId23"/>
    <p:sldLayoutId id="2147483723" r:id="rId24"/>
    <p:sldLayoutId id="2147483739" r:id="rId25"/>
    <p:sldLayoutId id="2147483738" r:id="rId26"/>
    <p:sldLayoutId id="2147483744" r:id="rId27"/>
    <p:sldLayoutId id="2147483737" r:id="rId28"/>
    <p:sldLayoutId id="2147483727" r:id="rId29"/>
    <p:sldLayoutId id="2147483694" r:id="rId30"/>
    <p:sldLayoutId id="2147483747" r:id="rId31"/>
    <p:sldLayoutId id="2147483681" r:id="rId32"/>
    <p:sldLayoutId id="2147483791" r:id="rId33"/>
    <p:sldLayoutId id="2147483729" r:id="rId34"/>
    <p:sldLayoutId id="2147483672" r:id="rId35"/>
    <p:sldLayoutId id="2147483709" r:id="rId36"/>
    <p:sldLayoutId id="2147483792" r:id="rId37"/>
    <p:sldLayoutId id="2147483749" r:id="rId38"/>
    <p:sldLayoutId id="2147483676" r:id="rId39"/>
    <p:sldLayoutId id="2147483684" r:id="rId4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2743200" rtl="0" eaLnBrk="1" latinLnBrk="0" hangingPunct="1">
        <a:lnSpc>
          <a:spcPct val="90000"/>
        </a:lnSpc>
        <a:spcBef>
          <a:spcPct val="0"/>
        </a:spcBef>
        <a:buNone/>
        <a:defRPr sz="7200" b="1" kern="1200" cap="none" baseline="0">
          <a:solidFill>
            <a:schemeClr val="tx1"/>
          </a:solidFill>
          <a:latin typeface="NVIDIA Sans" panose="020B0503020203020204" pitchFamily="34" charset="0"/>
          <a:ea typeface="+mj-ea"/>
          <a:cs typeface="NVIDIA Sans" panose="020B0503020203020204" pitchFamily="34" charset="0"/>
        </a:defRPr>
      </a:lvl1pPr>
    </p:titleStyle>
    <p:bodyStyle>
      <a:lvl1pPr marL="685800" indent="-685800" algn="l" defTabSz="2743200" rtl="0" eaLnBrk="1" latinLnBrk="0" hangingPunct="1">
        <a:lnSpc>
          <a:spcPct val="90000"/>
        </a:lnSpc>
        <a:spcBef>
          <a:spcPts val="3000"/>
        </a:spcBef>
        <a:buFont typeface="NVIDIA Sans" panose="020B0503020203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0" indent="-685800" algn="l" defTabSz="2743200" rtl="0" eaLnBrk="1" latinLnBrk="0" hangingPunct="1">
        <a:lnSpc>
          <a:spcPct val="90000"/>
        </a:lnSpc>
        <a:spcBef>
          <a:spcPts val="1500"/>
        </a:spcBef>
        <a:buFont typeface="NVIDIA Sans" panose="020B0503020203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0" algn="l" defTabSz="2743200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background with yellow text&#10;&#10;AI-generated content may be incorrect.">
            <a:extLst>
              <a:ext uri="{FF2B5EF4-FFF2-40B4-BE49-F238E27FC236}">
                <a16:creationId xmlns:a16="http://schemas.microsoft.com/office/drawing/2014/main" id="{0B4D533E-C8AC-7DC9-F874-8A624B0B9C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36575979" cy="20573990"/>
          </a:xfrm>
          <a:prstGeom prst="rect">
            <a:avLst/>
          </a:prstGeom>
          <a:noFill/>
          <a:ln w="19050">
            <a:noFill/>
          </a:ln>
        </p:spPr>
      </p:pic>
    </p:spTree>
    <p:extLst>
      <p:ext uri="{BB962C8B-B14F-4D97-AF65-F5344CB8AC3E}">
        <p14:creationId xmlns:p14="http://schemas.microsoft.com/office/powerpoint/2010/main" val="188783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366F2EA-B952-1B77-613D-6DC04CE05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92FBE6-60BE-1816-3DFB-3DBA503D93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2888" y="2982913"/>
            <a:ext cx="26706512" cy="4938712"/>
          </a:xfrm>
        </p:spPr>
        <p:txBody>
          <a:bodyPr/>
          <a:lstStyle/>
          <a:p>
            <a:r>
              <a:rPr lang="en-US" dirty="0">
                <a:latin typeface="+mn-lt"/>
                <a:ea typeface="Roboto Mono" panose="00000009000000000000" pitchFamily="49" charset="0"/>
              </a:rPr>
              <a:t>How to Tame Packs, 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std::tuple</a:t>
            </a:r>
            <a:r>
              <a:rPr lang="en-US" dirty="0">
                <a:latin typeface="+mn-lt"/>
                <a:ea typeface="Roboto Mono" panose="00000009000000000000" pitchFamily="49" charset="0"/>
              </a:rPr>
              <a:t>, and the Wily 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dirty="0" err="1">
                <a:latin typeface="Roboto Mono" panose="00000009000000000000" pitchFamily="49" charset="0"/>
                <a:ea typeface="Roboto Mono" panose="00000009000000000000" pitchFamily="49" charset="0"/>
              </a:rPr>
              <a:t>integer_sequence</a:t>
            </a:r>
            <a:endParaRPr lang="en-US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5D70A76D-61D7-5B0C-CE56-A14C70D280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3012" y="7941727"/>
            <a:ext cx="19282214" cy="1703832"/>
          </a:xfrm>
        </p:spPr>
        <p:txBody>
          <a:bodyPr/>
          <a:lstStyle/>
          <a:p>
            <a:r>
              <a:rPr lang="en-US" dirty="0"/>
              <a:t>Andrei Alexandrescu |  </a:t>
            </a:r>
            <a:r>
              <a:rPr lang="en-US" dirty="0" err="1"/>
              <a:t>CppCon</a:t>
            </a:r>
            <a:r>
              <a:rPr lang="en-US"/>
              <a:t>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39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Rights as a Conference Attendee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864752-C98B-41D5-A8F0-CAAA5ACFFA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Things you can ask about any conference talk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r>
              <a:rPr lang="en-US" sz="8000" dirty="0"/>
              <a:t>Does this material help </a:t>
            </a:r>
            <a:r>
              <a:rPr lang="en-US" sz="8000" i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my AI coding assistant</a:t>
            </a:r>
            <a:r>
              <a:rPr lang="en-US" sz="8000" dirty="0"/>
              <a:t>?</a:t>
            </a:r>
          </a:p>
          <a:p>
            <a:r>
              <a:rPr lang="en-US" sz="8000" dirty="0"/>
              <a:t>Does this material help </a:t>
            </a:r>
            <a:r>
              <a:rPr lang="en-US" sz="8000" i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me</a:t>
            </a:r>
            <a:r>
              <a:rPr lang="en-US" sz="8000" dirty="0"/>
              <a:t> work with my AI coding assistant?</a:t>
            </a:r>
          </a:p>
          <a:p>
            <a:r>
              <a:rPr lang="en-US" sz="8000" dirty="0"/>
              <a:t>Can this material help with coding actual </a:t>
            </a:r>
            <a:r>
              <a:rPr lang="en-US" sz="8000" i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AI artifacts</a:t>
            </a:r>
            <a:r>
              <a:rPr lang="en-US" sz="8000" dirty="0"/>
              <a:t>?</a:t>
            </a:r>
          </a:p>
          <a:p>
            <a:pPr marL="0" indent="0">
              <a:buNone/>
            </a:pPr>
            <a:endParaRPr lang="en-US" sz="8000" dirty="0"/>
          </a:p>
          <a:p>
            <a:endParaRPr lang="en-US" sz="8000" dirty="0"/>
          </a:p>
          <a:p>
            <a:pPr marL="0" indent="0">
              <a:buNone/>
            </a:pPr>
            <a:endParaRPr lang="en-US" sz="7200" i="1" dirty="0"/>
          </a:p>
          <a:p>
            <a:pPr marL="0" indent="0">
              <a:buNone/>
            </a:pPr>
            <a:r>
              <a:rPr lang="en-US" sz="6600" i="1" dirty="0"/>
              <a:t>Reference: Forum for the Adjudication of Relevant Talks (FART), The Hague, Directive 2025/CPP-12, “Code of Rights: Attendee Protection”</a:t>
            </a:r>
          </a:p>
        </p:txBody>
      </p:sp>
    </p:spTree>
    <p:extLst>
      <p:ext uri="{BB962C8B-B14F-4D97-AF65-F5344CB8AC3E}">
        <p14:creationId xmlns:p14="http://schemas.microsoft.com/office/powerpoint/2010/main" val="78187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5724D-032A-E286-80B0-9A6F85BBF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38AE22-2493-1C69-D02F-0DD79A4405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3866" y="1865236"/>
            <a:ext cx="23051648" cy="5943600"/>
          </a:xfrm>
        </p:spPr>
        <p:txBody>
          <a:bodyPr/>
          <a:lstStyle/>
          <a:p>
            <a:r>
              <a:rPr lang="en-US" dirty="0"/>
              <a:t>MSB:</a:t>
            </a:r>
          </a:p>
          <a:p>
            <a:endParaRPr lang="en-US" dirty="0"/>
          </a:p>
          <a:p>
            <a:r>
              <a:rPr lang="en-US" dirty="0"/>
              <a:t>Please Stop Using Chatbots!</a:t>
            </a:r>
          </a:p>
          <a:p>
            <a:r>
              <a:rPr lang="en-US" sz="6000" dirty="0"/>
              <a:t>Evidence: </a:t>
            </a:r>
            <a:r>
              <a:rPr lang="en-US" sz="6000" dirty="0">
                <a:solidFill>
                  <a:srgbClr val="FAC200"/>
                </a:solidFill>
                <a:latin typeface="Roboto Mono" pitchFamily="2" charset="0"/>
                <a:ea typeface="Roboto Mono" pitchFamily="2" charset="0"/>
              </a:rPr>
              <a:t>https://</a:t>
            </a:r>
            <a:r>
              <a:rPr lang="en-US" sz="6000" dirty="0" err="1">
                <a:solidFill>
                  <a:srgbClr val="FAC200"/>
                </a:solidFill>
                <a:latin typeface="Roboto Mono" pitchFamily="2" charset="0"/>
                <a:ea typeface="Roboto Mono" pitchFamily="2" charset="0"/>
              </a:rPr>
              <a:t>github.com</a:t>
            </a:r>
            <a:r>
              <a:rPr lang="en-US" sz="6000" dirty="0">
                <a:solidFill>
                  <a:srgbClr val="FAC200"/>
                </a:solidFill>
                <a:latin typeface="Roboto Mono" pitchFamily="2" charset="0"/>
                <a:ea typeface="Roboto Mono" pitchFamily="2" charset="0"/>
              </a:rPr>
              <a:t>/NVIDIA/cccl/pull/5671</a:t>
            </a:r>
            <a:endParaRPr lang="en-US" dirty="0">
              <a:solidFill>
                <a:srgbClr val="FAC200"/>
              </a:solidFill>
              <a:latin typeface="Roboto Mono" pitchFamily="2" charset="0"/>
              <a:ea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18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864752-C98B-41D5-A8F0-CAAA5ACFFA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lIns="91440" tIns="45720" rIns="91440" bIns="45720" anchor="ctr"/>
          <a:lstStyle/>
          <a:p>
            <a:r>
              <a:rPr lang="en-US" sz="6000" dirty="0"/>
              <a:t>Tuples instrumental to AI, scientific code, accelerated math kernels</a:t>
            </a:r>
          </a:p>
          <a:p>
            <a:r>
              <a:rPr lang="en-US" sz="6000" dirty="0"/>
              <a:t>Parameter pack: a distinct kind with pariah status</a:t>
            </a:r>
          </a:p>
          <a:p>
            <a:r>
              <a:rPr lang="en-US" sz="6000" dirty="0"/>
              <a:t>Can’t assign a name to a pack, can’t treat it as a unit</a:t>
            </a:r>
            <a:endParaRPr lang="en-US" sz="5400" dirty="0"/>
          </a:p>
          <a:p>
            <a:r>
              <a:rPr lang="en-US" sz="6000" dirty="0"/>
              <a:t>Historically no means to iterate during compilation</a:t>
            </a:r>
          </a:p>
          <a:p>
            <a:pPr lvl="1"/>
            <a:r>
              <a:rPr lang="en-US" sz="5400" dirty="0"/>
              <a:t>However stay tuned for P1306 to land in C++26</a:t>
            </a:r>
          </a:p>
          <a:p>
            <a:r>
              <a:rPr lang="en-US" sz="6000" dirty="0"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sz="60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integer_sequence</a:t>
            </a:r>
            <a:r>
              <a:rPr lang="en-US" sz="6000" dirty="0"/>
              <a:t> an awkward stopgap solution</a:t>
            </a:r>
          </a:p>
          <a:p>
            <a:pPr lvl="1"/>
            <a:r>
              <a:rPr lang="en-US" sz="5400" dirty="0"/>
              <a:t>All disadvantages of packs, plus a few more</a:t>
            </a:r>
          </a:p>
        </p:txBody>
      </p:sp>
    </p:spTree>
    <p:extLst>
      <p:ext uri="{BB962C8B-B14F-4D97-AF65-F5344CB8AC3E}">
        <p14:creationId xmlns:p14="http://schemas.microsoft.com/office/powerpoint/2010/main" val="3046527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BAF90-B844-1447-4970-F83E3BF8B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34178C-4406-55DE-5C35-F430E959F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Roboto Mono" panose="00000009000000000000" pitchFamily="49" charset="0"/>
              </a:rPr>
              <a:t>Hello, 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template for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B31616-1EEB-7BFF-8F35-F6735977AC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2E27C294-243F-9858-7412-2796F34C5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lIns="91440" tIns="45720" rIns="91440" bIns="45720" anchor="ctr"/>
          <a:lstStyle/>
          <a:p>
            <a:r>
              <a:rPr lang="en-US" sz="5400" dirty="0"/>
              <a:t>In the future (C++26): </a:t>
            </a:r>
          </a:p>
          <a:p>
            <a:pPr marL="0" indent="0">
              <a:buNone/>
            </a:pPr>
            <a:endParaRPr lang="en-US" sz="54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F06292"/>
                </a:solidFill>
                <a:effectLst/>
                <a:latin typeface="Roboto Mono" pitchFamily="2" charset="0"/>
              </a:rPr>
              <a:t>// T can be an expression list, a </a:t>
            </a:r>
            <a:r>
              <a:rPr lang="en-US" sz="5400" b="0" i="0" dirty="0" err="1">
                <a:solidFill>
                  <a:srgbClr val="F06292"/>
                </a:solidFill>
                <a:effectLst/>
                <a:latin typeface="Roboto Mono" pitchFamily="2" charset="0"/>
              </a:rPr>
              <a:t>destructurable</a:t>
            </a:r>
            <a:r>
              <a:rPr lang="en-US" sz="5400" b="0" i="0" dirty="0">
                <a:solidFill>
                  <a:srgbClr val="F06292"/>
                </a:solidFill>
                <a:effectLst/>
                <a:latin typeface="Roboto Mono" pitchFamily="2" charset="0"/>
              </a:rPr>
              <a:t> (std::tuple, std::array),</a:t>
            </a:r>
            <a:endParaRPr lang="en-US" sz="5400" dirty="0">
              <a:solidFill>
                <a:srgbClr val="000000"/>
              </a:solidFill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F06292"/>
                </a:solidFill>
                <a:effectLst/>
                <a:latin typeface="Roboto Mono" pitchFamily="2" charset="0"/>
              </a:rPr>
              <a:t>// or a range with compile-time size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class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void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print_all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const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T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</a:t>
            </a:r>
            <a:r>
              <a:rPr lang="en-US" sz="54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template </a:t>
            </a:r>
            <a:r>
              <a:rPr lang="en-US" sz="5400" b="1" i="1" dirty="0">
                <a:solidFill>
                  <a:srgbClr val="4DD0E1"/>
                </a:solidFill>
                <a:effectLst/>
                <a:latin typeface="Roboto Mono" pitchFamily="2" charset="0"/>
              </a:rPr>
              <a:t>for</a:t>
            </a:r>
            <a:r>
              <a:rPr lang="en-US" sz="54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5400" b="1" i="1" dirty="0">
                <a:solidFill>
                  <a:srgbClr val="4DD0E1"/>
                </a:solidFill>
                <a:effectLst/>
                <a:latin typeface="Roboto Mono" pitchFamily="2" charset="0"/>
              </a:rPr>
              <a:t>auto&amp;&amp;</a:t>
            </a:r>
            <a:r>
              <a:rPr lang="en-US" sz="54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1" i="1" dirty="0" err="1">
                <a:solidFill>
                  <a:srgbClr val="ECEFF1"/>
                </a:solidFill>
                <a:effectLst/>
                <a:latin typeface="Roboto Mono" pitchFamily="2" charset="0"/>
              </a:rPr>
              <a:t>elem</a:t>
            </a:r>
            <a:r>
              <a:rPr lang="en-US" sz="54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 : t)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r>
              <a:rPr lang="en-US" sz="5400" b="0" i="0" dirty="0">
                <a:solidFill>
                  <a:srgbClr val="F06292"/>
                </a:solidFill>
                <a:effectLst/>
                <a:latin typeface="Roboto Mono" pitchFamily="2" charset="0"/>
              </a:rPr>
              <a:t> // or {t...} for packs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  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println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9CCC65"/>
                </a:solidFill>
                <a:effectLst/>
                <a:latin typeface="Roboto Mono" pitchFamily="2" charset="0"/>
              </a:rPr>
              <a:t>"{}"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elem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94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117EB-27E1-0180-B6AA-4B9BC7D19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7C00C8-291D-61E9-3EE6-92CF4ABE7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Roboto Mono" panose="00000009000000000000" pitchFamily="49" charset="0"/>
              </a:rPr>
              <a:t>And Hello</a:t>
            </a:r>
            <a:r>
              <a:rPr lang="en-US">
                <a:ea typeface="Roboto Mono" panose="00000009000000000000" pitchFamily="49" charset="0"/>
              </a:rPr>
              <a:t>, Um</a:t>
            </a:r>
            <a:r>
              <a:rPr lang="en-US" dirty="0">
                <a:ea typeface="Roboto Mono" panose="00000009000000000000" pitchFamily="49" charset="0"/>
              </a:rPr>
              <a:t>, “</a:t>
            </a:r>
            <a:r>
              <a:rPr lang="en-US" dirty="0"/>
              <a:t>Structured Bindings can introduce a Pack“</a:t>
            </a:r>
            <a:endParaRPr lang="en-US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908979B-2309-F3BD-9B35-AFDD0FF122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sz="5400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1AF46F70-FE4B-7896-B445-168DAF255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lIns="91440" tIns="45720" rIns="91440" bIns="45720" anchor="ctr"/>
          <a:lstStyle/>
          <a:p>
            <a:r>
              <a:rPr lang="en-US" sz="6000" dirty="0"/>
              <a:t>Also in the future (C++26): </a:t>
            </a:r>
          </a:p>
          <a:p>
            <a:pPr marL="0" indent="0">
              <a:buNone/>
            </a:pPr>
            <a:endParaRPr lang="en-US" sz="60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60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60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class</a:t>
            </a:r>
            <a:r>
              <a:rPr lang="en-US" sz="60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T</a:t>
            </a:r>
            <a:r>
              <a:rPr lang="en-US" sz="60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60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void</a:t>
            </a:r>
            <a:r>
              <a:rPr lang="en-US" sz="60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60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print_all</a:t>
            </a:r>
            <a:r>
              <a:rPr lang="en-US" sz="60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60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const</a:t>
            </a:r>
            <a:r>
              <a:rPr lang="en-US" sz="60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T</a:t>
            </a:r>
            <a:r>
              <a:rPr lang="en-US" sz="60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60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t</a:t>
            </a:r>
            <a:r>
              <a:rPr lang="en-US" sz="60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60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  </a:t>
            </a:r>
            <a:r>
              <a:rPr lang="en-US" sz="6000" b="1" i="1" dirty="0">
                <a:solidFill>
                  <a:srgbClr val="4DD0E1"/>
                </a:solidFill>
                <a:effectLst/>
                <a:latin typeface="Roboto Mono" pitchFamily="2" charset="0"/>
              </a:rPr>
              <a:t>auto&amp;</a:t>
            </a:r>
            <a:r>
              <a:rPr lang="en-US" sz="60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 [...</a:t>
            </a:r>
            <a:r>
              <a:rPr lang="en-US" sz="6000" b="1" i="1" dirty="0" err="1">
                <a:solidFill>
                  <a:srgbClr val="ECEFF1"/>
                </a:solidFill>
                <a:effectLst/>
                <a:latin typeface="Roboto Mono" pitchFamily="2" charset="0"/>
              </a:rPr>
              <a:t>elem</a:t>
            </a:r>
            <a:r>
              <a:rPr lang="en-US" sz="60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] </a:t>
            </a:r>
            <a:r>
              <a:rPr lang="en-US" sz="6000" b="1" i="1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60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 t;</a:t>
            </a:r>
            <a:endParaRPr lang="en-US" sz="6000" b="1" i="1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(</a:t>
            </a:r>
            <a:r>
              <a:rPr lang="en-US" sz="60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60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60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println</a:t>
            </a:r>
            <a:r>
              <a:rPr lang="en-US" sz="60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6000" b="0" i="0" dirty="0">
                <a:solidFill>
                  <a:srgbClr val="9CCC65"/>
                </a:solidFill>
                <a:effectLst/>
                <a:latin typeface="Roboto Mono" pitchFamily="2" charset="0"/>
              </a:rPr>
              <a:t>"{}"</a:t>
            </a:r>
            <a:r>
              <a:rPr lang="en-US" sz="60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60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elem</a:t>
            </a:r>
            <a:r>
              <a:rPr lang="en-US" sz="60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), ...);</a:t>
            </a:r>
            <a:endParaRPr lang="en-US" sz="60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60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  <a:endParaRPr lang="en-US" sz="60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53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0A5B1-D879-6790-0EC2-D3FBB8609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810290-23A0-928B-0C82-86B925091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7E0465-4BF5-4277-B27B-724D0D4F6E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A4DB73D5-FB80-9579-D7C7-0AD4625C9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lIns="91440" tIns="45720" rIns="91440" bIns="45720" anchor="ctr"/>
          <a:lstStyle/>
          <a:p>
            <a:r>
              <a:rPr lang="en-US" sz="6600" dirty="0"/>
              <a:t>General metaprogramming facilities (recommended): Boost.MP11, </a:t>
            </a:r>
            <a:r>
              <a:rPr lang="en-US" sz="6600" dirty="0" err="1"/>
              <a:t>Boost.Hana</a:t>
            </a:r>
            <a:endParaRPr lang="en-US" sz="6600" dirty="0"/>
          </a:p>
          <a:p>
            <a:r>
              <a:rPr lang="en-US" sz="6400" dirty="0"/>
              <a:t>Simple, easy to integrate primitives for iteration of packs and tuples</a:t>
            </a:r>
          </a:p>
          <a:p>
            <a:r>
              <a:rPr lang="en-US" sz="6400" dirty="0"/>
              <a:t>Optimal CPU and GPU code generation (small /fast, </a:t>
            </a:r>
            <a:r>
              <a:rPr lang="en-US" sz="6400" i="1" dirty="0"/>
              <a:t>minimize register usage</a:t>
            </a:r>
            <a:r>
              <a:rPr lang="en-US" sz="6400" dirty="0"/>
              <a:t>)</a:t>
            </a:r>
          </a:p>
          <a:p>
            <a:r>
              <a:rPr lang="en-US" sz="6400" dirty="0"/>
              <a:t>Compatibility (</a:t>
            </a:r>
            <a:r>
              <a:rPr lang="en-US" sz="6400" dirty="0">
                <a:latin typeface="Roboto Mono" panose="00000009000000000000" pitchFamily="49" charset="0"/>
                <a:ea typeface="Roboto Mono" panose="00000009000000000000" pitchFamily="49" charset="0"/>
              </a:rPr>
              <a:t>std::tuple</a:t>
            </a:r>
            <a:r>
              <a:rPr lang="en-US" sz="6400" dirty="0"/>
              <a:t>  and others on CPU, </a:t>
            </a:r>
            <a:r>
              <a:rPr lang="en-US" sz="64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cuda</a:t>
            </a:r>
            <a:r>
              <a:rPr lang="en-US" sz="6400" dirty="0">
                <a:latin typeface="Roboto Mono" panose="00000009000000000000" pitchFamily="49" charset="0"/>
                <a:ea typeface="Roboto Mono" panose="00000009000000000000" pitchFamily="49" charset="0"/>
              </a:rPr>
              <a:t>::std::tuple</a:t>
            </a:r>
            <a:r>
              <a:rPr lang="en-US" sz="6400" dirty="0"/>
              <a:t> on GPU)</a:t>
            </a:r>
          </a:p>
          <a:p>
            <a:r>
              <a:rPr lang="en-US" sz="6400" dirty="0"/>
              <a:t>Idioms to teach AI to use</a:t>
            </a:r>
          </a:p>
        </p:txBody>
      </p:sp>
    </p:spTree>
    <p:extLst>
      <p:ext uri="{BB962C8B-B14F-4D97-AF65-F5344CB8AC3E}">
        <p14:creationId xmlns:p14="http://schemas.microsoft.com/office/powerpoint/2010/main" val="1221041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732F1-CCFB-23D0-0C09-F0A57A717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1DE924-426C-8A4D-CC46-634D4947F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Roboto Mono" panose="00000009000000000000" pitchFamily="49" charset="0"/>
              </a:rPr>
              <a:t>Iterating a Tuple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3E5596-4322-024F-0961-A3CEE4E671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6ED3F24-7DC0-32FE-FC31-176ED9B18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lIns="91440" tIns="45720" rIns="91440" bIns="45720" anchor="ctr"/>
          <a:lstStyle/>
          <a:p>
            <a:r>
              <a:rPr lang="en-US" sz="6000" dirty="0"/>
              <a:t>To iterate a pack, you need a “parallel” </a:t>
            </a:r>
            <a:r>
              <a:rPr lang="en-US" sz="6000" dirty="0"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sz="60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integer_sequence</a:t>
            </a:r>
            <a:r>
              <a:rPr lang="en-US" sz="6000" dirty="0"/>
              <a:t> in tow</a:t>
            </a:r>
          </a:p>
          <a:p>
            <a:r>
              <a:rPr lang="en-US" sz="6000" dirty="0"/>
              <a:t>All AI models currently recommend code as follows:</a:t>
            </a:r>
          </a:p>
          <a:p>
            <a:pPr marL="0" indent="0">
              <a:buNone/>
            </a:pPr>
            <a:endParaRPr lang="en-US" sz="60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namespace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detail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Is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void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print_tuple_impl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const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Tuple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index_sequence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&lt;Is...&gt;)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((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cout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&lt;&lt;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(Is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==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0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?</a:t>
            </a:r>
            <a:r>
              <a:rPr lang="en-US" sz="5400" b="0" i="0" dirty="0">
                <a:solidFill>
                  <a:srgbClr val="9CCC65"/>
                </a:solidFill>
                <a:effectLst/>
                <a:latin typeface="Roboto Mono" pitchFamily="2" charset="0"/>
              </a:rPr>
              <a:t> ""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:</a:t>
            </a:r>
            <a:r>
              <a:rPr lang="en-US" sz="5400" b="0" i="0" dirty="0">
                <a:solidFill>
                  <a:srgbClr val="9CCC65"/>
                </a:solidFill>
                <a:effectLst/>
                <a:latin typeface="Roboto Mono" pitchFamily="2" charset="0"/>
              </a:rPr>
              <a:t> ", "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get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Is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&gt;(t)), ...);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Args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void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print_tuple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const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Args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...&gt;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 detail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print_tuple_impl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(t, </a:t>
            </a:r>
            <a:r>
              <a:rPr lang="en-US" sz="5400" b="0" i="1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1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1" dirty="0" err="1">
                <a:solidFill>
                  <a:srgbClr val="ECEFF1"/>
                </a:solidFill>
                <a:effectLst/>
                <a:latin typeface="Roboto Mono" pitchFamily="2" charset="0"/>
              </a:rPr>
              <a:t>index_sequence_for</a:t>
            </a:r>
            <a:r>
              <a:rPr lang="en-US" sz="5400" b="0" i="1" dirty="0">
                <a:solidFill>
                  <a:srgbClr val="4DD0E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1" dirty="0" err="1">
                <a:solidFill>
                  <a:srgbClr val="ECEFF1"/>
                </a:solidFill>
                <a:effectLst/>
                <a:latin typeface="Roboto Mono" pitchFamily="2" charset="0"/>
              </a:rPr>
              <a:t>Args</a:t>
            </a:r>
            <a:r>
              <a:rPr lang="en-US" sz="5400" b="0" i="1" dirty="0">
                <a:solidFill>
                  <a:srgbClr val="ECEFF1"/>
                </a:solidFill>
                <a:effectLst/>
                <a:latin typeface="Roboto Mono" pitchFamily="2" charset="0"/>
              </a:rPr>
              <a:t>...</a:t>
            </a:r>
            <a:r>
              <a:rPr lang="en-US" sz="5400" b="0" i="1" dirty="0">
                <a:solidFill>
                  <a:srgbClr val="4DD0E1"/>
                </a:solidFill>
                <a:effectLst/>
                <a:latin typeface="Roboto Mono" pitchFamily="2" charset="0"/>
              </a:rPr>
              <a:t>&gt;</a:t>
            </a:r>
            <a:r>
              <a:rPr lang="en-US" sz="5400" b="0" i="1" dirty="0">
                <a:solidFill>
                  <a:srgbClr val="ECEFF1"/>
                </a:solidFill>
                <a:effectLst/>
                <a:latin typeface="Roboto Mono" pitchFamily="2" charset="0"/>
              </a:rPr>
              <a:t>{}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28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09D00-606C-47EE-C8F9-98A86AB22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081897-1F76-AEB4-2572-8823D70E7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Roboto Mono" panose="00000009000000000000" pitchFamily="49" charset="0"/>
              </a:rPr>
              <a:t>Trick for Tuple Iteration (C++20+)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0AFBB2-1FFC-BB45-EADD-D284A6B4FF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192DF7A-5494-FCF3-E49B-EE99577F2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lIns="91440" tIns="45720" rIns="91440" bIns="45720" anchor="ctr"/>
          <a:lstStyle/>
          <a:p>
            <a:r>
              <a:rPr lang="en-US" sz="5400" dirty="0"/>
              <a:t>There is a “simple” way without a helper function</a:t>
            </a:r>
          </a:p>
          <a:p>
            <a:endParaRPr lang="en-US" sz="4800" b="0" i="0" dirty="0">
              <a:solidFill>
                <a:srgbClr val="4DD0E1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void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print_tuple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const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Tuple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return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[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]&lt;std::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 Is&gt;(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index_sequence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&lt;Is...&gt;)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((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cout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&lt;&lt;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(Is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==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0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?</a:t>
            </a:r>
            <a:r>
              <a:rPr lang="en-US" sz="5400" b="0" i="0" dirty="0">
                <a:solidFill>
                  <a:srgbClr val="9CCC65"/>
                </a:solidFill>
                <a:effectLst/>
                <a:latin typeface="Roboto Mono" pitchFamily="2" charset="0"/>
              </a:rPr>
              <a:t> ""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:</a:t>
            </a:r>
            <a:r>
              <a:rPr lang="en-US" sz="5400" b="0" i="0" dirty="0">
                <a:solidFill>
                  <a:srgbClr val="9CCC65"/>
                </a:solidFill>
                <a:effectLst/>
                <a:latin typeface="Roboto Mono" pitchFamily="2" charset="0"/>
              </a:rPr>
              <a:t> ", "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get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Is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&gt;(t)), ...);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make_index_sequence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tuple_size_v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&gt;&gt;());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endParaRPr lang="en-US" sz="6000" dirty="0"/>
          </a:p>
          <a:p>
            <a:r>
              <a:rPr lang="en-US" sz="5400" dirty="0"/>
              <a:t>Push the indexes pack into the local lambda</a:t>
            </a:r>
          </a:p>
          <a:p>
            <a:r>
              <a:rPr lang="en-US" sz="5400" dirty="0"/>
              <a:t>Cuts in half the number of function definitions needed for manipulating packs</a:t>
            </a:r>
          </a:p>
          <a:p>
            <a:r>
              <a:rPr lang="en-US" sz="5400" dirty="0"/>
              <a:t>(You could even put that in a… macro?!)</a:t>
            </a:r>
          </a:p>
        </p:txBody>
      </p:sp>
    </p:spTree>
    <p:extLst>
      <p:ext uri="{BB962C8B-B14F-4D97-AF65-F5344CB8AC3E}">
        <p14:creationId xmlns:p14="http://schemas.microsoft.com/office/powerpoint/2010/main" val="223585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90260-678E-1A5D-C9F2-7184E873E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7AEB6F-C17D-09D0-8C6C-4A7E34D17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Roboto Mono" panose="00000009000000000000" pitchFamily="49" charset="0"/>
              </a:rPr>
              <a:t>Trick for Tuple Iteration (C++17)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391126-AC1A-30D6-DA56-A8F2750239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Use a defaulted argument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ED321DA7-E632-7E90-E799-23A4C3C55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lIns="91440" tIns="45720" rIns="91440" bIns="4572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Is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void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print_tuple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const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Tuple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index_sequence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&lt;Is...&gt;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{})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if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sizeof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...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(Is)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!=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tuple_size_v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Tuple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&gt;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  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print_tuple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(t,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make_index_sequence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tuple_size_v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&gt;&gt;())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else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((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cout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&lt;&lt;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(Is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==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0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?</a:t>
            </a:r>
            <a:r>
              <a:rPr lang="en-US" sz="5400" b="0" i="0" dirty="0">
                <a:solidFill>
                  <a:srgbClr val="9CCC65"/>
                </a:solidFill>
                <a:effectLst/>
                <a:latin typeface="Roboto Mono" pitchFamily="2" charset="0"/>
              </a:rPr>
              <a:t> ""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:</a:t>
            </a:r>
            <a:r>
              <a:rPr lang="en-US" sz="5400" b="0" i="0" dirty="0">
                <a:solidFill>
                  <a:srgbClr val="9CCC65"/>
                </a:solidFill>
                <a:effectLst/>
                <a:latin typeface="Roboto Mono" pitchFamily="2" charset="0"/>
              </a:rPr>
              <a:t> ", "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get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Is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&gt;(t)), ...);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  <a:endParaRPr lang="en-US" sz="4800" dirty="0"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endParaRPr lang="en-US" sz="5400" dirty="0"/>
          </a:p>
          <a:p>
            <a:r>
              <a:rPr lang="en-US" sz="5400" dirty="0"/>
              <a:t>Pushes the sequence reflexively by means of a pseudo-recursive call</a:t>
            </a:r>
          </a:p>
        </p:txBody>
      </p:sp>
    </p:spTree>
    <p:extLst>
      <p:ext uri="{BB962C8B-B14F-4D97-AF65-F5344CB8AC3E}">
        <p14:creationId xmlns:p14="http://schemas.microsoft.com/office/powerpoint/2010/main" val="1871783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26B78-F91A-1539-A173-7232B639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5E19FA-E8C6-C075-AC30-D4F0503E3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Roboto Mono" panose="00000009000000000000" pitchFamily="49" charset="0"/>
              </a:rPr>
              <a:t>Disposition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A213D7-2C8D-E920-A618-F00C0C0BB3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5412F7C-59EA-757B-DAF1-51621460B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lIns="91440" tIns="45720" rIns="91440" bIns="45720" anchor="ctr"/>
          <a:lstStyle/>
          <a:p>
            <a:r>
              <a:rPr lang="en-US" sz="6600" dirty="0"/>
              <a:t>AI tools recommend the verbose version</a:t>
            </a:r>
          </a:p>
          <a:p>
            <a:pPr lvl="1"/>
            <a:r>
              <a:rPr lang="en-US" sz="6200" dirty="0"/>
              <a:t>Generally: AI is bad at creating new idioms, great at using them</a:t>
            </a:r>
          </a:p>
          <a:p>
            <a:r>
              <a:rPr lang="en-US" sz="6600" dirty="0"/>
              <a:t>Workarounds still quite bulky</a:t>
            </a:r>
          </a:p>
          <a:p>
            <a:endParaRPr lang="en-US" sz="6600" dirty="0"/>
          </a:p>
          <a:p>
            <a:r>
              <a:rPr lang="en-US" sz="6600" dirty="0"/>
              <a:t>Disposition:</a:t>
            </a:r>
          </a:p>
          <a:p>
            <a:pPr lvl="1"/>
            <a:r>
              <a:rPr lang="en-US" sz="6000" dirty="0"/>
              <a:t>Stay as far from </a:t>
            </a:r>
            <a:r>
              <a:rPr lang="en-US" sz="6000" dirty="0"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sz="60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integer_sequence</a:t>
            </a:r>
            <a:r>
              <a:rPr lang="en-US" sz="6000" dirty="0"/>
              <a:t> as possible</a:t>
            </a:r>
          </a:p>
          <a:p>
            <a:pPr lvl="1"/>
            <a:r>
              <a:rPr lang="en-US" sz="6000" dirty="0"/>
              <a:t>Build simple iteration primitives</a:t>
            </a:r>
          </a:p>
          <a:p>
            <a:pPr lvl="1"/>
            <a:r>
              <a:rPr lang="en-US" sz="6000" dirty="0"/>
              <a:t>Use primitives for fun and profit</a:t>
            </a:r>
          </a:p>
        </p:txBody>
      </p:sp>
    </p:spTree>
    <p:extLst>
      <p:ext uri="{BB962C8B-B14F-4D97-AF65-F5344CB8AC3E}">
        <p14:creationId xmlns:p14="http://schemas.microsoft.com/office/powerpoint/2010/main" val="4148969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AB642-5C1E-01F3-E384-930CC0836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5A0C727-9928-2541-EF8D-F8002CAFB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Roboto Mono" panose="00000009000000000000" pitchFamily="49" charset="0"/>
              </a:rPr>
              <a:t>For Now: Hello, 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unroll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A61C97-B38B-61E2-3284-349BEC46CE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First take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57386DF6-BA36-2B77-F4D4-7E18911C9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lIns="91440" tIns="45720" rIns="91440" bIns="4572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n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auto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unroll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#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pragma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unroll n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for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0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; 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n;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++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  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r>
              <a:rPr lang="en-US" sz="6000" dirty="0"/>
              <a:t>To use: </a:t>
            </a:r>
            <a:r>
              <a:rPr lang="en-US" sz="6000" dirty="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unroll&lt;8&gt;([](</a:t>
            </a:r>
            <a:r>
              <a:rPr lang="en-US" sz="6000" dirty="0" err="1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size_t</a:t>
            </a:r>
            <a:r>
              <a:rPr lang="en-US" sz="6000" dirty="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  <a:r>
              <a:rPr lang="en-US" sz="6000" dirty="0" err="1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</a:t>
            </a:r>
            <a:r>
              <a:rPr lang="en-US" sz="6000" dirty="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) { std::</a:t>
            </a:r>
            <a:r>
              <a:rPr lang="en-US" sz="6000" dirty="0" err="1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cout</a:t>
            </a:r>
            <a:r>
              <a:rPr lang="en-US" sz="6000" dirty="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 &lt;&lt; </a:t>
            </a:r>
            <a:r>
              <a:rPr lang="en-US" sz="6000" dirty="0" err="1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i</a:t>
            </a:r>
            <a:r>
              <a:rPr lang="en-US" sz="6000" dirty="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; });</a:t>
            </a:r>
          </a:p>
          <a:p>
            <a:r>
              <a:rPr lang="en-US" sz="6000" dirty="0"/>
              <a:t>Nonstandard</a:t>
            </a:r>
          </a:p>
          <a:p>
            <a:r>
              <a:rPr lang="en-US" sz="6000" dirty="0"/>
              <a:t>Compiler still has latitude, subject to vendor, version, flags…</a:t>
            </a:r>
          </a:p>
          <a:p>
            <a:r>
              <a:rPr lang="en-US" sz="60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Cannot use iteration index as a compile-time constant – e.g., no tuple iteration</a:t>
            </a:r>
          </a:p>
        </p:txBody>
      </p:sp>
    </p:spTree>
    <p:extLst>
      <p:ext uri="{BB962C8B-B14F-4D97-AF65-F5344CB8AC3E}">
        <p14:creationId xmlns:p14="http://schemas.microsoft.com/office/powerpoint/2010/main" val="211184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5F41C-F0CF-371D-4BD2-546CF61EC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050B21-D903-8F99-784C-4DB8F1D26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unroll</a:t>
            </a:r>
            <a:r>
              <a:rPr lang="en-US" dirty="0">
                <a:latin typeface="+mn-lt"/>
                <a:ea typeface="Roboto Mono" panose="00000009000000000000" pitchFamily="49" charset="0"/>
              </a:rPr>
              <a:t>, S</a:t>
            </a:r>
            <a:r>
              <a:rPr lang="en-US" dirty="0">
                <a:ea typeface="Roboto Mono" panose="00000009000000000000" pitchFamily="49" charset="0"/>
              </a:rPr>
              <a:t>econd Take</a:t>
            </a:r>
            <a:endParaRPr lang="en-US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881EE5-FB09-22EC-45FF-82B3F0A5CE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Still bad!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B978A7CD-D6F9-0047-BB1C-3AF847678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lIns="91440" tIns="45720" rIns="91440" bIns="4572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n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void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unroll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index_sequence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...&gt;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{})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if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sizeof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...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!=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n)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return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unroll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forward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&gt;(f),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make_index_sequence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&gt;());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else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), ...);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rgbClr val="ECEFF1"/>
                </a:solidFill>
                <a:latin typeface="Roboto Mono" pitchFamily="2" charset="0"/>
              </a:rPr>
              <a:t>...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t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::tuple{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1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“two”};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unroll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2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&gt;([&amp;](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FBC02D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cout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&lt;&lt;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; });</a:t>
            </a:r>
            <a:r>
              <a:rPr lang="en-US" sz="5400" b="0" i="0" dirty="0">
                <a:solidFill>
                  <a:srgbClr val="F06292"/>
                </a:solidFill>
                <a:effectLst/>
                <a:latin typeface="Roboto Mono" pitchFamily="2" charset="0"/>
              </a:rPr>
              <a:t>               // fine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unroll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2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&gt;([&amp;](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FBC02D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cout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get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&gt;(t); });</a:t>
            </a:r>
            <a:r>
              <a:rPr lang="en-US" sz="5400" b="0" i="0" dirty="0">
                <a:solidFill>
                  <a:srgbClr val="F06292"/>
                </a:solidFill>
                <a:effectLst/>
                <a:latin typeface="Roboto Mono" pitchFamily="2" charset="0"/>
              </a:rPr>
              <a:t>  // ERROR!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97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321B5-FFB9-7B57-9D74-E2621CCA4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97362-A5CA-2C84-B1B5-F05B2D5E5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Roboto Mono" panose="00000009000000000000" pitchFamily="49" charset="0"/>
              </a:rPr>
              <a:t>Working 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unroll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6D1523-C376-73A6-8213-CEF2515B9F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µidea: pass an 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dirty="0" err="1">
                <a:latin typeface="Roboto Mono" panose="00000009000000000000" pitchFamily="49" charset="0"/>
                <a:ea typeface="Roboto Mono" panose="00000009000000000000" pitchFamily="49" charset="0"/>
              </a:rPr>
              <a:t>integral_constant</a:t>
            </a:r>
            <a:r>
              <a:rPr lang="en-US" dirty="0"/>
              <a:t> – conversion operator is </a:t>
            </a:r>
            <a:r>
              <a:rPr lang="en-US" dirty="0" err="1">
                <a:latin typeface="Roboto Mono" panose="00000009000000000000" pitchFamily="49" charset="0"/>
                <a:ea typeface="Roboto Mono" panose="00000009000000000000" pitchFamily="49" charset="0"/>
              </a:rPr>
              <a:t>constexpr</a:t>
            </a:r>
            <a:r>
              <a:rPr lang="en-US" dirty="0"/>
              <a:t>!</a:t>
            </a:r>
          </a:p>
          <a:p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989CBC9B-1AF7-A106-92A2-C57A178C0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8663" y="4846638"/>
            <a:ext cx="31546800" cy="13650912"/>
          </a:xfrm>
        </p:spPr>
        <p:txBody>
          <a:bodyPr lIns="91440" tIns="45720" rIns="91440" bIns="4572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n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void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unroll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index_sequence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...&gt;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{})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if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sizeof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...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!=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n)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return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unroll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forward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&gt;(f),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make_index_sequence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&gt;());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else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integral_constant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&gt;()), ...);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rgbClr val="ECEFF1"/>
                </a:solidFill>
                <a:latin typeface="Roboto Mono" pitchFamily="2" charset="0"/>
              </a:rPr>
              <a:t>...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t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::tuple{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1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“two”};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unroll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2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&gt;([&amp;](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FBC02D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cout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&lt;&lt;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; });</a:t>
            </a:r>
            <a:r>
              <a:rPr lang="en-US" sz="5400" b="0" i="0" dirty="0">
                <a:solidFill>
                  <a:srgbClr val="F06292"/>
                </a:solidFill>
                <a:effectLst/>
                <a:latin typeface="Roboto Mono" pitchFamily="2" charset="0"/>
              </a:rPr>
              <a:t>               // OK!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unroll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2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&gt;([&amp;](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FBC02D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cout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get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&gt;(t); });</a:t>
            </a:r>
            <a:r>
              <a:rPr lang="en-US" sz="5400" b="0" i="0" dirty="0">
                <a:solidFill>
                  <a:srgbClr val="F06292"/>
                </a:solidFill>
                <a:effectLst/>
                <a:latin typeface="Roboto Mono" pitchFamily="2" charset="0"/>
              </a:rPr>
              <a:t>  // OK!!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68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A89B8ED-DE4C-BA14-AC2E-E8618A30AA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Barry Revzin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2B7E5-FF33-59C0-C6D7-46DDF30328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Exactly thirty-five people had this idea at exactly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27478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D90D7-9BB8-BEF8-3535-48DCB7AA0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E1D581-0605-56B7-A8C9-5A0C78650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Roboto Mono" panose="00000009000000000000" pitchFamily="49" charset="0"/>
              </a:rPr>
              <a:t>TMI: Too Much Iteration (Sometimes)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0C792D-F79A-D24E-44EC-4C0ACEA23A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5B0C358-9FCD-C634-BEFF-03283B1CA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lIns="91440" tIns="45720" rIns="91440" bIns="45720" anchor="ctr"/>
          <a:lstStyle/>
          <a:p>
            <a:r>
              <a:rPr lang="en-US" sz="6600" dirty="0"/>
              <a:t>Consider finding a matching element in an </a:t>
            </a:r>
            <a:r>
              <a:rPr lang="en-US" sz="6600" dirty="0">
                <a:latin typeface="Roboto Mono" panose="00000009000000000000" pitchFamily="49" charset="0"/>
                <a:ea typeface="Roboto Mono" panose="00000009000000000000" pitchFamily="49" charset="0"/>
              </a:rPr>
              <a:t>std::array</a:t>
            </a:r>
            <a:r>
              <a:rPr lang="en-US" sz="6600" dirty="0"/>
              <a:t>:</a:t>
            </a:r>
          </a:p>
          <a:p>
            <a:pPr marL="0" indent="0">
              <a:buNone/>
            </a:pPr>
            <a:endParaRPr lang="en-US" sz="6600" dirty="0"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algn="l">
              <a:lnSpc>
                <a:spcPts val="6075"/>
              </a:lnSpc>
              <a:buNone/>
            </a:pPr>
            <a:r>
              <a:rPr lang="en-US" sz="66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a </a:t>
            </a:r>
            <a:r>
              <a:rPr lang="en-US" sz="66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66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::array</a:t>
            </a:r>
            <a:r>
              <a:rPr lang="en-US" sz="66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</a:t>
            </a:r>
            <a:r>
              <a:rPr lang="en-US" sz="66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5</a:t>
            </a:r>
            <a:r>
              <a:rPr lang="en-US" sz="66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&gt;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{</a:t>
            </a:r>
            <a:r>
              <a:rPr lang="en-US" sz="66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1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66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5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66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2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66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4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66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3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};</a:t>
            </a:r>
            <a:endParaRPr lang="en-US" sz="6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075"/>
              </a:lnSpc>
              <a:buNone/>
            </a:pPr>
            <a:r>
              <a:rPr lang="en-US" sz="66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66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66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66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a.</a:t>
            </a:r>
            <a:r>
              <a:rPr lang="en-US" sz="66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size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();</a:t>
            </a:r>
            <a:endParaRPr lang="en-US" sz="6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075"/>
              </a:lnSpc>
              <a:buNone/>
            </a:pPr>
            <a:r>
              <a:rPr lang="en-US" sz="66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unroll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66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a.</a:t>
            </a:r>
            <a:r>
              <a:rPr lang="en-US" sz="66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size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()&gt;([&amp;](</a:t>
            </a:r>
            <a:r>
              <a:rPr lang="en-US" sz="66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66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j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 </a:t>
            </a:r>
            <a:r>
              <a:rPr lang="en-US" sz="66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if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(a[j] </a:t>
            </a:r>
            <a:r>
              <a:rPr lang="en-US" sz="66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==</a:t>
            </a:r>
            <a:r>
              <a:rPr lang="en-US" sz="66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42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</a:t>
            </a:r>
            <a:r>
              <a:rPr lang="en-US" sz="66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66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j; });</a:t>
            </a:r>
            <a:endParaRPr lang="en-US" sz="6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>
              <a:buNone/>
            </a:pPr>
            <a:endParaRPr lang="en-US" sz="6600" dirty="0"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sz="6600" dirty="0"/>
              <a:t>Will iterate all elements of the array compulsively</a:t>
            </a:r>
          </a:p>
          <a:p>
            <a:r>
              <a:rPr lang="en-US" sz="6600" dirty="0"/>
              <a:t>Matches the last element (extra testing or backward iteration needed to match first)</a:t>
            </a:r>
          </a:p>
          <a:p>
            <a:r>
              <a:rPr lang="en-US" sz="6600" dirty="0"/>
              <a:t>Upon return must check </a:t>
            </a:r>
            <a:r>
              <a:rPr lang="en-US" sz="66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i</a:t>
            </a:r>
            <a:r>
              <a:rPr lang="en-US" sz="6600" dirty="0"/>
              <a:t> once again to figure whether there was a match</a:t>
            </a:r>
          </a:p>
          <a:p>
            <a:r>
              <a:rPr lang="en-US" sz="6600" dirty="0"/>
              <a:t>Hardly a pinnacle of efficiency!</a:t>
            </a:r>
          </a:p>
        </p:txBody>
      </p:sp>
    </p:spTree>
    <p:extLst>
      <p:ext uri="{BB962C8B-B14F-4D97-AF65-F5344CB8AC3E}">
        <p14:creationId xmlns:p14="http://schemas.microsoft.com/office/powerpoint/2010/main" val="391652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829E6-73EB-CCDA-1032-F7C84419D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B3F5DF-4E9F-08D7-C5F1-E25AE9C65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Roboto Mono" panose="00000009000000000000" pitchFamily="49" charset="0"/>
              </a:rPr>
              <a:t>Alternative 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unroll</a:t>
            </a:r>
            <a:r>
              <a:rPr lang="en-US" dirty="0">
                <a:latin typeface="+mn-lt"/>
                <a:ea typeface="Roboto Mono" panose="00000009000000000000" pitchFamily="49" charset="0"/>
              </a:rPr>
              <a:t>: 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bool</a:t>
            </a:r>
            <a:r>
              <a:rPr lang="en-US" dirty="0">
                <a:latin typeface="+mn-lt"/>
                <a:ea typeface="Roboto Mono" panose="00000009000000000000" pitchFamily="49" charset="0"/>
              </a:rPr>
              <a:t>-returning lambda</a:t>
            </a:r>
            <a:endParaRPr lang="en-US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8ABFB99-4C7F-B1D7-586A-2586B64A2E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Terminate iteration by returning false, information passed upstream</a:t>
            </a:r>
          </a:p>
          <a:p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9F52B7ED-4661-BBBE-30B6-7CD9ED9B8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lIns="91440" tIns="45720" rIns="91440" bIns="4572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n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F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 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auto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unroll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f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index_sequence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...&gt;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{}) {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if 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sizeof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...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48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!=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n) {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return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unroll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forward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&gt;(f), 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make_index_sequence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&gt;());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else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return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integral_constant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&gt;())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...);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dirty="0">
                <a:solidFill>
                  <a:srgbClr val="ECEFF1"/>
                </a:solidFill>
                <a:latin typeface="Roboto Mono" pitchFamily="2" charset="0"/>
              </a:rPr>
              <a:t>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if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!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unroll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a.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size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()&gt;([&amp;](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j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return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a[j]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==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42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?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48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j, 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false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: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true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; }) {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... found ...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21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µidea: Lambda Return Type Decides Early Exit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864752-C98B-41D5-A8F0-CAAA5ACFFA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ea typeface="Roboto Mono" panose="00000009000000000000" pitchFamily="49" charset="0"/>
              </a:rPr>
              <a:t>¿</a:t>
            </a:r>
            <a:r>
              <a:rPr lang="en-US" dirty="0" err="1">
                <a:ea typeface="Roboto Mono" panose="00000009000000000000" pitchFamily="49" charset="0"/>
              </a:rPr>
              <a:t>Porque</a:t>
            </a:r>
            <a:r>
              <a:rPr lang="en-US" dirty="0">
                <a:ea typeface="Roboto Mono" panose="00000009000000000000" pitchFamily="49" charset="0"/>
              </a:rPr>
              <a:t> No Los Dos?</a:t>
            </a:r>
            <a:endParaRPr lang="en-US" dirty="0">
              <a:latin typeface="+mn-lt"/>
              <a:ea typeface="Roboto Mono" panose="00000009000000000000" pitchFamily="49" charset="0"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6200" y="4846638"/>
            <a:ext cx="31546800" cy="13650912"/>
          </a:xfrm>
        </p:spPr>
        <p:txBody>
          <a:bodyPr anchor="ctr"/>
          <a:lstStyle/>
          <a:p>
            <a:r>
              <a:rPr lang="en-US" sz="6600" dirty="0"/>
              <a:t>Could define two 99% identical functions: </a:t>
            </a:r>
            <a:r>
              <a:rPr lang="en-US" sz="6600" dirty="0">
                <a:latin typeface="Roboto Mono" panose="00000009000000000000" pitchFamily="49" charset="0"/>
                <a:ea typeface="Roboto Mono" panose="00000009000000000000" pitchFamily="49" charset="0"/>
              </a:rPr>
              <a:t>unroll</a:t>
            </a:r>
            <a:r>
              <a:rPr lang="en-US" sz="6600" dirty="0"/>
              <a:t> and </a:t>
            </a:r>
            <a:r>
              <a:rPr lang="en-US" sz="66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unroll_while</a:t>
            </a:r>
            <a:r>
              <a:rPr lang="en-US" sz="6600" dirty="0"/>
              <a:t> 🤮</a:t>
            </a:r>
          </a:p>
          <a:p>
            <a:r>
              <a:rPr lang="en-US" sz="6600" dirty="0">
                <a:latin typeface="+mn-lt"/>
                <a:ea typeface="Roboto Mono" panose="00000009000000000000" pitchFamily="49" charset="0"/>
              </a:rPr>
              <a:t>Introspect the lambda to figure out if it “wants” to end early or not</a:t>
            </a:r>
          </a:p>
          <a:p>
            <a:pPr lvl="1"/>
            <a:r>
              <a:rPr lang="en-US" sz="6000" dirty="0">
                <a:latin typeface="Roboto Mono" panose="00000009000000000000" pitchFamily="49" charset="0"/>
                <a:ea typeface="Roboto Mono" panose="00000009000000000000" pitchFamily="49" charset="0"/>
              </a:rPr>
              <a:t>void</a:t>
            </a:r>
            <a:r>
              <a:rPr lang="en-US" sz="6000" dirty="0">
                <a:latin typeface="+mn-lt"/>
                <a:ea typeface="Roboto Mono" panose="00000009000000000000" pitchFamily="49" charset="0"/>
              </a:rPr>
              <a:t>: “Go all the way!”</a:t>
            </a:r>
          </a:p>
          <a:p>
            <a:pPr lvl="1"/>
            <a:r>
              <a:rPr lang="en-US" sz="6000" dirty="0">
                <a:latin typeface="Roboto Mono" panose="00000009000000000000" pitchFamily="49" charset="0"/>
                <a:ea typeface="Roboto Mono" panose="00000009000000000000" pitchFamily="49" charset="0"/>
              </a:rPr>
              <a:t>bool</a:t>
            </a:r>
            <a:r>
              <a:rPr lang="en-US" sz="6000" dirty="0">
                <a:latin typeface="+mn-lt"/>
                <a:ea typeface="Roboto Mono" panose="00000009000000000000" pitchFamily="49" charset="0"/>
              </a:rPr>
              <a:t>: “Stop if I return false!”</a:t>
            </a:r>
          </a:p>
          <a:p>
            <a:r>
              <a:rPr lang="en-US" sz="6000" dirty="0">
                <a:latin typeface="+mn-lt"/>
                <a:ea typeface="Roboto Mono" panose="00000009000000000000" pitchFamily="49" charset="0"/>
              </a:rPr>
              <a:t>“Poor person’s introspection” can do that today</a:t>
            </a:r>
          </a:p>
          <a:p>
            <a:r>
              <a:rPr lang="en-US" sz="6000" dirty="0">
                <a:latin typeface="+mn-lt"/>
                <a:ea typeface="Roboto Mono" panose="00000009000000000000" pitchFamily="49" charset="0"/>
              </a:rPr>
              <a:t>Imagine what we can do with true introspection!</a:t>
            </a:r>
          </a:p>
          <a:p>
            <a:pPr lvl="1"/>
            <a:r>
              <a:rPr lang="en-US" sz="6000" dirty="0">
                <a:latin typeface="+mn-lt"/>
                <a:ea typeface="Roboto Mono" panose="00000009000000000000" pitchFamily="49" charset="0"/>
              </a:rPr>
              <a:t>Define and use annotations on the lambda</a:t>
            </a:r>
          </a:p>
          <a:p>
            <a:pPr lvl="1"/>
            <a:r>
              <a:rPr lang="en-US" sz="6000" dirty="0">
                <a:latin typeface="+mn-lt"/>
                <a:ea typeface="Roboto Mono" panose="00000009000000000000" pitchFamily="49" charset="0"/>
              </a:rPr>
              <a:t>Novel combinations of lambda parameters</a:t>
            </a:r>
          </a:p>
          <a:p>
            <a:pPr lvl="1"/>
            <a:r>
              <a:rPr lang="en-US" sz="6000" dirty="0">
                <a:latin typeface="+mn-lt"/>
                <a:ea typeface="Roboto Mono" panose="00000009000000000000" pitchFamily="49" charset="0"/>
              </a:rPr>
              <a:t>Different ways of iteration (backwards, spiral, …)</a:t>
            </a:r>
          </a:p>
        </p:txBody>
      </p:sp>
    </p:spTree>
    <p:extLst>
      <p:ext uri="{BB962C8B-B14F-4D97-AF65-F5344CB8AC3E}">
        <p14:creationId xmlns:p14="http://schemas.microsoft.com/office/powerpoint/2010/main" val="66745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74BC-E890-CF3A-B0D8-3EE78DBCC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B138C1-047C-BA90-FBB6-A2CFA4C8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µidea: Lambda Return Type Decides Early Exit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31C592-E5E3-43B4-9322-CC8AAB137B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ea typeface="Roboto Mono" panose="00000009000000000000" pitchFamily="49" charset="0"/>
              </a:rPr>
              <a:t>¿</a:t>
            </a:r>
            <a:r>
              <a:rPr lang="en-US" dirty="0" err="1">
                <a:ea typeface="Roboto Mono" panose="00000009000000000000" pitchFamily="49" charset="0"/>
              </a:rPr>
              <a:t>Porque</a:t>
            </a:r>
            <a:r>
              <a:rPr lang="en-US" dirty="0">
                <a:ea typeface="Roboto Mono" panose="00000009000000000000" pitchFamily="49" charset="0"/>
              </a:rPr>
              <a:t> No Los Dos?</a:t>
            </a:r>
            <a:endParaRPr lang="en-US" dirty="0">
              <a:latin typeface="+mn-lt"/>
              <a:ea typeface="Roboto Mono" panose="00000009000000000000" pitchFamily="49" charset="0"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A8454CA9-931A-450F-0486-14ACA34D1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6200" y="4846638"/>
            <a:ext cx="31546800" cy="13650912"/>
          </a:xfrm>
        </p:spPr>
        <p:txBody>
          <a:bodyPr anchor="ctr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n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F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 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auto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unroll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f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index_sequence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...&gt;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index_sequence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&lt;&gt;()) {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if 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sizeof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...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48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!=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n) {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return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unroll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forward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&gt;(f), 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make_index_sequence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&gt;());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else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using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result_t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= 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decltype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integral_constant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0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&gt;()));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1" i="1" dirty="0">
                <a:solidFill>
                  <a:srgbClr val="4DD0E1"/>
                </a:solidFill>
                <a:effectLst/>
                <a:latin typeface="Roboto Mono" pitchFamily="2" charset="0"/>
              </a:rPr>
              <a:t>    if </a:t>
            </a:r>
            <a:r>
              <a:rPr lang="en-US" sz="4800" b="1" i="1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4800" b="1" i="1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1" i="1" dirty="0" err="1">
                <a:solidFill>
                  <a:srgbClr val="ECEFF1"/>
                </a:solidFill>
                <a:effectLst/>
                <a:latin typeface="Roboto Mono" pitchFamily="2" charset="0"/>
              </a:rPr>
              <a:t>is_</a:t>
            </a:r>
            <a:r>
              <a:rPr lang="en-US" sz="4800" b="1" i="1" dirty="0" err="1">
                <a:solidFill>
                  <a:srgbClr val="ECEFF1"/>
                </a:solidFill>
                <a:latin typeface="Roboto Mono" pitchFamily="2" charset="0"/>
              </a:rPr>
              <a:t>void</a:t>
            </a:r>
            <a:r>
              <a:rPr lang="en-US" sz="4800" b="1" i="1" dirty="0" err="1">
                <a:solidFill>
                  <a:srgbClr val="ECEFF1"/>
                </a:solidFill>
                <a:effectLst/>
                <a:latin typeface="Roboto Mono" pitchFamily="2" charset="0"/>
              </a:rPr>
              <a:t>_v</a:t>
            </a:r>
            <a:r>
              <a:rPr lang="en-US" sz="4800" b="1" i="1" dirty="0">
                <a:solidFill>
                  <a:srgbClr val="4DD0E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1" i="1" dirty="0" err="1">
                <a:solidFill>
                  <a:srgbClr val="ECEFF1"/>
                </a:solidFill>
                <a:effectLst/>
                <a:latin typeface="Roboto Mono" pitchFamily="2" charset="0"/>
              </a:rPr>
              <a:t>result_t</a:t>
            </a:r>
            <a:r>
              <a:rPr lang="en-US" sz="4800" b="1" i="1" dirty="0">
                <a:solidFill>
                  <a:srgbClr val="4DD0E1"/>
                </a:solidFill>
                <a:effectLst/>
                <a:latin typeface="Roboto Mono" pitchFamily="2" charset="0"/>
              </a:rPr>
              <a:t>&gt;</a:t>
            </a: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4800" b="1" i="1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      </a:t>
            </a:r>
            <a:r>
              <a:rPr lang="en-US" sz="4800" b="1" i="1" dirty="0">
                <a:solidFill>
                  <a:srgbClr val="4DD0E1"/>
                </a:solidFill>
                <a:latin typeface="Roboto Mono" pitchFamily="2" charset="0"/>
              </a:rPr>
              <a:t>return</a:t>
            </a: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4800" b="1" i="1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4800" b="1" i="1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1" i="1" dirty="0" err="1">
                <a:solidFill>
                  <a:srgbClr val="CE93D8"/>
                </a:solidFill>
                <a:effectLst/>
                <a:latin typeface="Roboto Mono" pitchFamily="2" charset="0"/>
              </a:rPr>
              <a:t>integral_constant</a:t>
            </a: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1" i="1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1" i="1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&gt;()), ...);</a:t>
            </a:r>
            <a:endParaRPr lang="en-US" sz="4800" b="1" i="1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    } </a:t>
            </a:r>
            <a:r>
              <a:rPr lang="en-US" sz="4800" b="1" i="1" dirty="0">
                <a:solidFill>
                  <a:srgbClr val="4DD0E1"/>
                </a:solidFill>
                <a:effectLst/>
                <a:latin typeface="Roboto Mono" pitchFamily="2" charset="0"/>
              </a:rPr>
              <a:t>else</a:t>
            </a: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endParaRPr lang="en-US" sz="4800" b="1" i="1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1" i="1" dirty="0">
                <a:solidFill>
                  <a:srgbClr val="ECEFF1"/>
                </a:solidFill>
                <a:latin typeface="Roboto Mono" pitchFamily="2" charset="0"/>
              </a:rPr>
              <a:t>	     </a:t>
            </a:r>
            <a:r>
              <a:rPr lang="en-US" sz="4800" b="1" i="1" dirty="0">
                <a:solidFill>
                  <a:srgbClr val="4DD0E1"/>
                </a:solidFill>
                <a:latin typeface="Roboto Mono" pitchFamily="2" charset="0"/>
              </a:rPr>
              <a:t>return</a:t>
            </a:r>
            <a:r>
              <a:rPr lang="en-US" sz="4800" b="1" i="1" dirty="0">
                <a:solidFill>
                  <a:srgbClr val="ECEFF1"/>
                </a:solidFill>
                <a:latin typeface="Roboto Mono" pitchFamily="2" charset="0"/>
              </a:rPr>
              <a:t> (</a:t>
            </a:r>
            <a:r>
              <a:rPr lang="en-US" sz="4800" b="1" i="1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4800" b="1" i="1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1" i="1" dirty="0" err="1">
                <a:solidFill>
                  <a:srgbClr val="CE93D8"/>
                </a:solidFill>
                <a:effectLst/>
                <a:latin typeface="Roboto Mono" pitchFamily="2" charset="0"/>
              </a:rPr>
              <a:t>integral_constant</a:t>
            </a: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1" i="1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1" i="1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&gt;()) </a:t>
            </a:r>
            <a:r>
              <a:rPr lang="en-US" sz="4800" b="1" i="1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 ...);</a:t>
            </a:r>
            <a:endParaRPr lang="en-US" sz="4800" b="1" i="1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1" i="1" dirty="0">
                <a:solidFill>
                  <a:srgbClr val="ECEFF1"/>
                </a:solidFill>
                <a:effectLst/>
                <a:latin typeface="Roboto Mono" pitchFamily="2" charset="0"/>
              </a:rPr>
              <a:t>    }</a:t>
            </a:r>
            <a:endParaRPr lang="en-US" sz="4800" b="1" i="1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20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ollage of a person">
            <a:extLst>
              <a:ext uri="{FF2B5EF4-FFF2-40B4-BE49-F238E27FC236}">
                <a16:creationId xmlns:a16="http://schemas.microsoft.com/office/drawing/2014/main" id="{E69BB1D6-96A3-03EB-5FA4-9ABDD174D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3118" y="0"/>
            <a:ext cx="14789763" cy="20573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81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B4E6D-FEC8-F4A7-BE58-F808F87BC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EE960D-24CB-8EC9-16F3-00905A92D3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Let’s Also </a:t>
            </a:r>
            <a:r>
              <a:rPr lang="en-US" i="1" dirty="0"/>
              <a:t>Create</a:t>
            </a:r>
            <a:r>
              <a:rPr lang="en-US" dirty="0"/>
              <a:t> Some</a:t>
            </a:r>
          </a:p>
        </p:txBody>
      </p:sp>
    </p:spTree>
    <p:extLst>
      <p:ext uri="{BB962C8B-B14F-4D97-AF65-F5344CB8AC3E}">
        <p14:creationId xmlns:p14="http://schemas.microsoft.com/office/powerpoint/2010/main" val="393057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FB5A-0C5E-8D5F-EFA1-39D5ED77A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B6077B-4D2F-B943-7D82-6C5FE3CA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Roboto Mono" panose="00000009000000000000" pitchFamily="49" charset="0"/>
              </a:rPr>
              <a:t>A Filtering </a:t>
            </a:r>
            <a:r>
              <a:rPr lang="en-US" dirty="0" err="1">
                <a:latin typeface="Roboto Mono" panose="00000009000000000000" pitchFamily="49" charset="0"/>
                <a:ea typeface="Roboto Mono" panose="00000009000000000000" pitchFamily="49" charset="0"/>
              </a:rPr>
              <a:t>make_tuple</a:t>
            </a:r>
            <a:endParaRPr lang="en-US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63D55C-0D9B-703F-6A95-E5E56C4010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µidea: define and use a type that </a:t>
            </a:r>
            <a:r>
              <a:rPr lang="en-US" i="1" dirty="0"/>
              <a:t>refuses to be a field!</a:t>
            </a:r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1A8DA1A6-D953-3F20-CB32-4011F18E7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lIns="91440" tIns="45720" rIns="91440" bIns="45720" anchor="ctr"/>
          <a:lstStyle/>
          <a:p>
            <a:r>
              <a:rPr lang="en-US" sz="7200" dirty="0"/>
              <a:t>Difficult to “filter” a pack while putting in a tuple</a:t>
            </a:r>
          </a:p>
          <a:p>
            <a:pPr lvl="1"/>
            <a:r>
              <a:rPr lang="en-US" sz="6600" dirty="0"/>
              <a:t>Inefficient to filter it after already in the tuple</a:t>
            </a:r>
            <a:endParaRPr lang="en-US" sz="7200" i="1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highlight>
                  <a:srgbClr val="000080"/>
                </a:highlight>
                <a:latin typeface="Roboto Mono" pitchFamily="2" charset="0"/>
              </a:rPr>
              <a:t>struct</a:t>
            </a:r>
            <a:r>
              <a:rPr lang="en-US" sz="5400" b="0" i="0" dirty="0">
                <a:solidFill>
                  <a:srgbClr val="CE93D8"/>
                </a:solidFill>
                <a:effectLst/>
                <a:highlight>
                  <a:srgbClr val="000080"/>
                </a:highlight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CE93D8"/>
                </a:solidFill>
                <a:effectLst/>
                <a:highlight>
                  <a:srgbClr val="000080"/>
                </a:highlight>
                <a:latin typeface="Roboto Mono" pitchFamily="2" charset="0"/>
              </a:rPr>
              <a:t>null_field</a:t>
            </a:r>
            <a:r>
              <a:rPr lang="en-US" sz="5400" b="0" i="0" dirty="0">
                <a:solidFill>
                  <a:srgbClr val="ECEFF1"/>
                </a:solidFill>
                <a:effectLst/>
                <a:highlight>
                  <a:srgbClr val="000080"/>
                </a:highlight>
                <a:latin typeface="Roboto Mono" pitchFamily="2" charset="0"/>
              </a:rPr>
              <a:t> {};</a:t>
            </a:r>
            <a:endParaRPr lang="en-US" sz="5400" b="0" i="0" dirty="0">
              <a:solidFill>
                <a:srgbClr val="000000"/>
              </a:solidFill>
              <a:effectLst/>
              <a:highlight>
                <a:srgbClr val="000080"/>
              </a:highlight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Ts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make_tuple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([[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maybe_unused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]]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Ts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 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vs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auto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one_or_none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[]([[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maybe_unused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]]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auto&amp;&amp;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x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if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is_convertible_v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decltype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(x),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const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null_field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&amp;&gt;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  return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make_tuple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}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else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  return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make_tuple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forward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decltype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(x)&gt;(x));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return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tuple_cat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one_or_none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forward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Ts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&gt;(vs))...);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  <a:endParaRPr lang="en-US" sz="5400" dirty="0"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sz="5400" dirty="0" err="1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make_tuple</a:t>
            </a:r>
            <a:r>
              <a:rPr lang="en-US" sz="5400" dirty="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(1, </a:t>
            </a:r>
            <a:r>
              <a:rPr lang="en-US" sz="5400" dirty="0" err="1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null_field</a:t>
            </a:r>
            <a:r>
              <a:rPr lang="en-US" sz="5400" dirty="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(), 2)</a:t>
            </a:r>
            <a:r>
              <a:rPr lang="en-US" sz="5400" dirty="0">
                <a:latin typeface="+mn-lt"/>
                <a:ea typeface="Roboto Mono" panose="00000009000000000000" pitchFamily="49" charset="0"/>
              </a:rPr>
              <a:t> same as </a:t>
            </a:r>
            <a:r>
              <a:rPr lang="en-US" sz="5400" dirty="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sz="5400" dirty="0" err="1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make_tuple</a:t>
            </a:r>
            <a:r>
              <a:rPr lang="en-US" sz="5400" dirty="0">
                <a:solidFill>
                  <a:schemeClr val="tx2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(1, 2)</a:t>
            </a:r>
          </a:p>
        </p:txBody>
      </p:sp>
    </p:spTree>
    <p:extLst>
      <p:ext uri="{BB962C8B-B14F-4D97-AF65-F5344CB8AC3E}">
        <p14:creationId xmlns:p14="http://schemas.microsoft.com/office/powerpoint/2010/main" val="3940639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26F44-FBEB-79EF-B29D-71E5058E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5A6258-F7F3-59B7-55C4-A18097CB9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Roboto Mono" panose="00000009000000000000" pitchFamily="49" charset="0"/>
              </a:rPr>
              <a:t>Aside</a:t>
            </a:r>
            <a:endParaRPr lang="en-US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98E1BC-C3B4-DE59-B35F-FB26F0DC27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Bottom/unit types: an interesting design pattern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9ADDA4F4-1235-C433-71A9-9C3E35D8B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lIns="91440" tIns="45720" rIns="91440" bIns="45720" anchor="ctr"/>
          <a:lstStyle/>
          <a:p>
            <a:r>
              <a:rPr lang="en-US" sz="5400" dirty="0">
                <a:latin typeface="+mn-lt"/>
                <a:ea typeface="Roboto Mono" panose="00000009000000000000" pitchFamily="49" charset="0"/>
              </a:rPr>
              <a:t>Null Object Pattern: defines an interface, but performs no operation at all</a:t>
            </a:r>
          </a:p>
          <a:p>
            <a:pPr lvl="1"/>
            <a:r>
              <a:rPr lang="en-US" sz="5000" dirty="0">
                <a:latin typeface="+mn-lt"/>
                <a:ea typeface="Roboto Mono" panose="00000009000000000000" pitchFamily="49" charset="0"/>
              </a:rPr>
              <a:t>“Black hole” – accepts any input, returns default</a:t>
            </a:r>
          </a:p>
          <a:p>
            <a:pPr lvl="1"/>
            <a:r>
              <a:rPr lang="en-US" sz="5000" dirty="0">
                <a:latin typeface="+mn-lt"/>
                <a:ea typeface="Roboto Mono" panose="00000009000000000000" pitchFamily="49" charset="0"/>
              </a:rPr>
              <a:t>“White hole” – rejects any input, always throws </a:t>
            </a:r>
          </a:p>
          <a:p>
            <a:r>
              <a:rPr lang="en-US" sz="5400" dirty="0">
                <a:latin typeface="+mn-lt"/>
                <a:ea typeface="Roboto Mono" panose="00000009000000000000" pitchFamily="49" charset="0"/>
              </a:rPr>
              <a:t>“None”/”bottom” type, the subtype of all types in some languages</a:t>
            </a:r>
          </a:p>
          <a:p>
            <a:endParaRPr lang="en-US" sz="5400" dirty="0">
              <a:latin typeface="+mn-lt"/>
              <a:ea typeface="Roboto Mono" panose="00000009000000000000" pitchFamily="49" charset="0"/>
            </a:endParaRPr>
          </a:p>
          <a:p>
            <a:r>
              <a:rPr lang="en-US" sz="5400" dirty="0"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sz="54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nullptr_t</a:t>
            </a:r>
            <a:r>
              <a:rPr lang="en-US" sz="5400" dirty="0">
                <a:ea typeface="Roboto Mono" panose="00000009000000000000" pitchFamily="49" charset="0"/>
              </a:rPr>
              <a:t>: does not point to any valid object</a:t>
            </a:r>
          </a:p>
          <a:p>
            <a:r>
              <a:rPr lang="en-US" sz="5400" dirty="0"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sz="54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monostate</a:t>
            </a:r>
            <a:r>
              <a:rPr lang="en-US" sz="5400" dirty="0">
                <a:latin typeface="+mn-lt"/>
                <a:ea typeface="Roboto Mono" panose="00000009000000000000" pitchFamily="49" charset="0"/>
              </a:rPr>
              <a:t> – the absence of meaningful value (e.g. in an </a:t>
            </a:r>
            <a:r>
              <a:rPr lang="en-US" sz="5400" dirty="0">
                <a:latin typeface="Roboto Mono" panose="00000009000000000000" pitchFamily="49" charset="0"/>
                <a:ea typeface="Roboto Mono" panose="00000009000000000000" pitchFamily="49" charset="0"/>
              </a:rPr>
              <a:t>std::variant</a:t>
            </a:r>
            <a:r>
              <a:rPr lang="en-US" sz="5400" dirty="0">
                <a:latin typeface="+mn-lt"/>
                <a:ea typeface="Roboto Mono" panose="00000009000000000000" pitchFamily="49" charset="0"/>
              </a:rPr>
              <a:t>)</a:t>
            </a:r>
          </a:p>
          <a:p>
            <a:r>
              <a:rPr lang="en-US" sz="5400" dirty="0">
                <a:latin typeface="Roboto Mono" panose="00000009000000000000" pitchFamily="49" charset="0"/>
                <a:ea typeface="Roboto Mono" panose="00000009000000000000" pitchFamily="49" charset="0"/>
              </a:rPr>
              <a:t>std::ignore</a:t>
            </a:r>
            <a:r>
              <a:rPr lang="en-US" sz="5400" dirty="0">
                <a:latin typeface="+mn-lt"/>
                <a:ea typeface="Roboto Mono" panose="00000009000000000000" pitchFamily="49" charset="0"/>
              </a:rPr>
              <a:t> – the absence of mutation</a:t>
            </a:r>
          </a:p>
          <a:p>
            <a:r>
              <a:rPr lang="en-US" sz="5400" dirty="0"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sz="54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nullopt_t</a:t>
            </a:r>
            <a:r>
              <a:rPr lang="en-US" sz="5400" dirty="0">
                <a:latin typeface="+mn-lt"/>
                <a:ea typeface="Roboto Mono" panose="00000009000000000000" pitchFamily="49" charset="0"/>
              </a:rPr>
              <a:t> – unengaged </a:t>
            </a:r>
            <a:r>
              <a:rPr lang="en-US" sz="5400" dirty="0">
                <a:latin typeface="Roboto Mono" panose="00000009000000000000" pitchFamily="49" charset="0"/>
                <a:ea typeface="Roboto Mono" panose="00000009000000000000" pitchFamily="49" charset="0"/>
              </a:rPr>
              <a:t>std::optional</a:t>
            </a:r>
            <a:r>
              <a:rPr lang="en-US" sz="5400" dirty="0">
                <a:latin typeface="+mn-lt"/>
                <a:ea typeface="Roboto Mono" panose="00000009000000000000" pitchFamily="49" charset="0"/>
              </a:rPr>
              <a:t> object</a:t>
            </a:r>
          </a:p>
          <a:p>
            <a:r>
              <a:rPr lang="en-US" sz="5400" dirty="0">
                <a:latin typeface="Roboto Mono" panose="00000009000000000000" pitchFamily="49" charset="0"/>
                <a:ea typeface="Roboto Mono" panose="00000009000000000000" pitchFamily="49" charset="0"/>
              </a:rPr>
              <a:t>std::ranges::dangling</a:t>
            </a:r>
            <a:r>
              <a:rPr lang="en-US" sz="5400" dirty="0">
                <a:ea typeface="Roboto Mono" panose="00000009000000000000" pitchFamily="49" charset="0"/>
              </a:rPr>
              <a:t>, </a:t>
            </a:r>
            <a:r>
              <a:rPr lang="en-US" sz="5400" dirty="0">
                <a:latin typeface="Roboto Mono" panose="00000009000000000000" pitchFamily="49" charset="0"/>
                <a:ea typeface="Roboto Mono" panose="00000009000000000000" pitchFamily="49" charset="0"/>
              </a:rPr>
              <a:t>std::ranges::</a:t>
            </a:r>
            <a:r>
              <a:rPr lang="en-US" sz="54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empty_view</a:t>
            </a:r>
            <a:endParaRPr lang="en-US" sz="54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93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331E5-6F5F-26C0-3932-5B17BE017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A44E37-51AD-9818-91CD-9881B719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Roboto Mono" panose="00000009000000000000" pitchFamily="49" charset="0"/>
              </a:rPr>
              <a:t>Unrolling Into Tuple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65BC6B-5D07-0BDE-6194-1BD41C9B77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µidea: build on the “success” of 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unroll</a:t>
            </a:r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97947897-C731-F7EC-DF9D-30E16AD5D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lIns="91440" tIns="45720" rIns="91440" bIns="45720" anchor="ctr"/>
          <a:lstStyle/>
          <a:p>
            <a:r>
              <a:rPr lang="en-US" sz="6000" dirty="0"/>
              <a:t>Often parameters come already packed in tuples, not as packs</a:t>
            </a:r>
            <a:endParaRPr lang="en-US" sz="5600" dirty="0"/>
          </a:p>
          <a:p>
            <a:endParaRPr lang="en-US" sz="6000" i="1" dirty="0"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n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F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 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auto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unroll_to_tuple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f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index_sequence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...&gt;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{}) {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if 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sizeof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...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48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!=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n) {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return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unroll_to_tuple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forward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&gt;(f), 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make_index_sequence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&gt;());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else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return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make_tuple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integral_constant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&gt;())...);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>
              <a:buNone/>
            </a:pPr>
            <a:endParaRPr lang="en-US" sz="6000" dirty="0"/>
          </a:p>
          <a:p>
            <a:r>
              <a:rPr lang="en-US" sz="6000" dirty="0"/>
              <a:t>We use our </a:t>
            </a:r>
            <a:r>
              <a:rPr lang="en-US" sz="60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make_tuple</a:t>
            </a:r>
            <a:r>
              <a:rPr lang="en-US" sz="6000" dirty="0"/>
              <a:t>, so return </a:t>
            </a:r>
            <a:r>
              <a:rPr lang="en-US" sz="6000" dirty="0" err="1">
                <a:latin typeface="Roboto Mono" panose="00000009000000000000" pitchFamily="49" charset="0"/>
                <a:ea typeface="Roboto Mono" panose="00000009000000000000" pitchFamily="49" charset="0"/>
                <a:cs typeface="Raavi" panose="020B0502040204020203" pitchFamily="34" charset="0"/>
              </a:rPr>
              <a:t>null_field</a:t>
            </a:r>
            <a:r>
              <a:rPr lang="en-US" sz="6000" dirty="0">
                <a:latin typeface="Roboto Mono" panose="00000009000000000000" pitchFamily="49" charset="0"/>
                <a:ea typeface="Roboto Mono" panose="00000009000000000000" pitchFamily="49" charset="0"/>
                <a:cs typeface="Raavi" panose="020B0502040204020203" pitchFamily="34" charset="0"/>
              </a:rPr>
              <a:t>()</a:t>
            </a:r>
            <a:r>
              <a:rPr lang="en-US" sz="6000" dirty="0"/>
              <a:t> to weed out elements</a:t>
            </a:r>
          </a:p>
          <a:p>
            <a:pPr marL="0" indent="0">
              <a:buNone/>
            </a:pPr>
            <a:endParaRPr lang="en-US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602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Insert/Remove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864752-C98B-41D5-A8F0-CAAA5ACFFA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+mn-lt"/>
                <a:ea typeface="Roboto Mono" panose="00000009000000000000" pitchFamily="49" charset="0"/>
              </a:rPr>
              <a:t>Index manipulation offers great flexibility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pPr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4800" dirty="0">
                <a:solidFill>
                  <a:srgbClr val="F06292"/>
                </a:solidFill>
                <a:latin typeface="Roboto Mono" pitchFamily="2" charset="0"/>
              </a:rPr>
              <a:t>// Remove the first element of a tuple</a:t>
            </a:r>
          </a:p>
          <a:p>
            <a:pPr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t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::tuple{“meh”, 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1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2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u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unroll_to_tuple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3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&gt;([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](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</a:t>
            </a:r>
            <a:r>
              <a:rPr lang="en-US" sz="4800" b="0" i="0" dirty="0" err="1">
                <a:solidFill>
                  <a:srgbClr val="FBC02D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if 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48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&gt;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0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return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get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&gt;(t);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else return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null_field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();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});</a:t>
            </a:r>
            <a:endParaRPr lang="en-US" sz="4800" b="0" i="0" dirty="0">
              <a:solidFill>
                <a:schemeClr val="tx2"/>
              </a:solidFill>
              <a:effectLst/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endParaRPr lang="en-US" sz="4800" dirty="0">
              <a:latin typeface="+mn-lt"/>
              <a:ea typeface="Roboto Mono" panose="00000009000000000000" pitchFamily="49" charset="0"/>
            </a:endParaRPr>
          </a:p>
          <a:p>
            <a:pPr marL="0" indent="0">
              <a:buNone/>
            </a:pPr>
            <a:r>
              <a:rPr lang="en-US" sz="4800" dirty="0">
                <a:solidFill>
                  <a:srgbClr val="F06292"/>
                </a:solidFill>
                <a:latin typeface="Roboto Mono" pitchFamily="2" charset="0"/>
              </a:rPr>
              <a:t>// Insert an element in the second position into a tuple</a:t>
            </a:r>
          </a:p>
          <a:p>
            <a:pPr marL="0" indent="0"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t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::tuple{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3.14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1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2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u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unroll_to_tuple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4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&gt;([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](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</a:t>
            </a:r>
            <a:r>
              <a:rPr lang="en-US" sz="4800" b="0" i="0" dirty="0" err="1">
                <a:solidFill>
                  <a:srgbClr val="FBC02D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if </a:t>
            </a:r>
            <a:r>
              <a:rPr lang="en-US" sz="48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48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!=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1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return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::get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</a:t>
            </a:r>
            <a:r>
              <a:rPr lang="en-US" sz="48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– (</a:t>
            </a:r>
            <a:r>
              <a:rPr lang="en-US" sz="48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&gt;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1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&gt;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(t);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else return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42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});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assert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(u </a:t>
            </a:r>
            <a:r>
              <a:rPr lang="en-US" sz="48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==</a:t>
            </a:r>
            <a:r>
              <a:rPr lang="en-US" sz="48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48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make_tuple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3.14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42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1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48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2</a:t>
            </a:r>
            <a:r>
              <a:rPr lang="en-US" sz="48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));</a:t>
            </a:r>
            <a:endParaRPr lang="en-US" sz="4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26C0C-6F6D-53A4-3032-059358F1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9301EC-C4B4-13BC-953E-8358785AD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Sizes and Strides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68F244-DBBD-04FE-658A-A7F5034659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>
              <a:latin typeface="+mn-lt"/>
              <a:ea typeface="Roboto Mono" panose="00000009000000000000" pitchFamily="49" charset="0"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18EDEFDA-CB7B-9E51-DFE8-40FD50060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pPr algn="l">
              <a:lnSpc>
                <a:spcPts val="6750"/>
              </a:lnSpc>
              <a:buNone/>
            </a:pPr>
            <a:r>
              <a:rPr lang="en-US" sz="5400" b="0" i="0" dirty="0">
                <a:solidFill>
                  <a:srgbClr val="F06292"/>
                </a:solidFill>
                <a:effectLst/>
                <a:latin typeface="Roboto Mono" pitchFamily="2" charset="0"/>
              </a:rPr>
              <a:t>// Iterate over dimensions in an array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::array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rank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()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&gt;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sizes;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unroll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rank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()&gt;([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](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FBC02D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 sizes[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]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extents.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extent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); });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endParaRPr lang="en-US" sz="5400" dirty="0">
              <a:latin typeface="+mn-lt"/>
              <a:ea typeface="Roboto Mono" panose="00000009000000000000" pitchFamily="49" charset="0"/>
            </a:endParaRPr>
          </a:p>
          <a:p>
            <a:pPr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5400" dirty="0">
                <a:solidFill>
                  <a:srgbClr val="F06292"/>
                </a:solidFill>
                <a:latin typeface="Roboto Mono" pitchFamily="2" charset="0"/>
              </a:rPr>
              <a:t>// Iterate over a tuple</a:t>
            </a:r>
            <a:endParaRPr lang="en-US" sz="5400" dirty="0">
              <a:solidFill>
                <a:srgbClr val="000000"/>
              </a:solidFill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product_sizes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1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unroll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rank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()&gt;([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](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FBC02D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if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dirty="0">
                <a:solidFill>
                  <a:srgbClr val="F06292"/>
                </a:solidFill>
                <a:latin typeface="Roboto Mono" pitchFamily="2" charset="0"/>
              </a:rPr>
              <a:t>/* </a:t>
            </a:r>
            <a:r>
              <a:rPr lang="en-US" sz="5400" dirty="0" err="1">
                <a:solidFill>
                  <a:srgbClr val="F06292"/>
                </a:solidFill>
                <a:latin typeface="Roboto Mono" pitchFamily="2" charset="0"/>
              </a:rPr>
              <a:t>constexpr</a:t>
            </a:r>
            <a:r>
              <a:rPr lang="en-US" sz="5400" dirty="0">
                <a:solidFill>
                  <a:srgbClr val="F06292"/>
                </a:solidFill>
                <a:latin typeface="Roboto Mono" pitchFamily="2" charset="0"/>
              </a:rPr>
              <a:t> */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==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0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  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get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&gt;(strides)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get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0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&gt;(sizes)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!=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0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else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product_sizes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*=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extent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-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1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  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get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&gt;(strides)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product_sizes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715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93611-1DC3-4449-5915-905019F45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988355-DA5E-B9E3-2659-D3912FAF7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Flexible 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std::tuple/array</a:t>
            </a:r>
            <a:r>
              <a:rPr lang="en-US" dirty="0"/>
              <a:t> Iteration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2C5677F-B3BE-82E5-DC64-E31BD72D37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+mn-lt"/>
                <a:ea typeface="Roboto Mono" panose="00000009000000000000" pitchFamily="49" charset="0"/>
              </a:rPr>
              <a:t>“Do something for each element. I may or may not need the index.”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0292D26D-EB4A-99D0-AF45-239A0E0DA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void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each_in_tuple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Tuple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n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tuple_size_v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remove_reference_t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Tuple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&gt;&gt;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return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unroll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&gt;([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](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FBC02D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if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is_invocable_v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F,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decltype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),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   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decltype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get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forward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&gt;(t)))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&gt;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  return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get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forward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&gt;(t)));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}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else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  return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get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forward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&gt;(t)));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r>
              <a:rPr lang="en-US" sz="6000" dirty="0">
                <a:latin typeface="+mn-lt"/>
                <a:ea typeface="Roboto Mono" panose="00000009000000000000" pitchFamily="49" charset="0"/>
              </a:rPr>
              <a:t>Lambda may take index and tuple element, or just tuple element</a:t>
            </a:r>
          </a:p>
          <a:p>
            <a:r>
              <a:rPr lang="en-US" sz="6000" dirty="0">
                <a:latin typeface="+mn-lt"/>
                <a:ea typeface="Roboto Mono" panose="00000009000000000000" pitchFamily="49" charset="0"/>
              </a:rPr>
              <a:t>Iterate all or stop early, reuse work from </a:t>
            </a:r>
            <a:r>
              <a:rPr lang="en-US" sz="6000" dirty="0">
                <a:latin typeface="Roboto Mono" panose="00000009000000000000" pitchFamily="49" charset="0"/>
                <a:ea typeface="Roboto Mono" panose="00000009000000000000" pitchFamily="49" charset="0"/>
              </a:rPr>
              <a:t>unroll</a:t>
            </a:r>
          </a:p>
          <a:p>
            <a:r>
              <a:rPr lang="en-US" sz="6000" dirty="0">
                <a:latin typeface="+mn-lt"/>
                <a:ea typeface="Roboto Mono" panose="00000009000000000000" pitchFamily="49" charset="0"/>
              </a:rPr>
              <a:t>Can move from the source element-wise</a:t>
            </a:r>
          </a:p>
        </p:txBody>
      </p:sp>
    </p:spTree>
    <p:extLst>
      <p:ext uri="{BB962C8B-B14F-4D97-AF65-F5344CB8AC3E}">
        <p14:creationId xmlns:p14="http://schemas.microsoft.com/office/powerpoint/2010/main" val="319847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56F5D-9A54-7E08-B9F4-4EA7ACF5E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27A08-F377-C154-F9FB-640256AE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(The C++20 Way)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F985A3-3C73-6A3F-3463-21D8962DD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+mn-lt"/>
                <a:ea typeface="Roboto Mono" panose="00000009000000000000" pitchFamily="49" charset="0"/>
              </a:rPr>
              <a:t>“Do something for each element. I may or may not need the index.”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58724E87-0852-CBD8-2756-A47D2341C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void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each_in_tuple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Tuple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n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tuple_size_v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remove_reference_t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Tuple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&gt;&gt;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return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unroll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&gt;([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](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FBC02D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if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5400" dirty="0">
                <a:solidFill>
                  <a:srgbClr val="4DD0E1"/>
                </a:solidFill>
                <a:latin typeface="Roboto Mono" pitchFamily="2" charset="0"/>
              </a:rPr>
              <a:t>requires</a:t>
            </a:r>
            <a:r>
              <a:rPr lang="en-US" sz="5400" dirty="0">
                <a:solidFill>
                  <a:srgbClr val="ECEFF1"/>
                </a:solidFill>
                <a:latin typeface="Roboto Mono" pitchFamily="2" charset="0"/>
              </a:rPr>
              <a:t>{</a:t>
            </a:r>
            <a:r>
              <a:rPr lang="en-US" sz="5400" dirty="0">
                <a:solidFill>
                  <a:srgbClr val="CE93D8"/>
                </a:solidFill>
                <a:latin typeface="Roboto Mono" pitchFamily="2" charset="0"/>
              </a:rPr>
              <a:t>f</a:t>
            </a:r>
            <a:r>
              <a:rPr lang="en-US" sz="5400" dirty="0">
                <a:solidFill>
                  <a:srgbClr val="ECEFF1"/>
                </a:solidFill>
                <a:latin typeface="Roboto Mono" pitchFamily="2" charset="0"/>
              </a:rPr>
              <a:t>(</a:t>
            </a:r>
            <a:r>
              <a:rPr lang="en-US" sz="5400" dirty="0" err="1">
                <a:solidFill>
                  <a:srgbClr val="ECEFF1"/>
                </a:solidFill>
                <a:latin typeface="Roboto Mono" pitchFamily="2" charset="0"/>
              </a:rPr>
              <a:t>i</a:t>
            </a:r>
            <a:r>
              <a:rPr lang="en-US" sz="5400" dirty="0">
                <a:solidFill>
                  <a:srgbClr val="ECEFF1"/>
                </a:solidFill>
                <a:latin typeface="Roboto Mono" pitchFamily="2" charset="0"/>
              </a:rPr>
              <a:t>, </a:t>
            </a:r>
            <a:r>
              <a:rPr lang="en-US" sz="5400" dirty="0">
                <a:solidFill>
                  <a:srgbClr val="CE93D8"/>
                </a:solidFill>
                <a:latin typeface="Roboto Mono" pitchFamily="2" charset="0"/>
              </a:rPr>
              <a:t>std</a:t>
            </a:r>
            <a:r>
              <a:rPr lang="en-US" sz="5400" dirty="0">
                <a:solidFill>
                  <a:srgbClr val="ECEFF1"/>
                </a:solidFill>
                <a:latin typeface="Roboto Mono" pitchFamily="2" charset="0"/>
              </a:rPr>
              <a:t>::</a:t>
            </a:r>
            <a:r>
              <a:rPr lang="en-US" sz="5400" dirty="0">
                <a:solidFill>
                  <a:srgbClr val="CE93D8"/>
                </a:solidFill>
                <a:latin typeface="Roboto Mono" pitchFamily="2" charset="0"/>
              </a:rPr>
              <a:t>get</a:t>
            </a:r>
            <a:r>
              <a:rPr lang="en-US" sz="5400" dirty="0">
                <a:solidFill>
                  <a:srgbClr val="ECEFF1"/>
                </a:solidFill>
                <a:latin typeface="Roboto Mono" pitchFamily="2" charset="0"/>
              </a:rPr>
              <a:t>&lt;</a:t>
            </a:r>
            <a:r>
              <a:rPr lang="en-US" sz="5400" dirty="0" err="1">
                <a:solidFill>
                  <a:srgbClr val="CE93D8"/>
                </a:solidFill>
                <a:latin typeface="Roboto Mono" pitchFamily="2" charset="0"/>
              </a:rPr>
              <a:t>i</a:t>
            </a:r>
            <a:r>
              <a:rPr lang="en-US" sz="5400" dirty="0">
                <a:solidFill>
                  <a:srgbClr val="ECEFF1"/>
                </a:solidFill>
                <a:latin typeface="Roboto Mono" pitchFamily="2" charset="0"/>
              </a:rPr>
              <a:t>&gt;(::</a:t>
            </a:r>
            <a:r>
              <a:rPr lang="en-US" sz="5400" dirty="0">
                <a:solidFill>
                  <a:srgbClr val="CE93D8"/>
                </a:solidFill>
                <a:latin typeface="Roboto Mono" pitchFamily="2" charset="0"/>
              </a:rPr>
              <a:t>std</a:t>
            </a:r>
            <a:r>
              <a:rPr lang="en-US" sz="5400" dirty="0">
                <a:solidFill>
                  <a:srgbClr val="ECEFF1"/>
                </a:solidFill>
                <a:latin typeface="Roboto Mono" pitchFamily="2" charset="0"/>
              </a:rPr>
              <a:t>::</a:t>
            </a:r>
            <a:r>
              <a:rPr lang="en-US" sz="5400" dirty="0">
                <a:solidFill>
                  <a:srgbClr val="CE93D8"/>
                </a:solidFill>
                <a:latin typeface="Roboto Mono" pitchFamily="2" charset="0"/>
              </a:rPr>
              <a:t>forward</a:t>
            </a:r>
            <a:r>
              <a:rPr lang="en-US" sz="5400" dirty="0">
                <a:solidFill>
                  <a:srgbClr val="ECEFF1"/>
                </a:solidFill>
                <a:latin typeface="Roboto Mono" pitchFamily="2" charset="0"/>
              </a:rPr>
              <a:t>&lt;</a:t>
            </a:r>
            <a:r>
              <a:rPr lang="en-US" sz="5400" dirty="0">
                <a:solidFill>
                  <a:srgbClr val="CE93D8"/>
                </a:solidFill>
                <a:latin typeface="Roboto Mono" pitchFamily="2" charset="0"/>
              </a:rPr>
              <a:t>Tuple</a:t>
            </a:r>
            <a:r>
              <a:rPr lang="en-US" sz="5400" dirty="0">
                <a:solidFill>
                  <a:srgbClr val="ECEFF1"/>
                </a:solidFill>
                <a:latin typeface="Roboto Mono" pitchFamily="2" charset="0"/>
              </a:rPr>
              <a:t>&gt;(t)));}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  return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get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forward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&gt;(t)));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}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else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  return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get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forward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&gt;(t)));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bg1"/>
                </a:solidFill>
                <a:ea typeface="Roboto Mono" panose="00000009000000000000" pitchFamily="49" charset="0"/>
              </a:rPr>
              <a:t>Lambda may take index and tuple element, or just tuple element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bg1"/>
                </a:solidFill>
                <a:ea typeface="Roboto Mono" panose="00000009000000000000" pitchFamily="49" charset="0"/>
              </a:rPr>
              <a:t>Iterate all or stop early, reuse work from </a:t>
            </a:r>
            <a:r>
              <a:rPr lang="en-US" sz="5400" dirty="0">
                <a:solidFill>
                  <a:schemeClr val="bg1"/>
                </a:solidFill>
                <a:latin typeface="Roboto Mono" panose="00000009000000000000" pitchFamily="49" charset="0"/>
                <a:ea typeface="Roboto Mono" panose="00000009000000000000" pitchFamily="49" charset="0"/>
              </a:rPr>
              <a:t>unroll</a:t>
            </a:r>
          </a:p>
          <a:p>
            <a:pPr marL="0" indent="0">
              <a:buNone/>
            </a:pPr>
            <a:r>
              <a:rPr lang="en-US" sz="5400" dirty="0">
                <a:solidFill>
                  <a:schemeClr val="bg1"/>
                </a:solidFill>
                <a:ea typeface="Roboto Mono" panose="00000009000000000000" pitchFamily="49" charset="0"/>
              </a:rPr>
              <a:t>Can move from the source element-wise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67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2150A-8EBA-E2BD-E5B4-96AC7E10A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20A1E8-DCB8-8A47-C0C9-5BE94A5B4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Case: Convert Array to Tuple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65D19D-8EB3-19BC-3E79-58AB6CE44D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>
              <a:latin typeface="+mn-lt"/>
              <a:ea typeface="Roboto Mono" panose="00000009000000000000" pitchFamily="49" charset="0"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F8529D01-8143-D688-F894-75C79D82F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a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::array{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1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2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3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675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t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unroll_to_tuple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3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&gt;([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](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FBC02D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return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a[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]; });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endParaRPr lang="en-US" sz="7200" dirty="0">
              <a:latin typeface="+mn-lt"/>
              <a:ea typeface="Roboto Mono" panose="00000009000000000000" pitchFamily="49" charset="0"/>
            </a:endParaRPr>
          </a:p>
          <a:p>
            <a:r>
              <a:rPr lang="en-US" sz="7200" dirty="0">
                <a:latin typeface="+mn-lt"/>
                <a:ea typeface="Roboto Mono" panose="00000009000000000000" pitchFamily="49" charset="0"/>
              </a:rPr>
              <a:t>Many annoying chores become simple</a:t>
            </a:r>
          </a:p>
          <a:p>
            <a:r>
              <a:rPr lang="en-US" sz="7200" dirty="0">
                <a:latin typeface="+mn-lt"/>
                <a:ea typeface="Roboto Mono" panose="00000009000000000000" pitchFamily="49" charset="0"/>
              </a:rPr>
              <a:t>Can define similar small primitives such as </a:t>
            </a:r>
            <a:r>
              <a:rPr lang="en-US" sz="72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tuple_to_array</a:t>
            </a:r>
            <a:r>
              <a:rPr lang="en-US" sz="7200" dirty="0">
                <a:latin typeface="+mn-lt"/>
                <a:ea typeface="Roboto Mono" panose="00000009000000000000" pitchFamily="49" charset="0"/>
              </a:rPr>
              <a:t> etc.</a:t>
            </a:r>
          </a:p>
          <a:p>
            <a:endParaRPr lang="en-US" sz="7200" dirty="0">
              <a:latin typeface="+mn-lt"/>
              <a:ea typeface="Roboto Mono" panose="00000009000000000000" pitchFamily="49" charset="0"/>
            </a:endParaRPr>
          </a:p>
          <a:p>
            <a:pPr marL="0" indent="0">
              <a:buNone/>
            </a:pPr>
            <a:endParaRPr lang="en-US" sz="6600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95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Finally: </a:t>
            </a:r>
            <a:r>
              <a:rPr lang="en-US" dirty="0" err="1">
                <a:latin typeface="Roboto Mono" panose="00000009000000000000" pitchFamily="49" charset="0"/>
                <a:ea typeface="Roboto Mono" panose="00000009000000000000" pitchFamily="49" charset="0"/>
              </a:rPr>
              <a:t>small_vector</a:t>
            </a:r>
            <a:endParaRPr lang="en-US" dirty="0">
              <a:latin typeface="Roboto Mono" panose="00000009000000000000" pitchFamily="49" charset="0"/>
              <a:ea typeface="Roboto Mono" panose="00000009000000000000" pitchFamily="49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864752-C98B-41D5-A8F0-CAAA5ACFFA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+mn-lt"/>
                <a:ea typeface="Roboto Mono" panose="00000009000000000000" pitchFamily="49" charset="0"/>
              </a:rPr>
              <a:t>https://github.com/NVIDIA/cccl/blob/main/cudax/include/cuda/experimental/__stf/utility/memory.cuh#L369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r>
              <a:rPr lang="en-US" sz="60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small_vector</a:t>
            </a:r>
            <a:r>
              <a:rPr lang="en-US" sz="6000" dirty="0">
                <a:latin typeface="+mn-lt"/>
                <a:ea typeface="Roboto Mono" panose="00000009000000000000" pitchFamily="49" charset="0"/>
              </a:rPr>
              <a:t> in </a:t>
            </a:r>
            <a:r>
              <a:rPr lang="en-US" sz="6000" dirty="0">
                <a:latin typeface="Roboto Mono" pitchFamily="2" charset="0"/>
                <a:ea typeface="Roboto Mono" pitchFamily="2" charset="0"/>
              </a:rPr>
              <a:t>NVIDIA/cccl</a:t>
            </a:r>
            <a:r>
              <a:rPr lang="en-US" sz="6000" dirty="0">
                <a:latin typeface="+mn-lt"/>
                <a:ea typeface="Roboto Mono" panose="00000009000000000000" pitchFamily="49" charset="0"/>
              </a:rPr>
              <a:t> – falls back to </a:t>
            </a:r>
            <a:r>
              <a:rPr lang="en-US" sz="6000" dirty="0">
                <a:latin typeface="Roboto Mono" panose="00000009000000000000" pitchFamily="49" charset="0"/>
                <a:ea typeface="Roboto Mono" panose="00000009000000000000" pitchFamily="49" charset="0"/>
              </a:rPr>
              <a:t>std::vector</a:t>
            </a:r>
            <a:r>
              <a:rPr lang="en-US" sz="6000" dirty="0">
                <a:latin typeface="+mn-lt"/>
                <a:ea typeface="Roboto Mono" panose="00000009000000000000" pitchFamily="49" charset="0"/>
              </a:rPr>
              <a:t> if big</a:t>
            </a:r>
          </a:p>
          <a:p>
            <a:pPr algn="l">
              <a:lnSpc>
                <a:spcPts val="6750"/>
              </a:lnSpc>
              <a:buNone/>
            </a:pPr>
            <a:r>
              <a:rPr lang="en-US" sz="6600" dirty="0">
                <a:latin typeface="Roboto Mono" panose="00000009000000000000" pitchFamily="49" charset="0"/>
                <a:ea typeface="Roboto Mono" panose="00000009000000000000" pitchFamily="49" charset="0"/>
              </a:rPr>
              <a:t> </a:t>
            </a:r>
          </a:p>
          <a:p>
            <a:pPr algn="l">
              <a:lnSpc>
                <a:spcPts val="6750"/>
              </a:lnSpc>
              <a:buNone/>
            </a:pPr>
            <a:r>
              <a:rPr lang="en-US" sz="66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small_vector</a:t>
            </a:r>
            <a:r>
              <a:rPr lang="en-US" sz="66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Widget, </a:t>
            </a:r>
            <a:r>
              <a:rPr lang="en-US" sz="66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7</a:t>
            </a:r>
            <a:r>
              <a:rPr lang="en-US" sz="66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&gt;</a:t>
            </a:r>
            <a:r>
              <a:rPr lang="en-US" sz="66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widgets;</a:t>
            </a:r>
            <a:endParaRPr lang="en-US" sz="6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endParaRPr lang="en-US" sz="6000" dirty="0">
              <a:latin typeface="+mn-lt"/>
              <a:ea typeface="Roboto Mono" panose="00000009000000000000" pitchFamily="49" charset="0"/>
            </a:endParaRPr>
          </a:p>
          <a:p>
            <a:r>
              <a:rPr lang="en-US" sz="6000" dirty="0">
                <a:latin typeface="+mn-lt"/>
                <a:ea typeface="Roboto Mono" panose="00000009000000000000" pitchFamily="49" charset="0"/>
              </a:rPr>
              <a:t>Implemented in 2h with ChatGPT!</a:t>
            </a:r>
          </a:p>
          <a:p>
            <a:r>
              <a:rPr lang="en-US" sz="6000" dirty="0">
                <a:latin typeface="+mn-lt"/>
                <a:ea typeface="Roboto Mono" panose="00000009000000000000" pitchFamily="49" charset="0"/>
              </a:rPr>
              <a:t>Uses total unrolling if small size is small</a:t>
            </a:r>
          </a:p>
          <a:p>
            <a:r>
              <a:rPr lang="en-US" sz="6000" dirty="0">
                <a:latin typeface="+mn-lt"/>
                <a:ea typeface="Roboto Mono" panose="00000009000000000000" pitchFamily="49" charset="0"/>
              </a:rPr>
              <a:t>Uses iteration if small size is still </a:t>
            </a:r>
            <a:r>
              <a:rPr lang="en-US" sz="6000" dirty="0" err="1">
                <a:latin typeface="+mn-lt"/>
                <a:ea typeface="Roboto Mono" panose="00000009000000000000" pitchFamily="49" charset="0"/>
              </a:rPr>
              <a:t>kinda</a:t>
            </a:r>
            <a:r>
              <a:rPr lang="en-US" sz="6000" dirty="0">
                <a:latin typeface="+mn-lt"/>
                <a:ea typeface="Roboto Mono" panose="00000009000000000000" pitchFamily="49" charset="0"/>
              </a:rPr>
              <a:t> big</a:t>
            </a:r>
            <a:endParaRPr lang="en-US" sz="5400" dirty="0">
              <a:latin typeface="+mn-lt"/>
              <a:ea typeface="Roboto Mono" panose="00000009000000000000" pitchFamily="49" charset="0"/>
            </a:endParaRPr>
          </a:p>
          <a:p>
            <a:endParaRPr lang="en-US" sz="6000" dirty="0">
              <a:latin typeface="+mn-lt"/>
              <a:ea typeface="Roboto Mono" panose="00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75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13CC2-2AC7-FF4A-953C-31E0AA8D5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B6CE97-FEAB-71B4-77B0-9A1EA9D4AA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3866" y="1865236"/>
            <a:ext cx="23051648" cy="5943600"/>
          </a:xfrm>
        </p:spPr>
        <p:txBody>
          <a:bodyPr/>
          <a:lstStyle/>
          <a:p>
            <a:r>
              <a:rPr lang="en-US" dirty="0"/>
              <a:t>…Which Takes Us to Partial Unrolling</a:t>
            </a:r>
          </a:p>
        </p:txBody>
      </p:sp>
    </p:spTree>
    <p:extLst>
      <p:ext uri="{BB962C8B-B14F-4D97-AF65-F5344CB8AC3E}">
        <p14:creationId xmlns:p14="http://schemas.microsoft.com/office/powerpoint/2010/main" val="815772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Unrolling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864752-C98B-41D5-A8F0-CAAA5ACFFA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r>
              <a:rPr lang="en-US" sz="6600" dirty="0"/>
              <a:t>Given a dynamic number </a:t>
            </a:r>
            <a:r>
              <a:rPr lang="en-US" sz="6600" dirty="0">
                <a:latin typeface="Roboto Mono" panose="00000009000000000000" pitchFamily="49" charset="0"/>
                <a:ea typeface="Roboto Mono" panose="00000009000000000000" pitchFamily="49" charset="0"/>
              </a:rPr>
              <a:t>m</a:t>
            </a:r>
            <a:r>
              <a:rPr lang="en-US" sz="6600" dirty="0"/>
              <a:t>, unroll code in chunks of a given static size </a:t>
            </a:r>
            <a:r>
              <a:rPr lang="en-US" sz="6600" dirty="0">
                <a:latin typeface="Roboto Mono" panose="00000009000000000000" pitchFamily="49" charset="0"/>
                <a:ea typeface="Roboto Mono" panose="00000009000000000000" pitchFamily="49" charset="0"/>
              </a:rPr>
              <a:t>n</a:t>
            </a:r>
          </a:p>
          <a:p>
            <a:r>
              <a:rPr lang="en-US" sz="6600" dirty="0">
                <a:latin typeface="+mn-lt"/>
                <a:ea typeface="Roboto Mono" panose="00000009000000000000" pitchFamily="49" charset="0"/>
              </a:rPr>
              <a:t>Use a traditional loop around the </a:t>
            </a:r>
            <a:r>
              <a:rPr lang="en-US" sz="6600" dirty="0" err="1">
                <a:latin typeface="+mn-lt"/>
                <a:ea typeface="Roboto Mono" panose="00000009000000000000" pitchFamily="49" charset="0"/>
              </a:rPr>
              <a:t>inlined</a:t>
            </a:r>
            <a:r>
              <a:rPr lang="en-US" sz="6600" dirty="0">
                <a:latin typeface="+mn-lt"/>
                <a:ea typeface="Roboto Mono" panose="00000009000000000000" pitchFamily="49" charset="0"/>
              </a:rPr>
              <a:t> code</a:t>
            </a:r>
          </a:p>
          <a:p>
            <a:r>
              <a:rPr lang="en-US" sz="6600" dirty="0"/>
              <a:t>Unroll remaining iterations (anywhere from </a:t>
            </a:r>
            <a:r>
              <a:rPr lang="en-US" sz="6600" dirty="0">
                <a:latin typeface="Roboto Mono" panose="00000009000000000000" pitchFamily="49" charset="0"/>
                <a:ea typeface="Roboto Mono" panose="00000009000000000000" pitchFamily="49" charset="0"/>
              </a:rPr>
              <a:t>0</a:t>
            </a:r>
            <a:r>
              <a:rPr lang="en-US" sz="6600" dirty="0"/>
              <a:t> through </a:t>
            </a:r>
            <a:r>
              <a:rPr lang="en-US" sz="6600" dirty="0">
                <a:latin typeface="Roboto Mono" panose="00000009000000000000" pitchFamily="49" charset="0"/>
                <a:ea typeface="Roboto Mono" panose="00000009000000000000" pitchFamily="49" charset="0"/>
              </a:rPr>
              <a:t>n-1</a:t>
            </a:r>
            <a:r>
              <a:rPr lang="en-US" sz="6600" dirty="0"/>
              <a:t>)</a:t>
            </a:r>
          </a:p>
          <a:p>
            <a:pPr lvl="1"/>
            <a:r>
              <a:rPr lang="en-US" sz="6600" dirty="0"/>
              <a:t>Make sure generated code isn’t too big</a:t>
            </a:r>
          </a:p>
          <a:p>
            <a:pPr lvl="1"/>
            <a:r>
              <a:rPr lang="en-US" sz="6600" dirty="0"/>
              <a:t>Disproportionately important in GPU code</a:t>
            </a:r>
          </a:p>
          <a:p>
            <a:r>
              <a:rPr lang="en-US" sz="6600" dirty="0"/>
              <a:t>The lambda being unrolled needs access to the current counter</a:t>
            </a:r>
          </a:p>
          <a:p>
            <a:endParaRPr lang="en-US" sz="6600" dirty="0"/>
          </a:p>
          <a:p>
            <a:r>
              <a:rPr lang="en-US" sz="6600" dirty="0"/>
              <a:t>This is… harder than it may seem</a:t>
            </a:r>
          </a:p>
        </p:txBody>
      </p:sp>
    </p:spTree>
    <p:extLst>
      <p:ext uri="{BB962C8B-B14F-4D97-AF65-F5344CB8AC3E}">
        <p14:creationId xmlns:p14="http://schemas.microsoft.com/office/powerpoint/2010/main" val="2311509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5498D-F766-0A18-1190-B17FF7FD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CFFF0E-E0C8-C825-36E7-12F74A49C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Implementation, Take One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4D6EBA2-B765-6D02-4DB4-039AB34073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ea typeface="Roboto Mono" panose="00000009000000000000" pitchFamily="49" charset="0"/>
              </a:rPr>
              <a:t>Looking great! Or does it?</a:t>
            </a:r>
          </a:p>
          <a:p>
            <a:endParaRPr lang="en-US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2B2BC521-81E4-DFF6-889B-C0B926BA6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59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9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n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9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59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F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59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void</a:t>
            </a:r>
            <a:r>
              <a:rPr lang="en-US" sz="59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unroll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9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9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m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9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59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f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9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</a:t>
            </a:r>
            <a:r>
              <a:rPr lang="en-US" sz="59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9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9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0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;</a:t>
            </a:r>
            <a:endParaRPr lang="en-US" sz="59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for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(;;) {</a:t>
            </a:r>
            <a:endParaRPr lang="en-US" sz="59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</a:t>
            </a:r>
            <a:r>
              <a:rPr lang="en-US" sz="59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j 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9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+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n;</a:t>
            </a:r>
            <a:endParaRPr lang="en-US" sz="59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if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(j 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&gt;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m) 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break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;</a:t>
            </a:r>
            <a:endParaRPr lang="en-US" sz="59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   unroll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9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&gt;([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](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9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k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 </a:t>
            </a:r>
            <a:r>
              <a:rPr lang="en-US" sz="59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9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+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k); });</a:t>
            </a:r>
            <a:endParaRPr lang="en-US" sz="59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</a:t>
            </a:r>
            <a:r>
              <a:rPr lang="en-US" sz="59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j;</a:t>
            </a:r>
            <a:endParaRPr lang="en-US" sz="59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</a:t>
            </a:r>
            <a:endParaRPr lang="en-US" sz="59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b="0" i="0" dirty="0">
                <a:solidFill>
                  <a:srgbClr val="F06292"/>
                </a:solidFill>
                <a:effectLst/>
                <a:latin typeface="Roboto Mono" pitchFamily="2" charset="0"/>
              </a:rPr>
              <a:t>  // Unroll leftovers</a:t>
            </a:r>
            <a:endParaRPr lang="en-US" sz="59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 unroll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9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&gt;([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](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9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k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 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return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59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+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k 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m) 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59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9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9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+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k), </a:t>
            </a:r>
            <a:r>
              <a:rPr lang="en-US" sz="59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true</a:t>
            </a: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); });</a:t>
            </a:r>
            <a:endParaRPr lang="en-US" sz="59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9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  <a:endParaRPr lang="en-US" sz="59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14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6B590-90C6-AA48-5500-F9136E4CB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6491FE-96FF-8052-2E47-AD2A2828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Take One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331612-BB9B-9F29-9011-853DE3D055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00BE597A-6A50-13DA-9D3D-A461098EA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r>
              <a:rPr lang="en-US" sz="7200" dirty="0">
                <a:latin typeface="+mn-lt"/>
                <a:ea typeface="Roboto Mono" panose="00000009000000000000" pitchFamily="49" charset="0"/>
              </a:rPr>
              <a:t>Our </a:t>
            </a:r>
            <a:r>
              <a:rPr lang="en-US" sz="7200" dirty="0">
                <a:latin typeface="Roboto Mono" panose="00000009000000000000" pitchFamily="49" charset="0"/>
                <a:ea typeface="Roboto Mono" panose="00000009000000000000" pitchFamily="49" charset="0"/>
              </a:rPr>
              <a:t>unroll</a:t>
            </a:r>
            <a:r>
              <a:rPr lang="en-US" sz="7200" dirty="0">
                <a:latin typeface="+mn-lt"/>
                <a:ea typeface="Roboto Mono" panose="00000009000000000000" pitchFamily="49" charset="0"/>
              </a:rPr>
              <a:t> issues one test for each leftover element</a:t>
            </a:r>
          </a:p>
          <a:p>
            <a:r>
              <a:rPr lang="en-US" sz="7200" dirty="0">
                <a:latin typeface="+mn-lt"/>
                <a:ea typeface="Roboto Mono" panose="00000009000000000000" pitchFamily="49" charset="0"/>
              </a:rPr>
              <a:t>No problem if many iterations</a:t>
            </a:r>
          </a:p>
          <a:p>
            <a:r>
              <a:rPr lang="en-US" sz="7200" dirty="0">
                <a:latin typeface="+mn-lt"/>
                <a:ea typeface="Roboto Mono" panose="00000009000000000000" pitchFamily="49" charset="0"/>
              </a:rPr>
              <a:t>Big problem if many threads, few iterations</a:t>
            </a:r>
          </a:p>
          <a:p>
            <a:pPr lvl="1"/>
            <a:r>
              <a:rPr lang="en-US" sz="6600" dirty="0">
                <a:latin typeface="+mn-lt"/>
                <a:ea typeface="Roboto Mono" panose="00000009000000000000" pitchFamily="49" charset="0"/>
              </a:rPr>
              <a:t>Frequent case in some kernels, such as FHE</a:t>
            </a:r>
          </a:p>
          <a:p>
            <a:pPr lvl="1"/>
            <a:r>
              <a:rPr lang="en-US" sz="6600" dirty="0">
                <a:latin typeface="+mn-lt"/>
                <a:ea typeface="Roboto Mono" panose="00000009000000000000" pitchFamily="49" charset="0"/>
              </a:rPr>
              <a:t>Can add very significantly (up to </a:t>
            </a:r>
            <a:r>
              <a:rPr lang="en-US" sz="6600" dirty="0">
                <a:ea typeface="Roboto Mono" panose="00000009000000000000" pitchFamily="49" charset="0"/>
              </a:rPr>
              <a:t>~</a:t>
            </a:r>
            <a:r>
              <a:rPr lang="en-US" sz="6600" dirty="0">
                <a:latin typeface="+mn-lt"/>
                <a:ea typeface="Roboto Mono" panose="00000009000000000000" pitchFamily="49" charset="0"/>
              </a:rPr>
              <a:t>2x!) to execution time</a:t>
            </a:r>
          </a:p>
          <a:p>
            <a:r>
              <a:rPr lang="en-US" sz="7200" dirty="0">
                <a:latin typeface="+mn-lt"/>
                <a:ea typeface="Roboto Mono" panose="00000009000000000000" pitchFamily="49" charset="0"/>
              </a:rPr>
              <a:t>Duff’s device doesn’t help much here</a:t>
            </a:r>
          </a:p>
          <a:p>
            <a:pPr lvl="1"/>
            <a:r>
              <a:rPr lang="en-US" sz="6600" dirty="0">
                <a:latin typeface="+mn-lt"/>
                <a:ea typeface="Roboto Mono" panose="00000009000000000000" pitchFamily="49" charset="0"/>
              </a:rPr>
              <a:t>Counter incremented with each iteration – dependencies galore</a:t>
            </a:r>
          </a:p>
          <a:p>
            <a:pPr lvl="1"/>
            <a:r>
              <a:rPr lang="en-US" sz="6600" dirty="0">
                <a:latin typeface="+mn-lt"/>
                <a:ea typeface="Roboto Mono" panose="00000009000000000000" pitchFamily="49" charset="0"/>
              </a:rPr>
              <a:t>No jump tables available in GPU code</a:t>
            </a:r>
          </a:p>
        </p:txBody>
      </p:sp>
    </p:spTree>
    <p:extLst>
      <p:ext uri="{BB962C8B-B14F-4D97-AF65-F5344CB8AC3E}">
        <p14:creationId xmlns:p14="http://schemas.microsoft.com/office/powerpoint/2010/main" val="2180571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D3F60-366A-4076-736E-4AA8A2EE5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49D44D-2385-0079-0B3A-3C571E6D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Bisection for </a:t>
            </a:r>
            <a:r>
              <a:rPr lang="en-US" dirty="0">
                <a:latin typeface="Roboto Mono" panose="00000009000000000000" pitchFamily="49" charset="0"/>
                <a:ea typeface="Roboto Mono" panose="00000009000000000000" pitchFamily="49" charset="0"/>
              </a:rPr>
              <a:t>log(n)</a:t>
            </a:r>
            <a:r>
              <a:rPr lang="en-US" dirty="0"/>
              <a:t> Tests!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8B21CB-63A1-94F9-FF26-93DDBD8DE0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9976FB7F-49FD-833B-13E6-674140A3A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r>
              <a:rPr lang="en-US" sz="7200" dirty="0">
                <a:latin typeface="+mn-lt"/>
                <a:ea typeface="Roboto Mono" panose="00000009000000000000" pitchFamily="49" charset="0"/>
              </a:rPr>
              <a:t>For e.g. 16-way unrolling:</a:t>
            </a:r>
          </a:p>
          <a:p>
            <a:pPr lvl="1"/>
            <a:r>
              <a:rPr lang="en-US" sz="6000" dirty="0">
                <a:latin typeface="+mn-lt"/>
                <a:ea typeface="Roboto Mono" panose="00000009000000000000" pitchFamily="49" charset="0"/>
              </a:rPr>
              <a:t>Test against 8 ➛ </a:t>
            </a:r>
            <a:r>
              <a:rPr lang="en-US" sz="6000" dirty="0">
                <a:ea typeface="Roboto Mono" panose="00000009000000000000" pitchFamily="49" charset="0"/>
              </a:rPr>
              <a:t>if ≥, then carry 8 iterations with no further test, fall through</a:t>
            </a:r>
            <a:endParaRPr lang="en-US" sz="6000" dirty="0">
              <a:latin typeface="+mn-lt"/>
              <a:ea typeface="Roboto Mono" panose="00000009000000000000" pitchFamily="49" charset="0"/>
            </a:endParaRPr>
          </a:p>
          <a:p>
            <a:pPr lvl="1"/>
            <a:r>
              <a:rPr lang="en-US" sz="6000" dirty="0">
                <a:ea typeface="Roboto Mono" panose="00000009000000000000" pitchFamily="49" charset="0"/>
              </a:rPr>
              <a:t>Test against 4 ➛ if ≥, then carry 4 iterations with no further test, fall through</a:t>
            </a:r>
          </a:p>
          <a:p>
            <a:pPr lvl="1"/>
            <a:r>
              <a:rPr lang="en-US" sz="6000" dirty="0">
                <a:ea typeface="Roboto Mono" panose="00000009000000000000" pitchFamily="49" charset="0"/>
              </a:rPr>
              <a:t>Test against 2 ➛ if ≥, then carry 2 iterations with no further test, fall through</a:t>
            </a:r>
          </a:p>
          <a:p>
            <a:pPr lvl="1"/>
            <a:r>
              <a:rPr lang="en-US" sz="6000" dirty="0">
                <a:ea typeface="Roboto Mono" panose="00000009000000000000" pitchFamily="49" charset="0"/>
              </a:rPr>
              <a:t>Test against 1 ➛ if ≥, then carry 1 iteration</a:t>
            </a:r>
          </a:p>
          <a:p>
            <a:r>
              <a:rPr lang="en-US" sz="6600" dirty="0">
                <a:ea typeface="Roboto Mono" panose="00000009000000000000" pitchFamily="49" charset="0"/>
              </a:rPr>
              <a:t>4 tests instead of 16</a:t>
            </a:r>
          </a:p>
          <a:p>
            <a:r>
              <a:rPr lang="en-US" sz="6600" dirty="0">
                <a:ea typeface="Roboto Mono" panose="00000009000000000000" pitchFamily="49" charset="0"/>
              </a:rPr>
              <a:t>Let’s code that good stuff</a:t>
            </a:r>
          </a:p>
        </p:txBody>
      </p:sp>
    </p:spTree>
    <p:extLst>
      <p:ext uri="{BB962C8B-B14F-4D97-AF65-F5344CB8AC3E}">
        <p14:creationId xmlns:p14="http://schemas.microsoft.com/office/powerpoint/2010/main" val="3786076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880B2-CF31-3920-A51B-3003B9DAE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BAE5DF-9471-EB24-9C56-FD38A579E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Implementation, Take Two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352C92-3616-B71D-5D78-A701E7B23A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0BC0D564-DC37-B115-0A89-36CDB0404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n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void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unroll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m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0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for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(;;)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j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+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n;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if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(j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&gt;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m)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break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   unroll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&gt;([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](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k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+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k); });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j;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1" i="0" dirty="0">
                <a:solidFill>
                  <a:srgbClr val="F06292"/>
                </a:solidFill>
                <a:effectLst/>
                <a:latin typeface="Roboto Mono" pitchFamily="2" charset="0"/>
              </a:rPr>
              <a:t>  // Unroll leftovers</a:t>
            </a:r>
            <a:endParaRPr lang="en-US" sz="5400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  </a:t>
            </a:r>
            <a:r>
              <a:rPr lang="en-US" sz="5400" b="1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unroll_leftovers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1" i="0" dirty="0">
                <a:solidFill>
                  <a:srgbClr val="FBC02D"/>
                </a:solidFill>
                <a:effectLst/>
                <a:latin typeface="Roboto Mono" pitchFamily="2" charset="0"/>
              </a:rPr>
              <a:t>0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</a:t>
            </a:r>
            <a:r>
              <a:rPr lang="en-US" sz="5400" b="1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, m </a:t>
            </a: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-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1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, [</a:t>
            </a: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](</a:t>
            </a: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auto</a:t>
            </a:r>
            <a:r>
              <a:rPr lang="en-US" sz="5400" b="1" i="0" dirty="0">
                <a:solidFill>
                  <a:srgbClr val="FBC02D"/>
                </a:solidFill>
                <a:effectLst/>
                <a:latin typeface="Roboto Mono" pitchFamily="2" charset="0"/>
              </a:rPr>
              <a:t> k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) { </a:t>
            </a:r>
            <a:r>
              <a:rPr lang="en-US" sz="5400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1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</a:t>
            </a: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+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k); });</a:t>
            </a:r>
            <a:endParaRPr lang="en-US" sz="5400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3012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A0458-4AE6-BD73-25B3-D5B438225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C2159E-5943-E9D6-5E90-FCABC313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Implementation, Take Two (cont’d)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60EFE1-1949-FDE3-0213-EB5E92AA62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are the pros and cons?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D44E333-6A77-7BED-59EC-41F7A3DB0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B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E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F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 </a:t>
            </a:r>
            <a:r>
              <a:rPr lang="en-US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void</a:t>
            </a:r>
            <a:r>
              <a:rPr lang="en-US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unroll_leftovers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base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n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f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index_sequence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...&gt; </a:t>
            </a: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{}) {</a:t>
            </a:r>
            <a:endParaRPr lang="en-U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if </a:t>
            </a:r>
            <a:r>
              <a:rPr lang="en-US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(E </a:t>
            </a: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-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B </a:t>
            </a: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&lt;=</a:t>
            </a:r>
            <a:r>
              <a:rPr lang="en-US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1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</a:t>
            </a:r>
            <a:r>
              <a:rPr lang="en-US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static_assert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(E </a:t>
            </a: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-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B </a:t>
            </a: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==</a:t>
            </a:r>
            <a:r>
              <a:rPr lang="en-US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1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);</a:t>
            </a:r>
            <a:endParaRPr lang="en-U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if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(n) </a:t>
            </a:r>
            <a:r>
              <a:rPr lang="en-US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(base + B);</a:t>
            </a:r>
            <a:endParaRPr lang="en-U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 </a:t>
            </a: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else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endParaRPr lang="en-U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</a:t>
            </a:r>
            <a:r>
              <a:rPr lang="en-US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auto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M </a:t>
            </a: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(E </a:t>
            </a: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-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B) </a:t>
            </a: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/</a:t>
            </a:r>
            <a:r>
              <a:rPr lang="en-US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2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;</a:t>
            </a:r>
            <a:endParaRPr lang="en-U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if </a:t>
            </a:r>
            <a:r>
              <a:rPr lang="en-US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sizeof</a:t>
            </a: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...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</a:t>
            </a: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!=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M) {</a:t>
            </a:r>
            <a:endParaRPr lang="en-U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     </a:t>
            </a:r>
            <a:r>
              <a:rPr lang="en-US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unroll_leftovers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B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E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&gt;(base, n, f, </a:t>
            </a:r>
            <a:r>
              <a:rPr lang="en-US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make_index_sequence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M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&gt;());</a:t>
            </a:r>
            <a:endParaRPr lang="en-U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} </a:t>
            </a:r>
            <a:r>
              <a:rPr lang="en-US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else</a:t>
            </a: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endParaRPr lang="en-U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      if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(n </a:t>
            </a:r>
            <a:r>
              <a:rPr lang="en-US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&gt;=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M) {</a:t>
            </a:r>
            <a:endParaRPr lang="en-US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       (</a:t>
            </a:r>
            <a:r>
              <a:rPr lang="en-US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(base + </a:t>
            </a:r>
            <a:r>
              <a:rPr lang="en-US" b="1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+ B), ...);</a:t>
            </a:r>
            <a:endParaRPr lang="en-US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        </a:t>
            </a:r>
            <a:r>
              <a:rPr lang="en-US" b="1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unroll_leftovers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B</a:t>
            </a:r>
            <a:r>
              <a:rPr lang="en-US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 +</a:t>
            </a:r>
            <a:r>
              <a:rPr lang="en-US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 M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E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&gt;(base, n </a:t>
            </a:r>
            <a:r>
              <a:rPr lang="en-US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-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M, </a:t>
            </a:r>
            <a:r>
              <a:rPr lang="en-US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forward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&gt;(f));</a:t>
            </a:r>
            <a:endParaRPr lang="en-US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     } </a:t>
            </a:r>
            <a:r>
              <a:rPr lang="en-US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else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endParaRPr lang="en-US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        </a:t>
            </a:r>
            <a:r>
              <a:rPr lang="en-US" b="1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unroll_leftovers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B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E</a:t>
            </a:r>
            <a:r>
              <a:rPr lang="en-US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 -</a:t>
            </a:r>
            <a:r>
              <a:rPr lang="en-US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 M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&gt;(base, n, </a:t>
            </a:r>
            <a:r>
              <a:rPr lang="en-US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forward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&gt;(f));</a:t>
            </a:r>
            <a:endParaRPr lang="en-US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     }</a:t>
            </a:r>
            <a:endParaRPr lang="en-US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}</a:t>
            </a:r>
            <a:endParaRPr lang="en-U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</a:t>
            </a:r>
            <a:endParaRPr lang="en-U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marL="0" indent="0" algn="l" hangingPunc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  <a:endParaRPr lang="en-US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79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E6EA6-04A1-46A3-0920-C45F45792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1AD956-D5A8-7ACB-4746-DBA9DB15E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Take Two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36D171-0845-096A-5549-859329401F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Subtler, but just as bad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1E5A5744-97A3-593B-19A8-D312E7831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r>
              <a:rPr lang="en-US" sz="6600" dirty="0">
                <a:latin typeface="+mn-lt"/>
                <a:ea typeface="Roboto Mono" panose="00000009000000000000" pitchFamily="49" charset="0"/>
              </a:rPr>
              <a:t>Indeed </a:t>
            </a:r>
            <a:r>
              <a:rPr lang="en-US" sz="6600" dirty="0">
                <a:latin typeface="Roboto Mono" panose="00000009000000000000" pitchFamily="49" charset="0"/>
                <a:ea typeface="Roboto Mono" panose="00000009000000000000" pitchFamily="49" charset="0"/>
              </a:rPr>
              <a:t>log(n)</a:t>
            </a:r>
            <a:r>
              <a:rPr lang="en-US" sz="6600" dirty="0">
                <a:latin typeface="+mn-lt"/>
                <a:ea typeface="Roboto Mono" panose="00000009000000000000" pitchFamily="49" charset="0"/>
              </a:rPr>
              <a:t> tests </a:t>
            </a:r>
            <a:r>
              <a:rPr lang="en-US" sz="6600" i="1" dirty="0">
                <a:latin typeface="+mn-lt"/>
                <a:ea typeface="Roboto Mono" panose="00000009000000000000" pitchFamily="49" charset="0"/>
              </a:rPr>
              <a:t>for each path taken</a:t>
            </a:r>
          </a:p>
          <a:p>
            <a:r>
              <a:rPr lang="en-US" sz="6000" dirty="0">
                <a:latin typeface="+mn-lt"/>
                <a:ea typeface="Roboto Mono" panose="00000009000000000000" pitchFamily="49" charset="0"/>
              </a:rPr>
              <a:t>However, generated code is </a:t>
            </a:r>
            <a:r>
              <a:rPr lang="en-US" sz="6000" i="1" dirty="0">
                <a:latin typeface="+mn-lt"/>
                <a:ea typeface="Roboto Mono" panose="00000009000000000000" pitchFamily="49" charset="0"/>
              </a:rPr>
              <a:t>big!</a:t>
            </a:r>
          </a:p>
          <a:p>
            <a:r>
              <a:rPr lang="en-US" sz="6000" dirty="0">
                <a:latin typeface="+mn-lt"/>
                <a:ea typeface="Roboto Mono" panose="00000009000000000000" pitchFamily="49" charset="0"/>
              </a:rPr>
              <a:t>For n=16:</a:t>
            </a:r>
          </a:p>
          <a:p>
            <a:pPr lvl="1"/>
            <a:r>
              <a:rPr lang="en-US" sz="5600" dirty="0">
                <a:latin typeface="+mn-lt"/>
                <a:ea typeface="Roboto Mono" panose="00000009000000000000" pitchFamily="49" charset="0"/>
              </a:rPr>
              <a:t>2 basic blocks of length 8, one on each side of the test</a:t>
            </a:r>
          </a:p>
          <a:p>
            <a:pPr lvl="1"/>
            <a:r>
              <a:rPr lang="en-US" sz="5600" dirty="0">
                <a:latin typeface="+mn-lt"/>
                <a:ea typeface="Roboto Mono" panose="00000009000000000000" pitchFamily="49" charset="0"/>
              </a:rPr>
              <a:t>4 basic blocks of length 4</a:t>
            </a:r>
          </a:p>
          <a:p>
            <a:pPr lvl="1"/>
            <a:r>
              <a:rPr lang="en-US" sz="5600" dirty="0">
                <a:latin typeface="+mn-lt"/>
                <a:ea typeface="Roboto Mono" panose="00000009000000000000" pitchFamily="49" charset="0"/>
              </a:rPr>
              <a:t>8 basic blocks of length 2</a:t>
            </a:r>
          </a:p>
          <a:p>
            <a:pPr lvl="1"/>
            <a:r>
              <a:rPr lang="en-US" sz="5600" dirty="0">
                <a:latin typeface="+mn-lt"/>
                <a:ea typeface="Roboto Mono" panose="00000009000000000000" pitchFamily="49" charset="0"/>
              </a:rPr>
              <a:t>16</a:t>
            </a:r>
            <a:r>
              <a:rPr lang="en-US" sz="5600" dirty="0">
                <a:ea typeface="Roboto Mono" panose="00000009000000000000" pitchFamily="49" charset="0"/>
              </a:rPr>
              <a:t> basic blocks of length 2</a:t>
            </a:r>
            <a:endParaRPr lang="en-US" sz="5600" dirty="0">
              <a:latin typeface="+mn-lt"/>
              <a:ea typeface="Roboto Mono" panose="00000009000000000000" pitchFamily="49" charset="0"/>
            </a:endParaRPr>
          </a:p>
          <a:p>
            <a:r>
              <a:rPr lang="en-US" sz="6000" dirty="0">
                <a:latin typeface="+mn-lt"/>
                <a:ea typeface="Roboto Mono" panose="00000009000000000000" pitchFamily="49" charset="0"/>
              </a:rPr>
              <a:t>128 total calls to the lambda!</a:t>
            </a:r>
          </a:p>
          <a:p>
            <a:r>
              <a:rPr lang="en-US" sz="6000" dirty="0">
                <a:latin typeface="+mn-lt"/>
                <a:ea typeface="Roboto Mono" panose="00000009000000000000" pitchFamily="49" charset="0"/>
              </a:rPr>
              <a:t>Compiler can (and does) help with this, still not a great way to go</a:t>
            </a:r>
          </a:p>
          <a:p>
            <a:r>
              <a:rPr lang="en-US" sz="6000" dirty="0">
                <a:latin typeface="+mn-lt"/>
                <a:ea typeface="Roboto Mono" panose="00000009000000000000" pitchFamily="49" charset="0"/>
              </a:rPr>
              <a:t>Need to generate each length exactly once</a:t>
            </a:r>
          </a:p>
        </p:txBody>
      </p:sp>
    </p:spTree>
    <p:extLst>
      <p:ext uri="{BB962C8B-B14F-4D97-AF65-F5344CB8AC3E}">
        <p14:creationId xmlns:p14="http://schemas.microsoft.com/office/powerpoint/2010/main" val="124339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C43B8-EF58-905D-F23A-397D2D123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9BB9AA-3E9D-A873-83F4-E586574E9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Implementation, The Perfect Shade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A7E225-FEF1-9D8F-23E5-ED5AA789F8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Subtler than one might think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0C97DF38-D8BE-673F-2308-146292542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template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&lt;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n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typename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void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unroll_leftovers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base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size_t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m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&amp;&amp;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f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,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index_sequence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...&gt;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{})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if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(n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&gt;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0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   if 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constexpr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(</a:t>
            </a:r>
            <a:r>
              <a:rPr lang="en-US" sz="5400" b="0" i="0" dirty="0" err="1">
                <a:solidFill>
                  <a:srgbClr val="4DD0E1"/>
                </a:solidFill>
                <a:effectLst/>
                <a:latin typeface="Roboto Mono" pitchFamily="2" charset="0"/>
              </a:rPr>
              <a:t>sizeof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...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(</a:t>
            </a:r>
            <a:r>
              <a:rPr lang="en-US" sz="5400" b="0" i="0" dirty="0" err="1">
                <a:solidFill>
                  <a:srgbClr val="ECEFF1"/>
                </a:solidFill>
                <a:effectLst/>
                <a:latin typeface="Roboto Mono" pitchFamily="2" charset="0"/>
              </a:rPr>
              <a:t>i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!=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n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/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2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      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unroll_leftovers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&gt;(base, m, f, 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0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make_index_sequence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0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 /</a:t>
            </a:r>
            <a:r>
              <a:rPr lang="en-US" sz="5400" b="0" i="0" dirty="0">
                <a:solidFill>
                  <a:srgbClr val="FBC02D"/>
                </a:solidFill>
                <a:effectLst/>
                <a:latin typeface="Roboto Mono" pitchFamily="2" charset="0"/>
              </a:rPr>
              <a:t> 2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&gt;());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} </a:t>
            </a:r>
            <a:r>
              <a:rPr lang="en-US" sz="5400" b="0" i="0" dirty="0">
                <a:solidFill>
                  <a:srgbClr val="4DD0E1"/>
                </a:solidFill>
                <a:effectLst/>
                <a:latin typeface="Roboto Mono" pitchFamily="2" charset="0"/>
              </a:rPr>
              <a:t>else</a:t>
            </a: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{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      auto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m2 </a:t>
            </a: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=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m </a:t>
            </a: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&gt;=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n </a:t>
            </a: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/</a:t>
            </a:r>
            <a:r>
              <a:rPr lang="en-US" sz="5400" b="1" i="0" dirty="0">
                <a:solidFill>
                  <a:srgbClr val="FBC02D"/>
                </a:solidFill>
                <a:effectLst/>
                <a:latin typeface="Roboto Mono" pitchFamily="2" charset="0"/>
              </a:rPr>
              <a:t> 2</a:t>
            </a: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 ?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m </a:t>
            </a: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-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n </a:t>
            </a: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/</a:t>
            </a:r>
            <a:r>
              <a:rPr lang="en-US" sz="5400" b="1" i="0" dirty="0">
                <a:solidFill>
                  <a:srgbClr val="FBC02D"/>
                </a:solidFill>
                <a:effectLst/>
                <a:latin typeface="Roboto Mono" pitchFamily="2" charset="0"/>
              </a:rPr>
              <a:t> 2</a:t>
            </a: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 :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m;</a:t>
            </a:r>
            <a:endParaRPr lang="en-US" sz="5400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      </a:t>
            </a:r>
            <a:r>
              <a:rPr lang="en-US" sz="5400" b="1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unroll_leftovers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n</a:t>
            </a: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 /</a:t>
            </a:r>
            <a:r>
              <a:rPr lang="en-US" sz="5400" b="1" i="0" dirty="0">
                <a:solidFill>
                  <a:srgbClr val="FBC02D"/>
                </a:solidFill>
                <a:effectLst/>
                <a:latin typeface="Roboto Mono" pitchFamily="2" charset="0"/>
              </a:rPr>
              <a:t> 2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&gt;(base, m2, </a:t>
            </a:r>
            <a:r>
              <a:rPr lang="en-US" sz="5400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std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::</a:t>
            </a:r>
            <a:r>
              <a:rPr lang="en-US" sz="5400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forward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&lt;</a:t>
            </a:r>
            <a:r>
              <a:rPr lang="en-US" sz="5400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&gt;(f));</a:t>
            </a:r>
            <a:endParaRPr lang="en-US" sz="5400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      if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(m </a:t>
            </a: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&gt;=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n </a:t>
            </a: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/</a:t>
            </a:r>
            <a:r>
              <a:rPr lang="en-US" sz="5400" b="1" i="0" dirty="0">
                <a:solidFill>
                  <a:srgbClr val="FBC02D"/>
                </a:solidFill>
                <a:effectLst/>
                <a:latin typeface="Roboto Mono" pitchFamily="2" charset="0"/>
              </a:rPr>
              <a:t> 2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) {</a:t>
            </a:r>
            <a:endParaRPr lang="en-US" sz="5400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       (</a:t>
            </a:r>
            <a:r>
              <a:rPr lang="en-US" sz="5400" b="1" i="0" dirty="0">
                <a:solidFill>
                  <a:srgbClr val="CE93D8"/>
                </a:solidFill>
                <a:effectLst/>
                <a:latin typeface="Roboto Mono" pitchFamily="2" charset="0"/>
              </a:rPr>
              <a:t>f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(base </a:t>
            </a:r>
            <a:r>
              <a:rPr lang="en-US" sz="5400" b="1" i="0" dirty="0">
                <a:solidFill>
                  <a:srgbClr val="4DD0E1"/>
                </a:solidFill>
                <a:effectLst/>
                <a:latin typeface="Roboto Mono" pitchFamily="2" charset="0"/>
              </a:rPr>
              <a:t>+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m2 + </a:t>
            </a:r>
            <a:r>
              <a:rPr lang="en-US" sz="5400" b="1" i="0" dirty="0" err="1">
                <a:solidFill>
                  <a:srgbClr val="CE93D8"/>
                </a:solidFill>
                <a:effectLst/>
                <a:latin typeface="Roboto Mono" pitchFamily="2" charset="0"/>
              </a:rPr>
              <a:t>i</a:t>
            </a: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), ...);</a:t>
            </a:r>
            <a:endParaRPr lang="en-US" sz="5400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1" i="0" dirty="0">
                <a:solidFill>
                  <a:srgbClr val="ECEFF1"/>
                </a:solidFill>
                <a:effectLst/>
                <a:latin typeface="Roboto Mono" pitchFamily="2" charset="0"/>
              </a:rPr>
              <a:t>      }</a:t>
            </a:r>
            <a:endParaRPr lang="en-US" sz="5400" b="1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  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  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5400" b="0" i="0" dirty="0">
                <a:solidFill>
                  <a:srgbClr val="ECEFF1"/>
                </a:solidFill>
                <a:effectLst/>
                <a:latin typeface="Roboto Mono" pitchFamily="2" charset="0"/>
              </a:rPr>
              <a:t>}</a:t>
            </a:r>
            <a:endParaRPr lang="en-US" sz="5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20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6C5838-5B15-4295-A6AB-336C44034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864752-C98B-41D5-A8F0-CAAA5ACFFA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>
              <a:latin typeface="+mn-lt"/>
              <a:ea typeface="Roboto Mono" panose="00000009000000000000" pitchFamily="49" charset="0"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C4E44C6-E88C-4CDE-9E6A-035AA5A6F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r>
              <a:rPr lang="en-US" sz="7200" dirty="0">
                <a:latin typeface="+mn-lt"/>
                <a:ea typeface="Roboto Mono" panose="00000009000000000000" pitchFamily="49" charset="0"/>
              </a:rPr>
              <a:t>Effective partial/total unrolling by combining a few simple </a:t>
            </a:r>
            <a:r>
              <a:rPr lang="en-US" sz="7200" dirty="0"/>
              <a:t>µideas</a:t>
            </a:r>
          </a:p>
          <a:p>
            <a:pPr lvl="1"/>
            <a:r>
              <a:rPr lang="en-US" sz="6600" dirty="0"/>
              <a:t>Use variadic expansion to effect unrolling</a:t>
            </a:r>
          </a:p>
          <a:p>
            <a:pPr lvl="2"/>
            <a:r>
              <a:rPr lang="en-US" sz="6000" dirty="0"/>
              <a:t>Fold expressions obviate the need for multiple template instantiations</a:t>
            </a:r>
          </a:p>
          <a:p>
            <a:pPr lvl="1"/>
            <a:r>
              <a:rPr lang="en-US" sz="6600" dirty="0"/>
              <a:t>Encapsulate/hide use of </a:t>
            </a:r>
            <a:r>
              <a:rPr lang="en-US" sz="6600" dirty="0"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sz="66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index_sequence</a:t>
            </a:r>
            <a:endParaRPr lang="en-US" sz="6600" dirty="0">
              <a:latin typeface="Roboto Mono" panose="00000009000000000000" pitchFamily="49" charset="0"/>
              <a:ea typeface="Roboto Mono" panose="00000009000000000000" pitchFamily="49" charset="0"/>
            </a:endParaRPr>
          </a:p>
          <a:p>
            <a:r>
              <a:rPr lang="en-US" sz="7000" dirty="0"/>
              <a:t>Leverage </a:t>
            </a:r>
            <a:r>
              <a:rPr lang="en-US" sz="7000" dirty="0">
                <a:latin typeface="Roboto Mono" panose="00000009000000000000" pitchFamily="49" charset="0"/>
                <a:ea typeface="Roboto Mono" panose="00000009000000000000" pitchFamily="49" charset="0"/>
              </a:rPr>
              <a:t>std::</a:t>
            </a:r>
            <a:r>
              <a:rPr lang="en-US" sz="7000" dirty="0" err="1">
                <a:latin typeface="Roboto Mono" panose="00000009000000000000" pitchFamily="49" charset="0"/>
                <a:ea typeface="Roboto Mono" panose="00000009000000000000" pitchFamily="49" charset="0"/>
              </a:rPr>
              <a:t>integral_constant</a:t>
            </a:r>
            <a:r>
              <a:rPr lang="en-US" sz="7000" dirty="0"/>
              <a:t> and the null type pattern</a:t>
            </a:r>
          </a:p>
          <a:p>
            <a:pPr lvl="2"/>
            <a:r>
              <a:rPr lang="en-US" sz="6000" dirty="0"/>
              <a:t>Take advantage of generic lambdas</a:t>
            </a:r>
          </a:p>
          <a:p>
            <a:pPr lvl="2"/>
            <a:r>
              <a:rPr lang="en-US" sz="6000" dirty="0"/>
              <a:t>Usable as a true compile-time constant inside the lambda</a:t>
            </a:r>
          </a:p>
          <a:p>
            <a:r>
              <a:rPr lang="en-US" sz="7000" dirty="0"/>
              <a:t>Use simple introspection to assess whether the lambda “wants” to exit early</a:t>
            </a:r>
          </a:p>
          <a:p>
            <a:pPr lvl="2"/>
            <a:r>
              <a:rPr lang="en-US" sz="6000" dirty="0"/>
              <a:t>Generate optimal code in all cases</a:t>
            </a:r>
          </a:p>
        </p:txBody>
      </p:sp>
    </p:spTree>
    <p:extLst>
      <p:ext uri="{BB962C8B-B14F-4D97-AF65-F5344CB8AC3E}">
        <p14:creationId xmlns:p14="http://schemas.microsoft.com/office/powerpoint/2010/main" val="4284222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86768-EB48-3A7C-1267-B4216919E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101326-A5CA-C403-60FD-73DCF2A3D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Notes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2AFC3C-CDF0-278D-A142-B0508218B4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>
              <a:latin typeface="+mn-lt"/>
              <a:ea typeface="Roboto Mono" panose="00000009000000000000" pitchFamily="49" charset="0"/>
            </a:endParaRP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84B0F14-8FEE-5B94-AE2F-4A8109EE2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4846638"/>
            <a:ext cx="31546800" cy="13650912"/>
          </a:xfrm>
        </p:spPr>
        <p:txBody>
          <a:bodyPr anchor="ctr"/>
          <a:lstStyle/>
          <a:p>
            <a:r>
              <a:rPr lang="en-US" sz="6000" dirty="0"/>
              <a:t>Please stop using browser chatbots!</a:t>
            </a:r>
          </a:p>
          <a:p>
            <a:r>
              <a:rPr lang="en-US" sz="6000" dirty="0"/>
              <a:t>Current agents</a:t>
            </a:r>
          </a:p>
          <a:p>
            <a:pPr lvl="1"/>
            <a:r>
              <a:rPr lang="en-US" sz="5600" dirty="0"/>
              <a:t>Helpful</a:t>
            </a:r>
          </a:p>
          <a:p>
            <a:pPr lvl="1"/>
            <a:r>
              <a:rPr lang="en-US" sz="5600" dirty="0"/>
              <a:t>Prolific</a:t>
            </a:r>
          </a:p>
          <a:p>
            <a:pPr lvl="1"/>
            <a:r>
              <a:rPr lang="en-US" sz="5600" dirty="0"/>
              <a:t>Not great at generating </a:t>
            </a:r>
            <a:r>
              <a:rPr lang="en-US" sz="6000" dirty="0"/>
              <a:t>µ</a:t>
            </a:r>
            <a:r>
              <a:rPr lang="en-US" sz="5600" dirty="0"/>
              <a:t>ideas</a:t>
            </a:r>
          </a:p>
          <a:p>
            <a:pPr lvl="1"/>
            <a:r>
              <a:rPr lang="en-US" sz="5600" dirty="0"/>
              <a:t>Great at following them (“using </a:t>
            </a:r>
            <a:r>
              <a:rPr lang="en-US" sz="5600" dirty="0">
                <a:latin typeface="Roboto Mono" panose="00000009000000000000" pitchFamily="49" charset="0"/>
                <a:ea typeface="Roboto Mono" panose="00000009000000000000" pitchFamily="49" charset="0"/>
              </a:rPr>
              <a:t>unroll</a:t>
            </a:r>
            <a:r>
              <a:rPr lang="en-US" sz="5600" dirty="0"/>
              <a:t>, implement…”)</a:t>
            </a:r>
          </a:p>
          <a:p>
            <a:r>
              <a:rPr lang="en-US" sz="6000" dirty="0"/>
              <a:t>Generated code must still be human-inspected/maintained in production systems</a:t>
            </a:r>
          </a:p>
          <a:p>
            <a:pPr lvl="1"/>
            <a:r>
              <a:rPr lang="en-US" sz="5600" dirty="0"/>
              <a:t>Need to curb models’ tendency to generate massive amounts of code</a:t>
            </a:r>
          </a:p>
          <a:p>
            <a:endParaRPr lang="en-US" sz="6000" dirty="0"/>
          </a:p>
          <a:p>
            <a:r>
              <a:rPr lang="en-US" sz="6000" i="1" dirty="0">
                <a:solidFill>
                  <a:schemeClr val="tx2"/>
                </a:solidFill>
              </a:rPr>
              <a:t>Good context is a cheap form of training</a:t>
            </a:r>
          </a:p>
        </p:txBody>
      </p:sp>
    </p:spTree>
    <p:extLst>
      <p:ext uri="{BB962C8B-B14F-4D97-AF65-F5344CB8AC3E}">
        <p14:creationId xmlns:p14="http://schemas.microsoft.com/office/powerpoint/2010/main" val="235445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2788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itle Only">
  <a:themeElements>
    <a:clrScheme name="Custom 15">
      <a:dk1>
        <a:srgbClr val="FFFFFF"/>
      </a:dk1>
      <a:lt1>
        <a:srgbClr val="000000"/>
      </a:lt1>
      <a:dk2>
        <a:srgbClr val="76B900"/>
      </a:dk2>
      <a:lt2>
        <a:srgbClr val="CDCDCD"/>
      </a:lt2>
      <a:accent1>
        <a:srgbClr val="008564"/>
      </a:accent1>
      <a:accent2>
        <a:srgbClr val="5D1682"/>
      </a:accent2>
      <a:accent3>
        <a:srgbClr val="890C58"/>
      </a:accent3>
      <a:accent4>
        <a:srgbClr val="5E5E5E"/>
      </a:accent4>
      <a:accent5>
        <a:srgbClr val="8C8C8C"/>
      </a:accent5>
      <a:accent6>
        <a:srgbClr val="0071C5"/>
      </a:accent6>
      <a:hlink>
        <a:srgbClr val="76B900"/>
      </a:hlink>
      <a:folHlink>
        <a:srgbClr val="76B900"/>
      </a:folHlink>
    </a:clrScheme>
    <a:fontScheme name="NVIDIA Sans">
      <a:majorFont>
        <a:latin typeface="NVIDIA Sans Medium"/>
        <a:ea typeface=""/>
        <a:cs typeface=""/>
      </a:majorFont>
      <a:minorFont>
        <a:latin typeface="NVIDIA Sans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scene3d>
          <a:camera prst="orthographicFront"/>
          <a:lightRig rig="soft" dir="t">
            <a:rot lat="0" lon="0" rev="20400000"/>
          </a:lightRig>
        </a:scene3d>
        <a:sp3d prstMaterial="plastic">
          <a:bevelT w="0" h="0"/>
        </a:sp3d>
      </a:spPr>
      <a:bodyPr lIns="45720" tIns="91440" rIns="45720" bIns="91440" rtlCol="0" anchor="ctr"/>
      <a:lstStyle>
        <a:defPPr algn="ctr">
          <a:lnSpc>
            <a:spcPct val="90000"/>
          </a:lnSpc>
          <a:defRPr sz="3200" dirty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lnSpc>
            <a:spcPct val="90000"/>
          </a:lnSpc>
          <a:defRPr sz="4000" dirty="0" err="1" smtClean="0">
            <a:latin typeface="NVIDIA Sans" panose="020B0503020203020204" pitchFamily="34" charset="0"/>
            <a:cs typeface="NVIDIA Sans" panose="020B05030202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VIDIA_Sans_Corp_Template_DARK_v2_NewKV.pptx" id="{060452D9-0E63-469A-96C4-06C7BE70A905}" vid="{D8E21F73-B411-4131-834E-AFC4C4FA69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VIDIA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5EAE5F8329F47B840B6DEBAC2F43F" ma:contentTypeVersion="15" ma:contentTypeDescription="Create a new document." ma:contentTypeScope="" ma:versionID="39d09db77ad425bdbc3d080218c7c01e">
  <xsd:schema xmlns:xsd="http://www.w3.org/2001/XMLSchema" xmlns:xs="http://www.w3.org/2001/XMLSchema" xmlns:p="http://schemas.microsoft.com/office/2006/metadata/properties" xmlns:ns1="http://schemas.microsoft.com/sharepoint/v3" xmlns:ns2="2a5b1eea-32a8-4673-8d38-de3226caeee3" xmlns:ns3="f65afe6d-7162-4df4-ae98-80745cab72d4" targetNamespace="http://schemas.microsoft.com/office/2006/metadata/properties" ma:root="true" ma:fieldsID="262224961ea4106f8e7d0f360b05b90c" ns1:_="" ns2:_="" ns3:_="">
    <xsd:import namespace="http://schemas.microsoft.com/sharepoint/v3"/>
    <xsd:import namespace="2a5b1eea-32a8-4673-8d38-de3226caeee3"/>
    <xsd:import namespace="f65afe6d-7162-4df4-ae98-80745cab72d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5b1eea-32a8-4673-8d38-de3226caee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04b2a00-2846-4002-b30b-85ebaf4c01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5afe6d-7162-4df4-ae98-80745cab72d4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a9d4e2c1-4547-4ca0-9568-b573cd0c84c4}" ma:internalName="TaxCatchAll" ma:showField="CatchAllData" ma:web="f65afe6d-7162-4df4-ae98-80745cab72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65afe6d-7162-4df4-ae98-80745cab72d4" xsi:nil="true"/>
    <PublishingExpirationDate xmlns="http://schemas.microsoft.com/sharepoint/v3" xsi:nil="true"/>
    <PublishingStartDate xmlns="http://schemas.microsoft.com/sharepoint/v3" xsi:nil="true"/>
    <lcf76f155ced4ddcb4097134ff3c332f xmlns="2a5b1eea-32a8-4673-8d38-de3226caeee3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D870720-E8BE-4DDF-A246-91972D7203C0}">
  <ds:schemaRefs>
    <ds:schemaRef ds:uri="2a5b1eea-32a8-4673-8d38-de3226caeee3"/>
    <ds:schemaRef ds:uri="f65afe6d-7162-4df4-ae98-80745cab72d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F73AA54-B87E-47CD-AEE4-EF31A40AFE93}">
  <ds:schemaRefs>
    <ds:schemaRef ds:uri="http://www.w3.org/XML/1998/namespace"/>
    <ds:schemaRef ds:uri="http://purl.org/dc/elements/1.1/"/>
    <ds:schemaRef ds:uri="http://purl.org/dc/dcmitype/"/>
    <ds:schemaRef ds:uri="f65afe6d-7162-4df4-ae98-80745cab72d4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2a5b1eea-32a8-4673-8d38-de3226caeee3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DA8E59A-6F01-4B49-85D2-9F073901E7D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3083d15-7273-40c1-b7db-39efd9ccc17a}" enabled="0" method="" siteId="{43083d15-7273-40c1-b7db-39efd9ccc17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16525</TotalTime>
  <Words>4279</Words>
  <Application>Microsoft Macintosh PowerPoint</Application>
  <PresentationFormat>Custom</PresentationFormat>
  <Paragraphs>449</Paragraphs>
  <Slides>43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NVIDIA Sans Medium</vt:lpstr>
      <vt:lpstr>Roboto Mono</vt:lpstr>
      <vt:lpstr>NVIDIA Sans Light</vt:lpstr>
      <vt:lpstr>NVIDIA Sans</vt:lpstr>
      <vt:lpstr>Title Only</vt:lpstr>
      <vt:lpstr>PowerPoint Presentation</vt:lpstr>
      <vt:lpstr>How to Tame Packs, std::tuple, and the Wily std::integer_sequence</vt:lpstr>
      <vt:lpstr>Your Rights as a Conference Attendee</vt:lpstr>
      <vt:lpstr>PowerPoint Presentation</vt:lpstr>
      <vt:lpstr>Motivation</vt:lpstr>
      <vt:lpstr>Hello, template for</vt:lpstr>
      <vt:lpstr>And Hello, Um, “Structured Bindings can introduce a Pack“</vt:lpstr>
      <vt:lpstr>Motivation</vt:lpstr>
      <vt:lpstr>Iterating a Tuple</vt:lpstr>
      <vt:lpstr>Trick for Tuple Iteration (C++20+)</vt:lpstr>
      <vt:lpstr>Trick for Tuple Iteration (C++17)</vt:lpstr>
      <vt:lpstr>Disposition</vt:lpstr>
      <vt:lpstr>For Now: Hello, unroll</vt:lpstr>
      <vt:lpstr>unroll, Second Take</vt:lpstr>
      <vt:lpstr>Working unroll</vt:lpstr>
      <vt:lpstr>PowerPoint Presentation</vt:lpstr>
      <vt:lpstr>TMI: Too Much Iteration (Sometimes)</vt:lpstr>
      <vt:lpstr>Alternative unroll: bool-returning lambda</vt:lpstr>
      <vt:lpstr>µidea: Lambda Return Type Decides Early Exit</vt:lpstr>
      <vt:lpstr>µidea: Lambda Return Type Decides Early Exit</vt:lpstr>
      <vt:lpstr>PowerPoint Presentation</vt:lpstr>
      <vt:lpstr>PowerPoint Presentation</vt:lpstr>
      <vt:lpstr>A Filtering make_tuple</vt:lpstr>
      <vt:lpstr>Aside</vt:lpstr>
      <vt:lpstr>Unrolling Into Tuple</vt:lpstr>
      <vt:lpstr>Use Case: Insert/Remove</vt:lpstr>
      <vt:lpstr>Use Case: Sizes and Strides</vt:lpstr>
      <vt:lpstr>Use Case: Flexible std::tuple/array Iteration</vt:lpstr>
      <vt:lpstr>(The C++20 Way)</vt:lpstr>
      <vt:lpstr>Use Case: Convert Array to Tuple</vt:lpstr>
      <vt:lpstr>Finally: small_vector</vt:lpstr>
      <vt:lpstr>PowerPoint Presentation</vt:lpstr>
      <vt:lpstr>Partial Unrolling</vt:lpstr>
      <vt:lpstr>Implementation, Take One</vt:lpstr>
      <vt:lpstr>Problem with Take One</vt:lpstr>
      <vt:lpstr>Use Bisection for log(n) Tests!</vt:lpstr>
      <vt:lpstr>Implementation, Take Two</vt:lpstr>
      <vt:lpstr>Implementation, Take Two (cont’d)</vt:lpstr>
      <vt:lpstr>Problem with Take Two</vt:lpstr>
      <vt:lpstr>Implementation, The Perfect Shade</vt:lpstr>
      <vt:lpstr>Summary</vt:lpstr>
      <vt:lpstr>AI Notes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Laura Spillman</dc:creator>
  <cp:lastModifiedBy>Andrei Alexandrescu</cp:lastModifiedBy>
  <cp:revision>193</cp:revision>
  <dcterms:created xsi:type="dcterms:W3CDTF">2023-06-27T20:34:06Z</dcterms:created>
  <dcterms:modified xsi:type="dcterms:W3CDTF">2025-09-16T20:19:48Z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0x010100A145EAE5F8329F47B840B6DEBAC2F43F</vt:lpwstr>
  </property>
  <property fmtid="{D5CDD505-2E9C-101B-9397-08002B2CF9AE}" pid="3" name="MediaServiceImageTags">
    <vt:lpwstr/>
  </property>
</Properties>
</file>