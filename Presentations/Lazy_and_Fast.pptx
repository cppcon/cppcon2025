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96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7" r:id="rId17"/>
    <p:sldId id="275" r:id="rId18"/>
    <p:sldId id="273" r:id="rId19"/>
    <p:sldId id="297" r:id="rId20"/>
    <p:sldId id="276" r:id="rId21"/>
    <p:sldId id="278" r:id="rId22"/>
    <p:sldId id="279" r:id="rId23"/>
    <p:sldId id="285" r:id="rId24"/>
    <p:sldId id="287" r:id="rId25"/>
    <p:sldId id="286" r:id="rId26"/>
    <p:sldId id="288" r:id="rId27"/>
    <p:sldId id="290" r:id="rId28"/>
    <p:sldId id="289" r:id="rId29"/>
    <p:sldId id="291" r:id="rId30"/>
    <p:sldId id="280" r:id="rId31"/>
    <p:sldId id="281" r:id="rId32"/>
    <p:sldId id="282" r:id="rId33"/>
    <p:sldId id="284" r:id="rId34"/>
    <p:sldId id="292" r:id="rId35"/>
    <p:sldId id="294" r:id="rId36"/>
    <p:sldId id="293" r:id="rId37"/>
    <p:sldId id="298" r:id="rId38"/>
    <p:sldId id="28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728"/>
    <a:srgbClr val="FF7F0E"/>
    <a:srgbClr val="F5A766"/>
    <a:srgbClr val="007C00"/>
    <a:srgbClr val="BFE8E4"/>
    <a:srgbClr val="F6C6AD"/>
    <a:srgbClr val="F0F0F0"/>
    <a:srgbClr val="EF6C00"/>
    <a:srgbClr val="96DCF8"/>
    <a:srgbClr val="1F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0872" autoAdjust="0"/>
  </p:normalViewPr>
  <p:slideViewPr>
    <p:cSldViewPr snapToGrid="0">
      <p:cViewPr varScale="1">
        <p:scale>
          <a:sx n="89" d="100"/>
          <a:sy n="89" d="100"/>
        </p:scale>
        <p:origin x="82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47DC-7928-46B6-9F13-09A1B5FED67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D0FB-44F1-4C28-85AD-0839FC448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6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81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11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3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43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D0FB-44F1-4C28-85AD-0839FC44856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9C35-DD24-42EF-C66A-6D7AC445F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EF6C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49802-44EC-F3D2-4E9C-B1D80BBF7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C9647-773F-EB8E-6AEA-4663348F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2F6D-AA37-492F-881D-96819B24F32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1AA81-479C-2ED9-FD91-6D6487A3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A099-8553-CC9D-61D8-EE54B0B6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9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633A-752A-317F-E927-6568EE4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EF6C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223B-0123-608F-08C8-D2C97DD7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B0597-9623-A375-75B0-20EEBD5F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B8CB-A954-4B39-84C4-5826FD1B6F94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33D1C-F1BB-CA09-A751-C0CD684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C0134-1478-B945-92E6-3857F9C8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4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DA39-6297-3F28-B46D-9899FD4D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74D4-F2DB-050D-7EBA-F1EA349B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2CEBC-FE69-08E8-2F40-F14D63CF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1D74-19E2-460B-9C05-EAE3F1AC0AE4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FB0DC-FB5F-B209-76AB-6D19E14A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C69BD-670B-750A-7EBE-4CD64EBC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26;p4">
            <a:extLst>
              <a:ext uri="{FF2B5EF4-FFF2-40B4-BE49-F238E27FC236}">
                <a16:creationId xmlns:a16="http://schemas.microsoft.com/office/drawing/2014/main" id="{04C426BD-9C1C-8758-AFAB-7058411DC63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33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795A-07DF-691A-06B2-1F61C9470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F7F0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FFD1E-59E6-151F-7354-E0A980B75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5FC27-C4E5-69B7-2DE5-FB22B5F0B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7FD6A-88B3-267C-7F0C-C56AF05A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3728-7646-4CD9-954D-17E03DA55F4A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310D8-A381-FC75-C905-F5F830A7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69A42-1095-43CE-8F6C-790C6B00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5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8361-C0A1-EB3B-3E8F-7ED5C020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FE5E9-E4DA-E5D1-C8A6-319A782F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3E5AD-A314-26D6-6B6D-7A64761D1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FD8EF-04C3-EC90-FD5E-9580FA0A6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D4E2D-A638-7EDF-D6C8-F75EC7F24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125E4-7FB8-016C-63E1-0914E43E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5516-09C6-4958-9C13-D6B2892F7B7F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C30D48-0AFC-0B29-A3EA-7D0CD960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E3E64-A452-792B-64B5-A95B5834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6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50CE-D0A8-1321-9FD8-2D8FB252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68B17-CEC2-A5DE-8CD4-61EC4E86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DDB66-5BE8-418B-83F6-83F44476816C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9E794-5BE1-01F6-69A7-2D00911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0381C-7C5C-74B6-D8E4-88BB2DA5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A46A9-E346-2D9D-A3BB-787A0747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F5DA5-7961-4C66-9C90-2469DB5A9166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CAA91-ACD2-BE87-F943-678DA5E5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3D85C-79F8-85FC-4691-C42BBE24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6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108E-2963-E793-D73F-97E9F127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B861-6EDD-7F52-458A-5181DCAB2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35B60-416F-8635-B208-39C44CC81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A02B7-5DE8-17A4-E111-9A7F8F65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E2B39-91FC-42DF-A971-9FC197301087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C6DCD-CE90-D8B7-8836-D4106DC5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6186B-672B-7263-ACC9-A43C2314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0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C562-2748-0114-192A-6DCEFD03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D9F8C-4DDA-FCBA-10C7-B5F3B70BE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FA9EE-8A3C-02F4-070B-F2A02657C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1E4EF-5DDE-A10C-1329-D00BDC73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9628-BF39-4724-B005-1367EB20EB7A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E8A1C-E03E-F540-9CD9-8AA0703E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50188-6FBE-7D8E-6C05-30D1901C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2130-365A-6313-8779-4ADE0CD2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EDBEE-AA69-2670-735C-D5D2C3E88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DA4D-7B2E-6179-0C3F-54BEA5F6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7116-5A2B-4BDC-9918-9279C18407E5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CE585-97C3-F767-9CD2-C4BB2FAF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33416-5452-738A-FF11-D25A6B57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4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68FA8-7841-A14A-0FD3-D525401AA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AFDC4-946B-D862-912B-B48F7DEFC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EB85-299B-20DB-A9B1-9A7E8467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5E45F-0E70-4BE0-871D-3D27E16E789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EB2B-26F6-57FB-B87A-D22A4704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1D832-B3D2-9C22-2B6A-98E1A78B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0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ABC0B-5E2B-D193-7BE2-5DDD99B9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5794-3A04-E173-6023-EF4E778E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D4C8D-4152-26EF-8CB4-1B57EC906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355D0-FB60-465A-8DA5-64DAB0FE4305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968AC-BD24-9FD1-A6A2-9A01C065E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0C5FE-B620-B391-0BED-96135B355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F6E94-881E-4BEF-8C2A-2F7F029D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5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muparlay.github.io/parlaylib/algorithms/delayed.html" TargetMode="External"/><Relationship Id="rId2" Type="http://schemas.openxmlformats.org/officeDocument/2006/relationships/hyperlink" Target="https://github.com/cmuparlay/parlayli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8B69-4BC7-5671-6B5C-CD1B70AB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blue and yellow business card&#10;&#10;AI-generated content may be incorrect.">
            <a:extLst>
              <a:ext uri="{FF2B5EF4-FFF2-40B4-BE49-F238E27FC236}">
                <a16:creationId xmlns:a16="http://schemas.microsoft.com/office/drawing/2014/main" id="{163D0557-F4DA-368E-1E92-416058C8B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9C8B-7F20-A38A-20DA-3A79724B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A86D-B6E7-C721-1C4D-D67BD9EE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we'll learn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83BD-996A-ECAB-444C-1C08C1487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9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🧱 </a:t>
            </a:r>
            <a:r>
              <a:rPr lang="en-US" b="1" dirty="0"/>
              <a:t>What causes parallel algorithms to stop scaling?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DB88-8C23-2EDF-62E4-0758403E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6D6BFE-F090-8484-EA33-387F0308F527}"/>
              </a:ext>
            </a:extLst>
          </p:cNvPr>
          <p:cNvSpPr txBox="1">
            <a:spLocks/>
          </p:cNvSpPr>
          <p:nvPr/>
        </p:nvSpPr>
        <p:spPr>
          <a:xfrm>
            <a:off x="1498600" y="2509837"/>
            <a:ext cx="7950200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⏳ Laziness as a cure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D8BF1C-33C2-75DB-E28C-DEB41F1B21EB}"/>
              </a:ext>
            </a:extLst>
          </p:cNvPr>
          <p:cNvSpPr txBox="1">
            <a:spLocks/>
          </p:cNvSpPr>
          <p:nvPr/>
        </p:nvSpPr>
        <p:spPr>
          <a:xfrm>
            <a:off x="838200" y="3194049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🔗 </a:t>
            </a:r>
            <a:r>
              <a:rPr lang="en-US" b="1" dirty="0"/>
              <a:t>Why parallelism and ranges don't play well (yet)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621B0C-5BD5-533E-17DB-F853CD01A581}"/>
              </a:ext>
            </a:extLst>
          </p:cNvPr>
          <p:cNvSpPr txBox="1">
            <a:spLocks/>
          </p:cNvSpPr>
          <p:nvPr/>
        </p:nvSpPr>
        <p:spPr>
          <a:xfrm>
            <a:off x="1498600" y="3878261"/>
            <a:ext cx="7950200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📦 How to fix it!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BA229A2-C3A9-3FA1-DCCE-E33404669BC7}"/>
              </a:ext>
            </a:extLst>
          </p:cNvPr>
          <p:cNvSpPr txBox="1">
            <a:spLocks/>
          </p:cNvSpPr>
          <p:nvPr/>
        </p:nvSpPr>
        <p:spPr>
          <a:xfrm>
            <a:off x="838200" y="4568030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🛠️ </a:t>
            </a:r>
            <a:r>
              <a:rPr lang="en-US" b="1" dirty="0"/>
              <a:t>Algorithms for parallel lazy range adapters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5756DC-E97A-3BCB-5C1F-C0D76B7C3FB9}"/>
              </a:ext>
            </a:extLst>
          </p:cNvPr>
          <p:cNvSpPr txBox="1">
            <a:spLocks/>
          </p:cNvSpPr>
          <p:nvPr/>
        </p:nvSpPr>
        <p:spPr>
          <a:xfrm>
            <a:off x="1498600" y="5257799"/>
            <a:ext cx="7950200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🚀 Some applications and benchmarks</a:t>
            </a:r>
          </a:p>
        </p:txBody>
      </p:sp>
    </p:spTree>
    <p:extLst>
      <p:ext uri="{BB962C8B-B14F-4D97-AF65-F5344CB8AC3E}">
        <p14:creationId xmlns:p14="http://schemas.microsoft.com/office/powerpoint/2010/main" val="16006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2D9472-D7C4-3FDD-FA7D-2482A359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891CE4-E473-47F1-8719-4E3CAFC74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10E5D-9540-DA85-5717-A19846B1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4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64BF-CC2B-A79B-0EE0-DD6B2916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parallel algorithms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4948A8-4C83-A043-8661-9AE0F42F4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2059" y="1448981"/>
            <a:ext cx="7543687" cy="45262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D0A54-819B-7396-5920-FB50BE85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4D221D-C98A-6F6E-E56B-5A49D25D9EC4}"/>
              </a:ext>
            </a:extLst>
          </p:cNvPr>
          <p:cNvGrpSpPr/>
          <p:nvPr/>
        </p:nvGrpSpPr>
        <p:grpSpPr>
          <a:xfrm>
            <a:off x="7957636" y="5965522"/>
            <a:ext cx="1280532" cy="400110"/>
            <a:chOff x="1280160" y="5848665"/>
            <a:chExt cx="1280532" cy="40011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088653E-47AC-CDA7-8AA5-5FBD65CCEFBB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D627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55AB5F-4727-B553-EC9E-9B0007BF3466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D62728"/>
                  </a:solidFill>
                  <a:latin typeface="Consolas" panose="020B0609020204030204" pitchFamily="49" charset="0"/>
                </a:rPr>
                <a:t>filter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70D076-1F11-F251-8651-D71365095596}"/>
              </a:ext>
            </a:extLst>
          </p:cNvPr>
          <p:cNvGrpSpPr/>
          <p:nvPr/>
        </p:nvGrpSpPr>
        <p:grpSpPr>
          <a:xfrm>
            <a:off x="3103966" y="5965522"/>
            <a:ext cx="1280532" cy="400110"/>
            <a:chOff x="1280160" y="5848665"/>
            <a:chExt cx="1280532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7376B37-C61D-14D8-4CD4-C8728B3D9FBE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FF7F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17AD67-5587-B23F-2BF0-450DE2454967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EF6C00"/>
                  </a:solidFill>
                  <a:latin typeface="Consolas" panose="020B0609020204030204" pitchFamily="49" charset="0"/>
                </a:rPr>
                <a:t>reduce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9C9359-6201-634B-911D-AA9C3BFEA57B}"/>
              </a:ext>
            </a:extLst>
          </p:cNvPr>
          <p:cNvGrpSpPr/>
          <p:nvPr/>
        </p:nvGrpSpPr>
        <p:grpSpPr>
          <a:xfrm>
            <a:off x="4665618" y="5965522"/>
            <a:ext cx="1703725" cy="400110"/>
            <a:chOff x="1280160" y="5848665"/>
            <a:chExt cx="1703725" cy="40011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FB7626-352C-C411-2373-8B34997D09F6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A7DD2D-27E1-32C4-A329-0999FC4802EB}"/>
                </a:ext>
              </a:extLst>
            </p:cNvPr>
            <p:cNvSpPr txBox="1"/>
            <p:nvPr/>
          </p:nvSpPr>
          <p:spPr>
            <a:xfrm>
              <a:off x="1529641" y="5848665"/>
              <a:ext cx="14542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transform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E8DDC4-E158-94E1-F70C-6C1D4E1C726E}"/>
              </a:ext>
            </a:extLst>
          </p:cNvPr>
          <p:cNvGrpSpPr/>
          <p:nvPr/>
        </p:nvGrpSpPr>
        <p:grpSpPr>
          <a:xfrm>
            <a:off x="6719845" y="5965522"/>
            <a:ext cx="998404" cy="400110"/>
            <a:chOff x="1280160" y="5848665"/>
            <a:chExt cx="998404" cy="4001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17DB218-5994-82E3-2347-CAACF1371763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57B3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79AC6F-7ACD-C4D7-A405-5A5C2B125714}"/>
                </a:ext>
              </a:extLst>
            </p:cNvPr>
            <p:cNvSpPr txBox="1"/>
            <p:nvPr/>
          </p:nvSpPr>
          <p:spPr>
            <a:xfrm>
              <a:off x="1529641" y="5848665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scan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779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5F20-12F5-E8AF-93C5-3C71E8DB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E94D-903C-B176-353A-6B20D09F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parallel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A034-1AF9-B519-E2C1-057F1A65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D55438-F9EA-4337-3359-C329C8E7D268}"/>
              </a:ext>
            </a:extLst>
          </p:cNvPr>
          <p:cNvGrpSpPr/>
          <p:nvPr/>
        </p:nvGrpSpPr>
        <p:grpSpPr>
          <a:xfrm>
            <a:off x="7957636" y="5965522"/>
            <a:ext cx="1280532" cy="400110"/>
            <a:chOff x="1280160" y="5848665"/>
            <a:chExt cx="1280532" cy="40011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5CA4202-4221-3AA6-33BE-763A02969CF7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D627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460E01-8B8B-1C3D-9F40-E2350F981B06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D62728"/>
                  </a:solidFill>
                  <a:latin typeface="Consolas" panose="020B0609020204030204" pitchFamily="49" charset="0"/>
                </a:rPr>
                <a:t>filter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0C0A7C1-9397-40E7-E519-3D5F289DB66C}"/>
              </a:ext>
            </a:extLst>
          </p:cNvPr>
          <p:cNvGrpSpPr/>
          <p:nvPr/>
        </p:nvGrpSpPr>
        <p:grpSpPr>
          <a:xfrm>
            <a:off x="3103966" y="5965522"/>
            <a:ext cx="1280532" cy="400110"/>
            <a:chOff x="1280160" y="5848665"/>
            <a:chExt cx="1280532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D61A3DF-AB14-8A60-0468-3167CAD7FC97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FF7F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DE646-3545-5E88-8D8D-CB5B1851C9FE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EF6C00"/>
                  </a:solidFill>
                  <a:latin typeface="Consolas" panose="020B0609020204030204" pitchFamily="49" charset="0"/>
                </a:rPr>
                <a:t>reduce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0E4D70-8D97-FCCF-59B0-0DA74C4D8664}"/>
              </a:ext>
            </a:extLst>
          </p:cNvPr>
          <p:cNvGrpSpPr/>
          <p:nvPr/>
        </p:nvGrpSpPr>
        <p:grpSpPr>
          <a:xfrm>
            <a:off x="4665618" y="5965522"/>
            <a:ext cx="1703725" cy="400110"/>
            <a:chOff x="1280160" y="5848665"/>
            <a:chExt cx="1703725" cy="40011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9D6035-6792-217E-4E19-648B331694F4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486409-8234-7077-F453-266104BFE138}"/>
                </a:ext>
              </a:extLst>
            </p:cNvPr>
            <p:cNvSpPr txBox="1"/>
            <p:nvPr/>
          </p:nvSpPr>
          <p:spPr>
            <a:xfrm>
              <a:off x="1529641" y="5848665"/>
              <a:ext cx="14542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transform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C4A6AE0-EF03-535B-2015-74877D3F279E}"/>
              </a:ext>
            </a:extLst>
          </p:cNvPr>
          <p:cNvGrpSpPr/>
          <p:nvPr/>
        </p:nvGrpSpPr>
        <p:grpSpPr>
          <a:xfrm>
            <a:off x="6719845" y="5965522"/>
            <a:ext cx="998404" cy="400110"/>
            <a:chOff x="1280160" y="5848665"/>
            <a:chExt cx="998404" cy="4001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20BBB6C-E103-3D96-EE1B-85D865BEA80C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57B3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3FA5C5-CAB4-EAE2-4822-1976A59053FB}"/>
                </a:ext>
              </a:extLst>
            </p:cNvPr>
            <p:cNvSpPr txBox="1"/>
            <p:nvPr/>
          </p:nvSpPr>
          <p:spPr>
            <a:xfrm>
              <a:off x="1529641" y="5848665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scan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90B218AC-6EBB-3A23-45C5-FD9A8A234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75840" y="1488564"/>
            <a:ext cx="7519906" cy="451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9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97D3-475A-CB90-C50A-2D4BDDF3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bottlenecks scalability?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2492A-4556-A793-84DA-7819E4DB6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112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Compute operations?</a:t>
            </a:r>
          </a:p>
          <a:p>
            <a:r>
              <a:rPr lang="en-US" sz="2400" dirty="0"/>
              <a:t>Nope, these algorithms are work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24450-91EF-7EC1-89AE-EFDF840E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B1D16-73C9-81A6-742E-5931A929C282}"/>
              </a:ext>
            </a:extLst>
          </p:cNvPr>
          <p:cNvSpPr txBox="1">
            <a:spLocks/>
          </p:cNvSpPr>
          <p:nvPr/>
        </p:nvSpPr>
        <p:spPr>
          <a:xfrm>
            <a:off x="838200" y="2738858"/>
            <a:ext cx="10515600" cy="1607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/>
              <a:t>Parallelizabilty</a:t>
            </a:r>
            <a:r>
              <a:rPr lang="en-US" b="1" dirty="0"/>
              <a:t>?</a:t>
            </a:r>
          </a:p>
          <a:p>
            <a:r>
              <a:rPr lang="en-US" sz="2400" dirty="0"/>
              <a:t>Nope, these algorithms are highly parallel</a:t>
            </a:r>
          </a:p>
          <a:p>
            <a:r>
              <a:rPr lang="en-US" sz="2400" dirty="0"/>
              <a:t>In theory, they should scale well to thousands of cores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D5C77C-EF08-E741-F12B-8E938764234E}"/>
              </a:ext>
            </a:extLst>
          </p:cNvPr>
          <p:cNvSpPr txBox="1">
            <a:spLocks/>
          </p:cNvSpPr>
          <p:nvPr/>
        </p:nvSpPr>
        <p:spPr>
          <a:xfrm>
            <a:off x="838200" y="4284188"/>
            <a:ext cx="10515600" cy="1058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Ah, cache!!?</a:t>
            </a:r>
          </a:p>
          <a:p>
            <a:r>
              <a:rPr lang="en-US" sz="2400" dirty="0"/>
              <a:t>Nope, these algorithms are all cache efficient! But, close…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C24465-8FA0-648E-E1D5-5359EB0D9EC2}"/>
              </a:ext>
            </a:extLst>
          </p:cNvPr>
          <p:cNvSpPr txBox="1">
            <a:spLocks/>
          </p:cNvSpPr>
          <p:nvPr/>
        </p:nvSpPr>
        <p:spPr>
          <a:xfrm>
            <a:off x="838200" y="5394830"/>
            <a:ext cx="10515600" cy="117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solidFill>
                  <a:schemeClr val="accent2"/>
                </a:solidFill>
              </a:rPr>
              <a:t>Memory bandwidth</a:t>
            </a:r>
          </a:p>
          <a:p>
            <a:r>
              <a:rPr lang="en-US" sz="2400" dirty="0"/>
              <a:t>Our algorithms are saturating the machine's memory bandwidth!</a:t>
            </a:r>
          </a:p>
        </p:txBody>
      </p:sp>
    </p:spTree>
    <p:extLst>
      <p:ext uri="{BB962C8B-B14F-4D97-AF65-F5344CB8AC3E}">
        <p14:creationId xmlns:p14="http://schemas.microsoft.com/office/powerpoint/2010/main" val="213760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2FD9-97D0-F80E-A839-ECAE323D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Memory-bound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1C1EF-6BEA-614C-9A51-7367172CF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4863"/>
            <a:ext cx="10515600" cy="1604563"/>
          </a:xfrm>
        </p:spPr>
        <p:txBody>
          <a:bodyPr/>
          <a:lstStyle/>
          <a:p>
            <a:r>
              <a:rPr lang="en-US" dirty="0"/>
              <a:t>Reducing the number of operations won't help (unless we are reducing shared-memory-related operations)</a:t>
            </a:r>
          </a:p>
          <a:p>
            <a:r>
              <a:rPr lang="en-US" dirty="0"/>
              <a:t>Making the algorithm more parallel won't 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3E521-F002-1C2C-1EB3-A260287F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18221B-3F27-D994-3C70-E60B6EA18D97}"/>
              </a:ext>
            </a:extLst>
          </p:cNvPr>
          <p:cNvSpPr/>
          <p:nvPr/>
        </p:nvSpPr>
        <p:spPr>
          <a:xfrm>
            <a:off x="838200" y="1690688"/>
            <a:ext cx="10515600" cy="120849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An algorithm is called </a:t>
            </a:r>
            <a:r>
              <a:rPr lang="en-US" sz="2800" b="1" i="1" dirty="0">
                <a:solidFill>
                  <a:schemeClr val="tx1"/>
                </a:solidFill>
              </a:rPr>
              <a:t>memory bound</a:t>
            </a:r>
            <a:r>
              <a:rPr lang="en-US" sz="2800" dirty="0">
                <a:solidFill>
                  <a:schemeClr val="tx1"/>
                </a:solidFill>
              </a:rPr>
              <a:t> (or bandwidth bound) if the primary bottleneck for its scalability is memory bandwidth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E3DF28-65C3-92F5-591E-DB83E0AFA1F2}"/>
              </a:ext>
            </a:extLst>
          </p:cNvPr>
          <p:cNvSpPr/>
          <p:nvPr/>
        </p:nvSpPr>
        <p:spPr>
          <a:xfrm>
            <a:off x="2034540" y="5048184"/>
            <a:ext cx="8122920" cy="1308166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As a rule of thumb, </a:t>
            </a:r>
            <a:r>
              <a:rPr lang="en-US" sz="2800" b="1" i="1" dirty="0">
                <a:solidFill>
                  <a:schemeClr val="tx1"/>
                </a:solidFill>
              </a:rPr>
              <a:t>most</a:t>
            </a:r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simple parallel algorithms are memory bound</a:t>
            </a:r>
          </a:p>
        </p:txBody>
      </p:sp>
    </p:spTree>
    <p:extLst>
      <p:ext uri="{BB962C8B-B14F-4D97-AF65-F5344CB8AC3E}">
        <p14:creationId xmlns:p14="http://schemas.microsoft.com/office/powerpoint/2010/main" val="371890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903A-C7CB-3DF0-2046-364B1D0C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bandwidth &amp;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FFAF2-89D7-D888-DAFE-289EE2F9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8</a:t>
            </a:fld>
            <a:endParaRPr lang="en-US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3CA5A13D-9266-4739-A3C3-60A5BFD75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83825" y="2056337"/>
            <a:ext cx="5309476" cy="31856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F1E38E7-D547-1285-130A-95CCFA7A6425}"/>
              </a:ext>
            </a:extLst>
          </p:cNvPr>
          <p:cNvGrpSpPr/>
          <p:nvPr/>
        </p:nvGrpSpPr>
        <p:grpSpPr>
          <a:xfrm>
            <a:off x="9030147" y="5775087"/>
            <a:ext cx="1280532" cy="400110"/>
            <a:chOff x="1280160" y="5848665"/>
            <a:chExt cx="1280532" cy="40011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872D6A0-EC0A-C187-2884-4D5EC7D011F0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D627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9C0F48-33FA-4A2A-F6FB-CF75BD77B87B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D62728"/>
                  </a:solidFill>
                  <a:latin typeface="Consolas" panose="020B0609020204030204" pitchFamily="49" charset="0"/>
                </a:rPr>
                <a:t>filter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7996F7-3D61-55FE-90D6-E49CC577A407}"/>
              </a:ext>
            </a:extLst>
          </p:cNvPr>
          <p:cNvGrpSpPr/>
          <p:nvPr/>
        </p:nvGrpSpPr>
        <p:grpSpPr>
          <a:xfrm>
            <a:off x="7470375" y="5313112"/>
            <a:ext cx="1280532" cy="400110"/>
            <a:chOff x="1280160" y="5848665"/>
            <a:chExt cx="1280532" cy="40011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92A695-B4C0-DD8D-CD02-F882D28E5BC6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FF7F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2C61E8-65C4-96BC-9C7D-6F68D2626A4F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EF6C00"/>
                  </a:solidFill>
                  <a:latin typeface="Consolas" panose="020B0609020204030204" pitchFamily="49" charset="0"/>
                </a:rPr>
                <a:t>reduce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37C5C6-5987-6037-82C5-1B93757F782D}"/>
              </a:ext>
            </a:extLst>
          </p:cNvPr>
          <p:cNvGrpSpPr/>
          <p:nvPr/>
        </p:nvGrpSpPr>
        <p:grpSpPr>
          <a:xfrm>
            <a:off x="9032027" y="5313112"/>
            <a:ext cx="1703725" cy="400110"/>
            <a:chOff x="1280160" y="5848665"/>
            <a:chExt cx="1703725" cy="4001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B71760D-19A1-9AF6-C957-569E2624468A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F83C30-E79D-2847-F3BA-616C71B8BCFA}"/>
                </a:ext>
              </a:extLst>
            </p:cNvPr>
            <p:cNvSpPr txBox="1"/>
            <p:nvPr/>
          </p:nvSpPr>
          <p:spPr>
            <a:xfrm>
              <a:off x="1529641" y="5848665"/>
              <a:ext cx="14542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transform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48E15F-9FE5-AC7C-A61C-831C0B1E677A}"/>
              </a:ext>
            </a:extLst>
          </p:cNvPr>
          <p:cNvGrpSpPr/>
          <p:nvPr/>
        </p:nvGrpSpPr>
        <p:grpSpPr>
          <a:xfrm>
            <a:off x="7469625" y="5775087"/>
            <a:ext cx="998404" cy="400110"/>
            <a:chOff x="1280160" y="5848665"/>
            <a:chExt cx="998404" cy="40011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0750E03-7E71-30E5-15A2-2536D2A6EEB8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57B3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620B1-E5CE-5579-8B1A-D5C06EBE9277}"/>
                </a:ext>
              </a:extLst>
            </p:cNvPr>
            <p:cNvSpPr txBox="1"/>
            <p:nvPr/>
          </p:nvSpPr>
          <p:spPr>
            <a:xfrm>
              <a:off x="1529641" y="5848665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scan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17A1760-19A0-75E3-43EC-E1AF062CE5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825625"/>
                <a:ext cx="506450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i="1" dirty="0"/>
                  <a:t>Relative</a:t>
                </a:r>
                <a:r>
                  <a:rPr lang="en-US" dirty="0"/>
                  <a:t> performance numbers can be explained by memory bandwidth</a:t>
                </a:r>
              </a:p>
              <a:p>
                <a:r>
                  <a:rPr lang="en-US" sz="2400" b="1" dirty="0">
                    <a:solidFill>
                      <a:srgbClr val="EF6C00"/>
                    </a:solidFill>
                    <a:latin typeface="Consolas" panose="020B0609020204030204" pitchFamily="49" charset="0"/>
                  </a:rPr>
                  <a:t>reduce</a:t>
                </a:r>
                <a:r>
                  <a:rPr lang="en-US" sz="2400" dirty="0"/>
                  <a:t> does approximately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(and negligibly few writes)</a:t>
                </a:r>
              </a:p>
              <a:p>
                <a:r>
                  <a:rPr lang="en-US" sz="2400" b="1" dirty="0">
                    <a:solidFill>
                      <a:srgbClr val="1F77B4"/>
                    </a:solidFill>
                    <a:latin typeface="Consolas" panose="020B0609020204030204" pitchFamily="49" charset="0"/>
                  </a:rPr>
                  <a:t>transform</a:t>
                </a:r>
                <a:r>
                  <a:rPr lang="en-US" sz="2400" dirty="0"/>
                  <a:t> does about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writes</a:t>
                </a:r>
              </a:p>
              <a:p>
                <a:r>
                  <a:rPr lang="en-US" sz="2400" b="1" dirty="0">
                    <a:solidFill>
                      <a:srgbClr val="57B357"/>
                    </a:solidFill>
                    <a:latin typeface="Consolas" panose="020B0609020204030204" pitchFamily="49" charset="0"/>
                  </a:rPr>
                  <a:t>scan</a:t>
                </a:r>
                <a:r>
                  <a:rPr lang="en-US" sz="2400" dirty="0"/>
                  <a:t> does about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writes</a:t>
                </a:r>
              </a:p>
              <a:p>
                <a:r>
                  <a:rPr lang="en-US" sz="2600" dirty="0"/>
                  <a:t>Writes (on this machine) are about 70% slower than reads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17A1760-19A0-75E3-43EC-E1AF062CE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5625"/>
                <a:ext cx="5064505" cy="4351338"/>
              </a:xfrm>
              <a:prstGeom prst="rect">
                <a:avLst/>
              </a:prstGeom>
              <a:blipFill>
                <a:blip r:embed="rId4"/>
                <a:stretch>
                  <a:fillRect l="-2046" t="-3361" r="-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73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BA97-07D8-C4EF-A8DF-D876C754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1787-478F-6FE8-8228-19D70554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bandwidth &amp;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CE797-04CD-19E0-4E5A-AD400F4D7B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064505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 dirty="0"/>
                  <a:t>Relative</a:t>
                </a:r>
                <a:r>
                  <a:rPr lang="en-US" dirty="0"/>
                  <a:t> performance numbers can be explained by memory bandwidth</a:t>
                </a:r>
              </a:p>
              <a:p>
                <a:r>
                  <a:rPr lang="en-US" sz="2400" b="1" dirty="0">
                    <a:solidFill>
                      <a:srgbClr val="EF6C00"/>
                    </a:solidFill>
                    <a:latin typeface="Consolas" panose="020B0609020204030204" pitchFamily="49" charset="0"/>
                  </a:rPr>
                  <a:t>reduce</a:t>
                </a:r>
                <a:r>
                  <a:rPr lang="en-US" sz="2400" dirty="0"/>
                  <a:t> does approximately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(and negligibly few writes)</a:t>
                </a:r>
              </a:p>
              <a:p>
                <a:r>
                  <a:rPr lang="en-US" sz="2400" b="1" dirty="0">
                    <a:solidFill>
                      <a:srgbClr val="1F77B4"/>
                    </a:solidFill>
                    <a:latin typeface="Consolas" panose="020B0609020204030204" pitchFamily="49" charset="0"/>
                  </a:rPr>
                  <a:t>transform</a:t>
                </a:r>
                <a:r>
                  <a:rPr lang="en-US" sz="2400" dirty="0"/>
                  <a:t> does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writes</a:t>
                </a:r>
              </a:p>
              <a:p>
                <a:r>
                  <a:rPr lang="en-US" sz="2400" b="1" dirty="0">
                    <a:solidFill>
                      <a:srgbClr val="57B357"/>
                    </a:solidFill>
                    <a:latin typeface="Consolas" panose="020B0609020204030204" pitchFamily="49" charset="0"/>
                  </a:rPr>
                  <a:t>scan</a:t>
                </a:r>
                <a:r>
                  <a:rPr lang="en-US" sz="2400" dirty="0"/>
                  <a:t> does about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writes</a:t>
                </a:r>
              </a:p>
              <a:p>
                <a:r>
                  <a:rPr lang="en-US" sz="2600" dirty="0"/>
                  <a:t>Writes (on this machine) are about 70% slower than reads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CE797-04CD-19E0-4E5A-AD400F4D7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064505" cy="4351338"/>
              </a:xfrm>
              <a:blipFill>
                <a:blip r:embed="rId2"/>
                <a:stretch>
                  <a:fillRect l="-2046" t="-3361" r="-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53613-64E4-C9BE-F446-B49B80C0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9</a:t>
            </a:fld>
            <a:endParaRPr lang="en-US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59AE7480-7FCE-6F7D-283E-E13F6F34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183825" y="2056337"/>
            <a:ext cx="5309476" cy="318568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37F8AAE-9358-58B0-E396-5330595E0FF9}"/>
              </a:ext>
            </a:extLst>
          </p:cNvPr>
          <p:cNvGrpSpPr/>
          <p:nvPr/>
        </p:nvGrpSpPr>
        <p:grpSpPr>
          <a:xfrm>
            <a:off x="7470375" y="5313112"/>
            <a:ext cx="1280532" cy="400110"/>
            <a:chOff x="1280160" y="5848665"/>
            <a:chExt cx="1280532" cy="40011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EC7CA8-968D-103E-38B0-7D33CD1FFCD1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FF7F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C269AC-E092-B02D-F6A9-8A6ABB3023D9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EF6C00"/>
                  </a:solidFill>
                  <a:latin typeface="Consolas" panose="020B0609020204030204" pitchFamily="49" charset="0"/>
                </a:rPr>
                <a:t>reduce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B1ED92-18F8-B3A2-84D5-A31ACEDFE76A}"/>
              </a:ext>
            </a:extLst>
          </p:cNvPr>
          <p:cNvGrpSpPr/>
          <p:nvPr/>
        </p:nvGrpSpPr>
        <p:grpSpPr>
          <a:xfrm>
            <a:off x="9032027" y="5313112"/>
            <a:ext cx="1703725" cy="400110"/>
            <a:chOff x="1280160" y="5848665"/>
            <a:chExt cx="1703725" cy="4001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C6F825-A968-929E-C7AF-39F0B538F651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07DB49-72DC-77A3-7439-F52683543C61}"/>
                </a:ext>
              </a:extLst>
            </p:cNvPr>
            <p:cNvSpPr txBox="1"/>
            <p:nvPr/>
          </p:nvSpPr>
          <p:spPr>
            <a:xfrm>
              <a:off x="1529641" y="5848665"/>
              <a:ext cx="14542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transform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A9C086-D514-F863-1EA7-48BA7FF455E7}"/>
              </a:ext>
            </a:extLst>
          </p:cNvPr>
          <p:cNvGrpSpPr/>
          <p:nvPr/>
        </p:nvGrpSpPr>
        <p:grpSpPr>
          <a:xfrm>
            <a:off x="7469625" y="5775087"/>
            <a:ext cx="998404" cy="400110"/>
            <a:chOff x="1280160" y="5848665"/>
            <a:chExt cx="998404" cy="40011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4BD0541-6322-A9A7-FC06-D89C3AD1B013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57B3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F75BE1-745D-AEC2-3177-DC5D6A7EE783}"/>
                </a:ext>
              </a:extLst>
            </p:cNvPr>
            <p:cNvSpPr txBox="1"/>
            <p:nvPr/>
          </p:nvSpPr>
          <p:spPr>
            <a:xfrm>
              <a:off x="1529641" y="5848665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scan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7325183-DB91-DE1F-724B-6E6FC056FB80}"/>
              </a:ext>
            </a:extLst>
          </p:cNvPr>
          <p:cNvGrpSpPr/>
          <p:nvPr/>
        </p:nvGrpSpPr>
        <p:grpSpPr>
          <a:xfrm>
            <a:off x="9030147" y="5775087"/>
            <a:ext cx="1280532" cy="400110"/>
            <a:chOff x="1280160" y="5848665"/>
            <a:chExt cx="1280532" cy="40011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3F86D6-B660-8235-7791-23D8A5200F54}"/>
                </a:ext>
              </a:extLst>
            </p:cNvPr>
            <p:cNvSpPr/>
            <p:nvPr/>
          </p:nvSpPr>
          <p:spPr>
            <a:xfrm>
              <a:off x="1280160" y="5938221"/>
              <a:ext cx="225911" cy="225911"/>
            </a:xfrm>
            <a:prstGeom prst="ellipse">
              <a:avLst/>
            </a:prstGeom>
            <a:solidFill>
              <a:srgbClr val="D627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790457-8F5A-5033-1C76-D2C7EB107871}"/>
                </a:ext>
              </a:extLst>
            </p:cNvPr>
            <p:cNvSpPr txBox="1"/>
            <p:nvPr/>
          </p:nvSpPr>
          <p:spPr>
            <a:xfrm>
              <a:off x="1529641" y="584866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D62728"/>
                  </a:solidFill>
                  <a:latin typeface="Consolas" panose="020B0609020204030204" pitchFamily="49" charset="0"/>
                </a:rPr>
                <a:t>filter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152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2EF25-1BBD-7CFB-6D41-AB1B4CBC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and Laziness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5E991E-C890-C3B3-7458-9FD4C2AAB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E6C1D-1528-DFEA-8E48-50059669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6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806F8B-407B-8ED2-2A78-33C4DCED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sequence operations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AF21C-2E12-575A-7BF6-AB798E58C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15455"/>
            <a:ext cx="10274450" cy="366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std::vector a{…}, b(n), c(n), d(n);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3F40E8-6547-ECD2-23FD-90755156A19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05629" y="3732439"/>
                <a:ext cx="5263179" cy="276043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Each of these operations compiles into a loop </a:t>
                </a:r>
              </a:p>
              <a:p>
                <a:r>
                  <a:rPr lang="en-US" sz="2400" dirty="0"/>
                  <a:t>This "algorithm" must do up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reads and writes to main memory</a:t>
                </a:r>
              </a:p>
              <a:p>
                <a:r>
                  <a:rPr lang="en-US" sz="2400" dirty="0"/>
                  <a:t>This code is extremely </a:t>
                </a:r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</a:rPr>
                  <a:t>memory inefficient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3F40E8-6547-ECD2-23FD-90755156A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05629" y="3732439"/>
                <a:ext cx="5263179" cy="2760435"/>
              </a:xfrm>
              <a:blipFill>
                <a:blip r:embed="rId2"/>
                <a:stretch>
                  <a:fillRect l="-1622" t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55B35-AE57-B465-6D09-67EBE886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9BD887-5D06-C06C-A60A-70F2E11C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77230"/>
              </p:ext>
            </p:extLst>
          </p:nvPr>
        </p:nvGraphicFramePr>
        <p:xfrm>
          <a:off x="978048" y="4332813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A12A59-5AC6-9CD3-6898-6E33747D2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22117"/>
              </p:ext>
            </p:extLst>
          </p:nvPr>
        </p:nvGraphicFramePr>
        <p:xfrm>
          <a:off x="978048" y="5184457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10" name="Arrow: Down 9">
            <a:extLst>
              <a:ext uri="{FF2B5EF4-FFF2-40B4-BE49-F238E27FC236}">
                <a16:creationId xmlns:a16="http://schemas.microsoft.com/office/drawing/2014/main" id="{ADD10E6B-C9E4-CC22-5B01-7B2DBFE406C6}"/>
              </a:ext>
            </a:extLst>
          </p:cNvPr>
          <p:cNvSpPr/>
          <p:nvPr/>
        </p:nvSpPr>
        <p:spPr>
          <a:xfrm>
            <a:off x="2890444" y="4786446"/>
            <a:ext cx="317800" cy="347494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8343F-FB3E-01AE-6AE7-655E44DFA436}"/>
              </a:ext>
            </a:extLst>
          </p:cNvPr>
          <p:cNvSpPr txBox="1"/>
          <p:nvPr/>
        </p:nvSpPr>
        <p:spPr>
          <a:xfrm>
            <a:off x="932857" y="4767289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exclusive_scan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1EE940-DD05-E2AF-46B2-C3021B987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132653"/>
              </p:ext>
            </p:extLst>
          </p:nvPr>
        </p:nvGraphicFramePr>
        <p:xfrm>
          <a:off x="978048" y="3510762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2FA6F017-8298-F7D6-B5F1-D0ECA7B95E7F}"/>
              </a:ext>
            </a:extLst>
          </p:cNvPr>
          <p:cNvSpPr/>
          <p:nvPr/>
        </p:nvSpPr>
        <p:spPr>
          <a:xfrm>
            <a:off x="2890444" y="3932120"/>
            <a:ext cx="317800" cy="347494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41D97-B98E-81CF-3C2F-26D0B4566B4C}"/>
              </a:ext>
            </a:extLst>
          </p:cNvPr>
          <p:cNvSpPr txBox="1"/>
          <p:nvPr/>
        </p:nvSpPr>
        <p:spPr>
          <a:xfrm>
            <a:off x="1513774" y="391296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transform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5A0E3D-DC89-5F53-91D6-58CFDAC91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238822"/>
              </p:ext>
            </p:extLst>
          </p:nvPr>
        </p:nvGraphicFramePr>
        <p:xfrm>
          <a:off x="1001723" y="6041257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16" name="Arrow: Down 15">
            <a:extLst>
              <a:ext uri="{FF2B5EF4-FFF2-40B4-BE49-F238E27FC236}">
                <a16:creationId xmlns:a16="http://schemas.microsoft.com/office/drawing/2014/main" id="{EDC80B89-A296-7982-80E5-B496D989F832}"/>
              </a:ext>
            </a:extLst>
          </p:cNvPr>
          <p:cNvSpPr/>
          <p:nvPr/>
        </p:nvSpPr>
        <p:spPr>
          <a:xfrm>
            <a:off x="2914119" y="5632483"/>
            <a:ext cx="317800" cy="347494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B9C54-8457-84A7-6F04-21AADBFA94D5}"/>
              </a:ext>
            </a:extLst>
          </p:cNvPr>
          <p:cNvSpPr txBox="1"/>
          <p:nvPr/>
        </p:nvSpPr>
        <p:spPr>
          <a:xfrm>
            <a:off x="1774119" y="56133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copy_if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21C797B6-EC9D-89D8-1B7B-64B77ABFA1EF}"/>
              </a:ext>
            </a:extLst>
          </p:cNvPr>
          <p:cNvSpPr txBox="1">
            <a:spLocks/>
          </p:cNvSpPr>
          <p:nvPr/>
        </p:nvSpPr>
        <p:spPr>
          <a:xfrm>
            <a:off x="838200" y="2922463"/>
            <a:ext cx="10274450" cy="39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latin typeface="Consolas" panose="020B0609020204030204" pitchFamily="49" charset="0"/>
              </a:rPr>
              <a:t>copy_if</a:t>
            </a:r>
            <a:r>
              <a:rPr lang="en-US" sz="2000" dirty="0">
                <a:latin typeface="Consolas" panose="020B0609020204030204" pitchFamily="49" charset="0"/>
              </a:rPr>
              <a:t>(begin(c), end(c), begin(d), [](auto x) { return x % 3 == 0; });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D0543E-3D3F-F9C4-0D17-AA42AF7DB474}"/>
              </a:ext>
            </a:extLst>
          </p:cNvPr>
          <p:cNvSpPr txBox="1">
            <a:spLocks/>
          </p:cNvSpPr>
          <p:nvPr/>
        </p:nvSpPr>
        <p:spPr>
          <a:xfrm>
            <a:off x="838200" y="2211246"/>
            <a:ext cx="10274450" cy="478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transform(begin(a), end(a), begin(b), [](auto x) { return 2*x + 1; });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AF8D8786-6C0D-6914-8CEC-4DB93D1D9C4D}"/>
              </a:ext>
            </a:extLst>
          </p:cNvPr>
          <p:cNvSpPr txBox="1">
            <a:spLocks/>
          </p:cNvSpPr>
          <p:nvPr/>
        </p:nvSpPr>
        <p:spPr>
          <a:xfrm>
            <a:off x="838200" y="2568457"/>
            <a:ext cx="10274450" cy="38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exclusive_scan(begin(b), end(b), begin(c), 0);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41C4A9-2FD0-3C84-D000-822F89074974}"/>
              </a:ext>
            </a:extLst>
          </p:cNvPr>
          <p:cNvSpPr txBox="1"/>
          <p:nvPr/>
        </p:nvSpPr>
        <p:spPr>
          <a:xfrm>
            <a:off x="621553" y="34891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43640-1FBD-9908-EDF9-BFDE31D3BD9E}"/>
              </a:ext>
            </a:extLst>
          </p:cNvPr>
          <p:cNvSpPr txBox="1"/>
          <p:nvPr/>
        </p:nvSpPr>
        <p:spPr>
          <a:xfrm>
            <a:off x="621553" y="43328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2F6C87-EAF7-25AC-9469-B51327B77299}"/>
              </a:ext>
            </a:extLst>
          </p:cNvPr>
          <p:cNvSpPr txBox="1"/>
          <p:nvPr/>
        </p:nvSpPr>
        <p:spPr>
          <a:xfrm>
            <a:off x="620393" y="51764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078B6-875B-04DB-C2B6-BDACA4E30EA0}"/>
              </a:ext>
            </a:extLst>
          </p:cNvPr>
          <p:cNvSpPr txBox="1"/>
          <p:nvPr/>
        </p:nvSpPr>
        <p:spPr>
          <a:xfrm>
            <a:off x="620393" y="60442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1872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10" grpId="0" animBg="1"/>
      <p:bldP spid="11" grpId="0"/>
      <p:bldP spid="13" grpId="0" animBg="1"/>
      <p:bldP spid="14" grpId="0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F2920AD-E608-69E2-AB42-5201640B5972}"/>
              </a:ext>
            </a:extLst>
          </p:cNvPr>
          <p:cNvGrpSpPr/>
          <p:nvPr/>
        </p:nvGrpSpPr>
        <p:grpSpPr>
          <a:xfrm>
            <a:off x="6605865" y="1762630"/>
            <a:ext cx="3939310" cy="2800104"/>
            <a:chOff x="724349" y="2751127"/>
            <a:chExt cx="5880846" cy="366868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5285905-A014-4ECA-E609-4141E3F5616D}"/>
                </a:ext>
              </a:extLst>
            </p:cNvPr>
            <p:cNvSpPr/>
            <p:nvPr/>
          </p:nvSpPr>
          <p:spPr>
            <a:xfrm>
              <a:off x="724349" y="2751127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C00E8AB-8A3D-B54C-A2F1-3EF7B768E40A}"/>
                </a:ext>
              </a:extLst>
            </p:cNvPr>
            <p:cNvSpPr/>
            <p:nvPr/>
          </p:nvSpPr>
          <p:spPr>
            <a:xfrm>
              <a:off x="724349" y="5524096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4B481B7-EC3C-00CC-3DA6-9E10D276F723}"/>
                </a:ext>
              </a:extLst>
            </p:cNvPr>
            <p:cNvSpPr/>
            <p:nvPr/>
          </p:nvSpPr>
          <p:spPr>
            <a:xfrm>
              <a:off x="724349" y="3044231"/>
              <a:ext cx="5880846" cy="319284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9728CB-F587-C403-F546-BDA529D02CDE}"/>
              </a:ext>
            </a:extLst>
          </p:cNvPr>
          <p:cNvGrpSpPr/>
          <p:nvPr/>
        </p:nvGrpSpPr>
        <p:grpSpPr>
          <a:xfrm>
            <a:off x="724349" y="1761421"/>
            <a:ext cx="5371651" cy="3856793"/>
            <a:chOff x="724349" y="2751127"/>
            <a:chExt cx="5880846" cy="3668684"/>
          </a:xfrm>
          <a:solidFill>
            <a:schemeClr val="bg1">
              <a:lumMod val="95000"/>
            </a:schemeClr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3440DA1-FCCE-FBCA-9A4F-E1177A45B0F2}"/>
                </a:ext>
              </a:extLst>
            </p:cNvPr>
            <p:cNvSpPr/>
            <p:nvPr/>
          </p:nvSpPr>
          <p:spPr>
            <a:xfrm>
              <a:off x="724349" y="2751127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8764B54-13AC-6654-CAD3-AE7074995405}"/>
                </a:ext>
              </a:extLst>
            </p:cNvPr>
            <p:cNvSpPr/>
            <p:nvPr/>
          </p:nvSpPr>
          <p:spPr>
            <a:xfrm>
              <a:off x="724349" y="5524096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CE4F2EC-441D-3B1B-9CA3-F81C84ADD57B}"/>
                </a:ext>
              </a:extLst>
            </p:cNvPr>
            <p:cNvSpPr/>
            <p:nvPr/>
          </p:nvSpPr>
          <p:spPr>
            <a:xfrm>
              <a:off x="724349" y="3044231"/>
              <a:ext cx="5880846" cy="319284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FA514E-5472-E486-1DC4-D57DEB5B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"Loop fusion"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E02CA-01B7-FF08-A305-4BA0FFE44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3833" y="1833434"/>
            <a:ext cx="3582749" cy="2800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total = 0;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size_t j = 0;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for (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x : a)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  <a:t>auto b = 2*x + 1;</a:t>
            </a:r>
            <a:b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 = total;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total += b;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(c % 3 == 0) {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d[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] = c;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}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572394-256E-772F-4941-48DE74F86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48698"/>
            <a:ext cx="5110779" cy="35544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  <a:t> (size_t i = 0; i &lt; n; i++) {</a:t>
            </a:r>
            <a:b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  <a:t>  b[i] = 2*a[i]+1;</a:t>
            </a:r>
            <a:b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1F77B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total = 0;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(size_t i = 0; i &lt; n; i++) {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c[i] = total;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total += b[i];</a:t>
            </a:r>
            <a:b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(size_t i = 0, j = 0; i &lt; n; i++) {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if (c[i] % 3 == 0) {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d[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] = c[i];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}</a:t>
            </a:r>
            <a:b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4DDE0-CA5A-D201-BEDE-443F6E06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C9D9F4-0258-9030-C648-8127D6392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936340"/>
              </p:ext>
            </p:extLst>
          </p:nvPr>
        </p:nvGraphicFramePr>
        <p:xfrm>
          <a:off x="6605865" y="4708449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7F50C9C3-77F2-43C3-C95A-524E300F1F90}"/>
              </a:ext>
            </a:extLst>
          </p:cNvPr>
          <p:cNvSpPr/>
          <p:nvPr/>
        </p:nvSpPr>
        <p:spPr>
          <a:xfrm>
            <a:off x="8518261" y="5094501"/>
            <a:ext cx="317800" cy="275219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C69EDB-9629-E737-9004-B8AF43CE5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666499"/>
              </p:ext>
            </p:extLst>
          </p:nvPr>
        </p:nvGraphicFramePr>
        <p:xfrm>
          <a:off x="6605865" y="5387965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92E5976-BCAB-B43F-D243-E90CC2F819F0}"/>
              </a:ext>
            </a:extLst>
          </p:cNvPr>
          <p:cNvSpPr txBox="1"/>
          <p:nvPr/>
        </p:nvSpPr>
        <p:spPr>
          <a:xfrm>
            <a:off x="6701559" y="540029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CE5327-006B-EDB0-BDAB-A425413C18B8}"/>
              </a:ext>
            </a:extLst>
          </p:cNvPr>
          <p:cNvSpPr txBox="1"/>
          <p:nvPr/>
        </p:nvSpPr>
        <p:spPr>
          <a:xfrm>
            <a:off x="7211424" y="538947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1AA07A-CC3E-467C-7C65-42B796C05B24}"/>
              </a:ext>
            </a:extLst>
          </p:cNvPr>
          <p:cNvSpPr txBox="1"/>
          <p:nvPr/>
        </p:nvSpPr>
        <p:spPr>
          <a:xfrm>
            <a:off x="7689015" y="538949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2CAF21-80A6-CC81-C1A4-AEBF4EFF3940}"/>
              </a:ext>
            </a:extLst>
          </p:cNvPr>
          <p:cNvSpPr txBox="1"/>
          <p:nvPr/>
        </p:nvSpPr>
        <p:spPr>
          <a:xfrm>
            <a:off x="8207057" y="539229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9C6A89-BB51-713C-A594-4CECC0F62EE8}"/>
              </a:ext>
            </a:extLst>
          </p:cNvPr>
          <p:cNvSpPr txBox="1"/>
          <p:nvPr/>
        </p:nvSpPr>
        <p:spPr>
          <a:xfrm>
            <a:off x="8708734" y="539569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42B006-EE67-863E-3356-C5CCA3E8ACCF}"/>
              </a:ext>
            </a:extLst>
          </p:cNvPr>
          <p:cNvSpPr txBox="1"/>
          <p:nvPr/>
        </p:nvSpPr>
        <p:spPr>
          <a:xfrm>
            <a:off x="9216029" y="538493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111B43E-D3B0-E143-F967-8E19DE43DDCC}"/>
                  </a:ext>
                </a:extLst>
              </p:cNvPr>
              <p:cNvSpPr/>
              <p:nvPr/>
            </p:nvSpPr>
            <p:spPr>
              <a:xfrm>
                <a:off x="724349" y="5938242"/>
                <a:ext cx="9721326" cy="547451"/>
              </a:xfrm>
              <a:prstGeom prst="roundRect">
                <a:avLst/>
              </a:prstGeom>
              <a:solidFill>
                <a:srgbClr val="BFE7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 fused version does up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reads and writes instead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111B43E-D3B0-E143-F967-8E19DE43D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49" y="5938242"/>
                <a:ext cx="9721326" cy="547451"/>
              </a:xfrm>
              <a:prstGeom prst="roundRect">
                <a:avLst/>
              </a:prstGeom>
              <a:blipFill>
                <a:blip r:embed="rId2"/>
                <a:stretch>
                  <a:fillRect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89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/>
      <p:bldP spid="6" grpId="0" animBg="1"/>
      <p:bldP spid="20" grpId="0"/>
      <p:bldP spid="21" grpId="0"/>
      <p:bldP spid="22" grpId="0"/>
      <p:bldP spid="23" grpId="0"/>
      <p:bldP spid="24" grpId="0"/>
      <p:bldP spid="25" grpId="0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06BFFE-A6D8-7BC9-330C-2B982C24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and lazy evaluation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36047A-C9F6-AF3A-21EF-AA4A0F09B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993"/>
            <a:ext cx="10515600" cy="96818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Views</a:t>
            </a:r>
            <a:r>
              <a:rPr lang="en-US" dirty="0"/>
              <a:t> are cheap-to-copy ranges, introduced in C++20</a:t>
            </a:r>
          </a:p>
          <a:p>
            <a:r>
              <a:rPr lang="en-US" dirty="0"/>
              <a:t>Most views are implemented using </a:t>
            </a:r>
            <a:r>
              <a:rPr lang="en-US" b="1" dirty="0"/>
              <a:t>lazy 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E8F94-B803-A30D-5E8B-172F588E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9DAE4-90D2-3B19-7B6E-DD8C5D313AB8}"/>
              </a:ext>
            </a:extLst>
          </p:cNvPr>
          <p:cNvSpPr/>
          <p:nvPr/>
        </p:nvSpPr>
        <p:spPr>
          <a:xfrm>
            <a:off x="730623" y="5112053"/>
            <a:ext cx="10515600" cy="1095543"/>
          </a:xfrm>
          <a:prstGeom prst="round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Lazy evaluation essentially results in </a:t>
            </a:r>
            <a:r>
              <a:rPr lang="en-US" sz="2800" b="1" dirty="0">
                <a:solidFill>
                  <a:schemeClr val="tx1"/>
                </a:solidFill>
              </a:rPr>
              <a:t>automatic fusion</a:t>
            </a:r>
            <a:r>
              <a:rPr lang="en-US" sz="2800" dirty="0">
                <a:solidFill>
                  <a:schemeClr val="tx1"/>
                </a:solidFill>
              </a:rPr>
              <a:t> for eligible operations, and reduces bandwidth consumption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B841B6D-FCAF-E402-F8D8-077F47361C5F}"/>
              </a:ext>
            </a:extLst>
          </p:cNvPr>
          <p:cNvSpPr txBox="1">
            <a:spLocks/>
          </p:cNvSpPr>
          <p:nvPr/>
        </p:nvSpPr>
        <p:spPr>
          <a:xfrm>
            <a:off x="838200" y="29549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a | ranges::views::transform([](</a:t>
            </a:r>
            <a:r>
              <a:rPr lang="en-US" sz="2400" b="1" dirty="0">
                <a:latin typeface="Consolas" panose="020B0609020204030204" pitchFamily="49" charset="0"/>
              </a:rPr>
              <a:t>auto</a:t>
            </a:r>
            <a:r>
              <a:rPr lang="en-US" sz="2400" dirty="0">
                <a:latin typeface="Consolas" panose="020B0609020204030204" pitchFamily="49" charset="0"/>
              </a:rPr>
              <a:t> x) { </a:t>
            </a:r>
            <a:r>
              <a:rPr lang="en-US" sz="2400" b="1" dirty="0">
                <a:latin typeface="Consolas" panose="020B0609020204030204" pitchFamily="49" charset="0"/>
              </a:rPr>
              <a:t>return</a:t>
            </a:r>
            <a:r>
              <a:rPr lang="en-US" sz="2400" dirty="0">
                <a:latin typeface="Consolas" panose="020B0609020204030204" pitchFamily="49" charset="0"/>
              </a:rPr>
              <a:t> 2*x+1; })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| ranges::views::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exclusive_scan</a:t>
            </a:r>
            <a:r>
              <a:rPr lang="en-US" sz="2400" dirty="0">
                <a:latin typeface="Consolas" panose="020B0609020204030204" pitchFamily="49" charset="0"/>
              </a:rPr>
              <a:t>(std::plus&lt;&gt;{})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| ranges::views::filter([](</a:t>
            </a:r>
            <a:r>
              <a:rPr lang="en-US" sz="2400" b="1" dirty="0">
                <a:latin typeface="Consolas" panose="020B0609020204030204" pitchFamily="49" charset="0"/>
              </a:rPr>
              <a:t>auto</a:t>
            </a:r>
            <a:r>
              <a:rPr lang="en-US" sz="2400" dirty="0">
                <a:latin typeface="Consolas" panose="020B0609020204030204" pitchFamily="49" charset="0"/>
              </a:rPr>
              <a:t> x) { </a:t>
            </a:r>
            <a:r>
              <a:rPr lang="en-US" sz="2400" b="1" dirty="0">
                <a:latin typeface="Consolas" panose="020B0609020204030204" pitchFamily="49" charset="0"/>
              </a:rPr>
              <a:t>return</a:t>
            </a:r>
            <a:r>
              <a:rPr lang="en-US" sz="2400" dirty="0">
                <a:latin typeface="Consolas" panose="020B0609020204030204" pitchFamily="49" charset="0"/>
              </a:rPr>
              <a:t> x % 3 == 0; });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6">
                <a:extLst>
                  <a:ext uri="{FF2B5EF4-FFF2-40B4-BE49-F238E27FC236}">
                    <a16:creationId xmlns:a16="http://schemas.microsoft.com/office/drawing/2014/main" id="{30474123-8B44-5519-5411-DA95C6A48D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346442"/>
                <a:ext cx="10515600" cy="530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This code only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memory reads and writes instead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10" name="Content Placeholder 6">
                <a:extLst>
                  <a:ext uri="{FF2B5EF4-FFF2-40B4-BE49-F238E27FC236}">
                    <a16:creationId xmlns:a16="http://schemas.microsoft.com/office/drawing/2014/main" id="{30474123-8B44-5519-5411-DA95C6A48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46442"/>
                <a:ext cx="10515600" cy="530581"/>
              </a:xfrm>
              <a:prstGeom prst="rect">
                <a:avLst/>
              </a:prstGeom>
              <a:blipFill>
                <a:blip r:embed="rId2"/>
                <a:stretch>
                  <a:fillRect l="-1043" t="-21839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53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1F09-6E6D-2B07-1DE3-748208A7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algorithms and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3F7A-8E62-30D9-EE12-984459054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0149"/>
          </a:xfrm>
        </p:spPr>
        <p:txBody>
          <a:bodyPr/>
          <a:lstStyle/>
          <a:p>
            <a:r>
              <a:rPr lang="en-US" dirty="0"/>
              <a:t>Two key messages so far…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193E6-4E1C-93EC-16B3-98153CAC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D5D99D-7EDB-8270-DB2C-DE9FB09AE9FF}"/>
              </a:ext>
            </a:extLst>
          </p:cNvPr>
          <p:cNvSpPr/>
          <p:nvPr/>
        </p:nvSpPr>
        <p:spPr>
          <a:xfrm>
            <a:off x="1449369" y="2630711"/>
            <a:ext cx="9293262" cy="796066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Most</a:t>
            </a:r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simple parallel algorithms are memory bound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5FB649-FA33-961C-2D61-2A4B455E0CFF}"/>
              </a:ext>
            </a:extLst>
          </p:cNvPr>
          <p:cNvSpPr/>
          <p:nvPr/>
        </p:nvSpPr>
        <p:spPr>
          <a:xfrm>
            <a:off x="1216959" y="3713558"/>
            <a:ext cx="9758082" cy="1095543"/>
          </a:xfrm>
          <a:prstGeom prst="round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Lazy evaluation essentially results in </a:t>
            </a:r>
            <a:r>
              <a:rPr lang="en-US" sz="2800" b="1" dirty="0">
                <a:solidFill>
                  <a:schemeClr val="tx1"/>
                </a:solidFill>
              </a:rPr>
              <a:t>automatic fusion</a:t>
            </a:r>
            <a:r>
              <a:rPr lang="en-US" sz="2800" dirty="0">
                <a:solidFill>
                  <a:schemeClr val="tx1"/>
                </a:solidFill>
              </a:rPr>
              <a:t> for eligible operations, and reduces bandwidth consumption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777666-18B6-786A-2B50-EA832BACF92C}"/>
              </a:ext>
            </a:extLst>
          </p:cNvPr>
          <p:cNvSpPr txBox="1">
            <a:spLocks/>
          </p:cNvSpPr>
          <p:nvPr/>
        </p:nvSpPr>
        <p:spPr>
          <a:xfrm>
            <a:off x="838200" y="5216189"/>
            <a:ext cx="10515600" cy="670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So, let's just use lazy views for parallel algorithms!?</a:t>
            </a:r>
          </a:p>
        </p:txBody>
      </p:sp>
    </p:spTree>
    <p:extLst>
      <p:ext uri="{BB962C8B-B14F-4D97-AF65-F5344CB8AC3E}">
        <p14:creationId xmlns:p14="http://schemas.microsoft.com/office/powerpoint/2010/main" val="113119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D2CE49-C23E-9055-D488-F462680B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Categories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C2DEF6-4560-4774-6C01-CAC183773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B2B5C-6EF5-4871-6283-7E2311FF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B40E-822C-EDF5-E352-15B6C1AD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401-328C-6E6D-2E38-84880670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and iterator categories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CF9DF-6D53-6534-5A76-AE216983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C6A2DE7-9526-1CF0-CECE-D8AEA761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698160"/>
          </a:xfrm>
        </p:spPr>
        <p:txBody>
          <a:bodyPr/>
          <a:lstStyle/>
          <a:p>
            <a:r>
              <a:rPr lang="en-US" dirty="0"/>
              <a:t>Ranges and iterators have </a:t>
            </a:r>
            <a:r>
              <a:rPr lang="en-US" b="1" dirty="0"/>
              <a:t>categories</a:t>
            </a:r>
            <a:r>
              <a:rPr lang="en-US" dirty="0"/>
              <a:t>, which define what operations we can perform on them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contiguous</a:t>
            </a:r>
            <a:r>
              <a:rPr lang="en-US" dirty="0"/>
              <a:t>: Underlying elements are stored in contiguous memory.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random_access</a:t>
            </a:r>
            <a:r>
              <a:rPr lang="en-US" dirty="0"/>
              <a:t>: Index into any element of the range in constant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30F87-5D8F-2F85-5087-1D6871CF39BA}"/>
              </a:ext>
            </a:extLst>
          </p:cNvPr>
          <p:cNvSpPr txBox="1">
            <a:spLocks/>
          </p:cNvSpPr>
          <p:nvPr/>
        </p:nvSpPr>
        <p:spPr>
          <a:xfrm>
            <a:off x="838200" y="3451304"/>
            <a:ext cx="10515600" cy="921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bidirectional</a:t>
            </a:r>
            <a:r>
              <a:rPr lang="en-US" dirty="0"/>
              <a:t>: Iterate front to back or back to front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forward</a:t>
            </a:r>
            <a:r>
              <a:rPr lang="en-US" dirty="0"/>
              <a:t>: Iterate only front to back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8609F2-6255-D7F3-C79D-944B5A5F3E5E}"/>
              </a:ext>
            </a:extLst>
          </p:cNvPr>
          <p:cNvGrpSpPr/>
          <p:nvPr/>
        </p:nvGrpSpPr>
        <p:grpSpPr>
          <a:xfrm>
            <a:off x="2594517" y="3639568"/>
            <a:ext cx="6549483" cy="487129"/>
            <a:chOff x="2594517" y="3498322"/>
            <a:chExt cx="6549483" cy="48712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4BA5BB-205C-B1EC-21D0-51D2CD4F2139}"/>
                </a:ext>
              </a:extLst>
            </p:cNvPr>
            <p:cNvSpPr txBox="1"/>
            <p:nvPr/>
          </p:nvSpPr>
          <p:spPr>
            <a:xfrm>
              <a:off x="3048000" y="3523786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Most parallel algorithms need these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0A02BE42-AF1F-196C-62FD-8827689F907E}"/>
                </a:ext>
              </a:extLst>
            </p:cNvPr>
            <p:cNvSpPr/>
            <p:nvPr/>
          </p:nvSpPr>
          <p:spPr>
            <a:xfrm rot="10800000">
              <a:off x="2594517" y="3498322"/>
              <a:ext cx="453483" cy="438615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56AECA-166D-78CB-D697-A13482E7FEA3}"/>
              </a:ext>
            </a:extLst>
          </p:cNvPr>
          <p:cNvGrpSpPr/>
          <p:nvPr/>
        </p:nvGrpSpPr>
        <p:grpSpPr>
          <a:xfrm>
            <a:off x="3048000" y="4316449"/>
            <a:ext cx="6096000" cy="506271"/>
            <a:chOff x="3048000" y="3523786"/>
            <a:chExt cx="6096000" cy="5062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340DD8-E624-300F-AC8B-476A1B246D45}"/>
                </a:ext>
              </a:extLst>
            </p:cNvPr>
            <p:cNvSpPr txBox="1"/>
            <p:nvPr/>
          </p:nvSpPr>
          <p:spPr>
            <a:xfrm>
              <a:off x="3048000" y="3523786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Most lazy views produce these</a:t>
              </a:r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BBEA5383-9360-B070-6621-7ED7AEDD6B68}"/>
                </a:ext>
              </a:extLst>
            </p:cNvPr>
            <p:cNvSpPr/>
            <p:nvPr/>
          </p:nvSpPr>
          <p:spPr>
            <a:xfrm>
              <a:off x="7939669" y="3591442"/>
              <a:ext cx="453483" cy="43861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578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009837-1E82-E2F9-4984-530DBC87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Laziness and random access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A8A81-6941-1F45-412F-97E99E05F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8104"/>
          </a:xfrm>
        </p:spPr>
        <p:txBody>
          <a:bodyPr>
            <a:normAutofit/>
          </a:bodyPr>
          <a:lstStyle/>
          <a:p>
            <a:r>
              <a:rPr lang="en-US" b="1" dirty="0"/>
              <a:t>Laziness</a:t>
            </a:r>
            <a:r>
              <a:rPr lang="en-US" dirty="0"/>
              <a:t> and </a:t>
            </a:r>
            <a:r>
              <a:rPr lang="en-US" b="1" dirty="0"/>
              <a:t>random access </a:t>
            </a:r>
            <a:r>
              <a:rPr lang="en-US" dirty="0"/>
              <a:t>are usually </a:t>
            </a:r>
            <a:r>
              <a:rPr lang="en-US" b="1" dirty="0"/>
              <a:t>incompatible</a:t>
            </a:r>
          </a:p>
          <a:p>
            <a:r>
              <a:rPr lang="en-US" dirty="0"/>
              <a:t>E.g., lazy scan. Need to know sum of the previous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27D47-10CA-1DAE-9CE6-C62BE451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1F2CD3-CF22-2347-4CCC-0DB41900E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444837"/>
              </p:ext>
            </p:extLst>
          </p:nvPr>
        </p:nvGraphicFramePr>
        <p:xfrm>
          <a:off x="1461266" y="3118666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A527C3-1601-9113-CDF5-860DBEC89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982949"/>
              </p:ext>
            </p:extLst>
          </p:nvPr>
        </p:nvGraphicFramePr>
        <p:xfrm>
          <a:off x="6198730" y="3118666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3C35FC90-1364-AC8D-1829-2931C0260B87}"/>
              </a:ext>
            </a:extLst>
          </p:cNvPr>
          <p:cNvSpPr/>
          <p:nvPr/>
        </p:nvSpPr>
        <p:spPr>
          <a:xfrm rot="16200000">
            <a:off x="5742394" y="3130339"/>
            <a:ext cx="317800" cy="347494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18F7DFC-5D16-EC27-B724-C4357FA741FE}"/>
              </a:ext>
            </a:extLst>
          </p:cNvPr>
          <p:cNvSpPr txBox="1">
            <a:spLocks/>
          </p:cNvSpPr>
          <p:nvPr/>
        </p:nvSpPr>
        <p:spPr>
          <a:xfrm>
            <a:off x="817241" y="3815578"/>
            <a:ext cx="10515600" cy="569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E.g., lazy filter. Need to know how many were filtered out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E64A0E-FD4A-E8CD-27FA-8FA5EB6D2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134783"/>
              </p:ext>
            </p:extLst>
          </p:nvPr>
        </p:nvGraphicFramePr>
        <p:xfrm>
          <a:off x="1461266" y="4441044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5D6A5F-7D05-C19B-1A00-EAA65868D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51760"/>
              </p:ext>
            </p:extLst>
          </p:nvPr>
        </p:nvGraphicFramePr>
        <p:xfrm>
          <a:off x="6198730" y="4441043"/>
          <a:ext cx="414259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7824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517824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0B719357-431F-A830-3025-375244989E8B}"/>
              </a:ext>
            </a:extLst>
          </p:cNvPr>
          <p:cNvSpPr/>
          <p:nvPr/>
        </p:nvSpPr>
        <p:spPr>
          <a:xfrm rot="16200000">
            <a:off x="5713010" y="4452717"/>
            <a:ext cx="317800" cy="347494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18994-079F-9DF5-0399-029F26E197C2}"/>
              </a:ext>
            </a:extLst>
          </p:cNvPr>
          <p:cNvSpPr txBox="1"/>
          <p:nvPr/>
        </p:nvSpPr>
        <p:spPr>
          <a:xfrm>
            <a:off x="5555687" y="341466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scan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EDFB5-FD08-AD84-18F3-837A28BA647E}"/>
              </a:ext>
            </a:extLst>
          </p:cNvPr>
          <p:cNvSpPr txBox="1"/>
          <p:nvPr/>
        </p:nvSpPr>
        <p:spPr>
          <a:xfrm>
            <a:off x="5429049" y="486994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94BBC-B7A9-A866-D0B3-9A8AB8ADB669}"/>
                  </a:ext>
                </a:extLst>
              </p:cNvPr>
              <p:cNvSpPr/>
              <p:nvPr/>
            </p:nvSpPr>
            <p:spPr>
              <a:xfrm>
                <a:off x="1090579" y="5268300"/>
                <a:ext cx="9758082" cy="1186569"/>
              </a:xfrm>
              <a:prstGeom prst="roundRect">
                <a:avLst/>
              </a:prstGeom>
              <a:solidFill>
                <a:srgbClr val="BFE8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Random access assumes you can “jump” into the sequence. Laziness often means you can’t, because the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value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or even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existence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depends on what came before.</a:t>
                </a: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94BBC-B7A9-A866-D0B3-9A8AB8ADB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79" y="5268300"/>
                <a:ext cx="9758082" cy="1186569"/>
              </a:xfrm>
              <a:prstGeom prst="roundRect">
                <a:avLst/>
              </a:prstGeom>
              <a:blipFill>
                <a:blip r:embed="rId2"/>
                <a:stretch>
                  <a:fillRect t="-4103" r="-562" b="-112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59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 animBg="1"/>
      <p:bldP spid="13" grpId="0"/>
      <p:bldP spid="14" grpId="0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479D-91D2-1855-D23E-AE250520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E500F-6D46-FC8C-46B3-91CAA8CD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2804BB3-29D7-B868-FF76-AC440763B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698160"/>
          </a:xfrm>
        </p:spPr>
        <p:txBody>
          <a:bodyPr/>
          <a:lstStyle/>
          <a:p>
            <a:r>
              <a:rPr lang="en-US" dirty="0"/>
              <a:t>Ranges and iterators have </a:t>
            </a:r>
            <a:r>
              <a:rPr lang="en-US" b="1" dirty="0"/>
              <a:t>categories</a:t>
            </a:r>
            <a:r>
              <a:rPr lang="en-US" dirty="0"/>
              <a:t>, which define what operations we can perform on them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contiguous</a:t>
            </a:r>
            <a:r>
              <a:rPr lang="en-US" dirty="0"/>
              <a:t>: Underlying elements are stored in contiguous memory.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random_access</a:t>
            </a:r>
            <a:r>
              <a:rPr lang="en-US" dirty="0"/>
              <a:t>: Index into any element of the range in constant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B3242-4D00-5883-0F81-B2082FB3774D}"/>
              </a:ext>
            </a:extLst>
          </p:cNvPr>
          <p:cNvSpPr txBox="1">
            <a:spLocks/>
          </p:cNvSpPr>
          <p:nvPr/>
        </p:nvSpPr>
        <p:spPr>
          <a:xfrm>
            <a:off x="838200" y="3451304"/>
            <a:ext cx="10515600" cy="921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bidirectional</a:t>
            </a:r>
            <a:r>
              <a:rPr lang="en-US" dirty="0"/>
              <a:t>: Iterate front to back or back to front</a:t>
            </a:r>
          </a:p>
          <a:p>
            <a:pPr lvl="1"/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forward</a:t>
            </a:r>
            <a:r>
              <a:rPr lang="en-US" dirty="0"/>
              <a:t>: Iterate only front to back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74006A-1F2E-C97A-5349-795DF00F64F8}"/>
              </a:ext>
            </a:extLst>
          </p:cNvPr>
          <p:cNvSpPr/>
          <p:nvPr/>
        </p:nvSpPr>
        <p:spPr>
          <a:xfrm>
            <a:off x="1530855" y="3562816"/>
            <a:ext cx="9293262" cy="1388325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We need a middleground: </a:t>
            </a:r>
            <a:r>
              <a:rPr lang="en-US" sz="2400" b="1" dirty="0">
                <a:solidFill>
                  <a:schemeClr val="tx1"/>
                </a:solidFill>
              </a:rPr>
              <a:t>stronger than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forward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bidirectional</a:t>
            </a:r>
            <a:r>
              <a:rPr lang="en-US" sz="2400" b="1" dirty="0">
                <a:solidFill>
                  <a:schemeClr val="tx1"/>
                </a:solidFill>
              </a:rPr>
              <a:t> so we can split work across threads, but weaker than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random_access</a:t>
            </a:r>
            <a:r>
              <a:rPr lang="en-US" sz="2400" b="1" dirty="0">
                <a:solidFill>
                  <a:schemeClr val="tx1"/>
                </a:solidFill>
              </a:rPr>
              <a:t> so we can be lazy</a:t>
            </a:r>
            <a:endParaRPr lang="en-US" sz="24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3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AEF9-F84D-833C-23DD-B2E2F010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from algorithms: Scan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9E0B1-1A79-F074-E436-E858AB7E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173A2-A25B-58AA-AE78-BD588AD6D05B}"/>
              </a:ext>
            </a:extLst>
          </p:cNvPr>
          <p:cNvSpPr txBox="1"/>
          <p:nvPr/>
        </p:nvSpPr>
        <p:spPr>
          <a:xfrm>
            <a:off x="2479040" y="1961670"/>
            <a:ext cx="838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Block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D2921-1EA8-9E69-ECC5-EC7F495109C6}"/>
              </a:ext>
            </a:extLst>
          </p:cNvPr>
          <p:cNvSpPr txBox="1"/>
          <p:nvPr/>
        </p:nvSpPr>
        <p:spPr>
          <a:xfrm>
            <a:off x="4318000" y="1985746"/>
            <a:ext cx="838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Block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5F552-1385-4D2C-1FFF-9CE06749B981}"/>
              </a:ext>
            </a:extLst>
          </p:cNvPr>
          <p:cNvSpPr txBox="1"/>
          <p:nvPr/>
        </p:nvSpPr>
        <p:spPr>
          <a:xfrm>
            <a:off x="6063239" y="1975586"/>
            <a:ext cx="838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Block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2BB37-661A-AB7C-29DE-619FC54E50C1}"/>
              </a:ext>
            </a:extLst>
          </p:cNvPr>
          <p:cNvSpPr txBox="1"/>
          <p:nvPr/>
        </p:nvSpPr>
        <p:spPr>
          <a:xfrm>
            <a:off x="7813143" y="1988394"/>
            <a:ext cx="838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Block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7CD84-3A21-9B5D-6DEC-FBC7F067C9D6}"/>
              </a:ext>
            </a:extLst>
          </p:cNvPr>
          <p:cNvSpPr txBox="1"/>
          <p:nvPr/>
        </p:nvSpPr>
        <p:spPr>
          <a:xfrm>
            <a:off x="9492342" y="1988394"/>
            <a:ext cx="838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Block 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481B59-8479-7B8C-FD29-60C5CE9448D0}"/>
              </a:ext>
            </a:extLst>
          </p:cNvPr>
          <p:cNvCxnSpPr/>
          <p:nvPr/>
        </p:nvCxnSpPr>
        <p:spPr>
          <a:xfrm>
            <a:off x="2898193" y="2814628"/>
            <a:ext cx="0" cy="396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6653E9-1937-6605-C71F-03743695D2CE}"/>
              </a:ext>
            </a:extLst>
          </p:cNvPr>
          <p:cNvCxnSpPr/>
          <p:nvPr/>
        </p:nvCxnSpPr>
        <p:spPr>
          <a:xfrm>
            <a:off x="4625393" y="2814628"/>
            <a:ext cx="0" cy="396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BCEF4B-C78D-2839-CD89-F869E29093E0}"/>
              </a:ext>
            </a:extLst>
          </p:cNvPr>
          <p:cNvCxnSpPr/>
          <p:nvPr/>
        </p:nvCxnSpPr>
        <p:spPr>
          <a:xfrm>
            <a:off x="6482392" y="2809548"/>
            <a:ext cx="0" cy="396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F057CC-390F-D22F-7C6F-F5C344EF0026}"/>
              </a:ext>
            </a:extLst>
          </p:cNvPr>
          <p:cNvCxnSpPr/>
          <p:nvPr/>
        </p:nvCxnSpPr>
        <p:spPr>
          <a:xfrm>
            <a:off x="8232296" y="2809548"/>
            <a:ext cx="0" cy="396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9C9B7E-10A6-7CD0-6A31-663D6EDF344F}"/>
              </a:ext>
            </a:extLst>
          </p:cNvPr>
          <p:cNvCxnSpPr/>
          <p:nvPr/>
        </p:nvCxnSpPr>
        <p:spPr>
          <a:xfrm>
            <a:off x="9863391" y="2809548"/>
            <a:ext cx="0" cy="396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2B68BE-38D1-D3EA-70E3-879BD92B0587}"/>
              </a:ext>
            </a:extLst>
          </p:cNvPr>
          <p:cNvSpPr/>
          <p:nvPr/>
        </p:nvSpPr>
        <p:spPr>
          <a:xfrm>
            <a:off x="2664513" y="3296747"/>
            <a:ext cx="467359" cy="39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33A422-249A-EF4B-372D-B41F50E70DE4}"/>
              </a:ext>
            </a:extLst>
          </p:cNvPr>
          <p:cNvSpPr/>
          <p:nvPr/>
        </p:nvSpPr>
        <p:spPr>
          <a:xfrm>
            <a:off x="4391713" y="3296747"/>
            <a:ext cx="467359" cy="396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5C338A-C3EF-F15A-1344-5D7AB13F7693}"/>
              </a:ext>
            </a:extLst>
          </p:cNvPr>
          <p:cNvSpPr/>
          <p:nvPr/>
        </p:nvSpPr>
        <p:spPr>
          <a:xfrm>
            <a:off x="6264984" y="3296747"/>
            <a:ext cx="467359" cy="39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47BA01-5B10-B1B1-2D0C-6A15AAD19709}"/>
              </a:ext>
            </a:extLst>
          </p:cNvPr>
          <p:cNvSpPr/>
          <p:nvPr/>
        </p:nvSpPr>
        <p:spPr>
          <a:xfrm>
            <a:off x="7998616" y="3296747"/>
            <a:ext cx="467359" cy="396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E8B8B-810B-65F6-2733-C6D015752A09}"/>
              </a:ext>
            </a:extLst>
          </p:cNvPr>
          <p:cNvSpPr/>
          <p:nvPr/>
        </p:nvSpPr>
        <p:spPr>
          <a:xfrm>
            <a:off x="9629711" y="3296747"/>
            <a:ext cx="467359" cy="39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6A0CA7-8423-B8C8-C858-91D3CC57D12B}"/>
              </a:ext>
            </a:extLst>
          </p:cNvPr>
          <p:cNvCxnSpPr>
            <a:cxnSpLocks/>
          </p:cNvCxnSpPr>
          <p:nvPr/>
        </p:nvCxnSpPr>
        <p:spPr>
          <a:xfrm>
            <a:off x="3269139" y="3797300"/>
            <a:ext cx="967581" cy="472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3B3BF3-B0CD-BD68-A565-B9980DAA7D80}"/>
              </a:ext>
            </a:extLst>
          </p:cNvPr>
          <p:cNvCxnSpPr>
            <a:cxnSpLocks/>
          </p:cNvCxnSpPr>
          <p:nvPr/>
        </p:nvCxnSpPr>
        <p:spPr>
          <a:xfrm>
            <a:off x="3317346" y="4558819"/>
            <a:ext cx="9193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B43C3E4-D497-DF88-4A8F-374DE523A3C9}"/>
              </a:ext>
            </a:extLst>
          </p:cNvPr>
          <p:cNvSpPr/>
          <p:nvPr/>
        </p:nvSpPr>
        <p:spPr>
          <a:xfrm>
            <a:off x="2664513" y="4360699"/>
            <a:ext cx="467359" cy="39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FB1F05-FBEA-F838-4036-BB37986A1B3A}"/>
              </a:ext>
            </a:extLst>
          </p:cNvPr>
          <p:cNvSpPr/>
          <p:nvPr/>
        </p:nvSpPr>
        <p:spPr>
          <a:xfrm>
            <a:off x="4391713" y="4360699"/>
            <a:ext cx="467359" cy="396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182170-41BE-994A-4265-F5A2784B6629}"/>
              </a:ext>
            </a:extLst>
          </p:cNvPr>
          <p:cNvSpPr/>
          <p:nvPr/>
        </p:nvSpPr>
        <p:spPr>
          <a:xfrm>
            <a:off x="6264984" y="4360699"/>
            <a:ext cx="467359" cy="396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FF9DDE-EAD4-089C-8D64-F05169450C67}"/>
              </a:ext>
            </a:extLst>
          </p:cNvPr>
          <p:cNvSpPr/>
          <p:nvPr/>
        </p:nvSpPr>
        <p:spPr>
          <a:xfrm>
            <a:off x="7998616" y="4360699"/>
            <a:ext cx="467359" cy="3962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01A833-3748-52A8-1F42-D410DAC0C840}"/>
              </a:ext>
            </a:extLst>
          </p:cNvPr>
          <p:cNvSpPr/>
          <p:nvPr/>
        </p:nvSpPr>
        <p:spPr>
          <a:xfrm>
            <a:off x="9629711" y="4360699"/>
            <a:ext cx="467359" cy="396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66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7607FC-ADE3-EA47-8A34-B8ADB682EBA9}"/>
              </a:ext>
            </a:extLst>
          </p:cNvPr>
          <p:cNvCxnSpPr>
            <a:cxnSpLocks/>
          </p:cNvCxnSpPr>
          <p:nvPr/>
        </p:nvCxnSpPr>
        <p:spPr>
          <a:xfrm>
            <a:off x="4988977" y="4558819"/>
            <a:ext cx="1178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A61EFFA-300E-56FA-8F84-69DD59325715}"/>
              </a:ext>
            </a:extLst>
          </p:cNvPr>
          <p:cNvCxnSpPr>
            <a:cxnSpLocks/>
          </p:cNvCxnSpPr>
          <p:nvPr/>
        </p:nvCxnSpPr>
        <p:spPr>
          <a:xfrm>
            <a:off x="6820473" y="4558819"/>
            <a:ext cx="1025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0A7A56-4CEF-6CC6-15FB-0C18BF771C63}"/>
              </a:ext>
            </a:extLst>
          </p:cNvPr>
          <p:cNvCxnSpPr>
            <a:cxnSpLocks/>
          </p:cNvCxnSpPr>
          <p:nvPr/>
        </p:nvCxnSpPr>
        <p:spPr>
          <a:xfrm>
            <a:off x="8604281" y="4558819"/>
            <a:ext cx="8880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8937EB-A7D2-834C-FDBF-D423A3DA6638}"/>
              </a:ext>
            </a:extLst>
          </p:cNvPr>
          <p:cNvCxnSpPr>
            <a:cxnSpLocks/>
          </p:cNvCxnSpPr>
          <p:nvPr/>
        </p:nvCxnSpPr>
        <p:spPr>
          <a:xfrm>
            <a:off x="5094257" y="3797300"/>
            <a:ext cx="967581" cy="472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D3CF82F-F025-717A-EE87-7495F69162D1}"/>
              </a:ext>
            </a:extLst>
          </p:cNvPr>
          <p:cNvCxnSpPr>
            <a:cxnSpLocks/>
          </p:cNvCxnSpPr>
          <p:nvPr/>
        </p:nvCxnSpPr>
        <p:spPr>
          <a:xfrm>
            <a:off x="6849397" y="3797300"/>
            <a:ext cx="967581" cy="472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0A27F5C-8B33-F2D6-0D96-5B23AAAF5B23}"/>
              </a:ext>
            </a:extLst>
          </p:cNvPr>
          <p:cNvCxnSpPr>
            <a:cxnSpLocks/>
          </p:cNvCxnSpPr>
          <p:nvPr/>
        </p:nvCxnSpPr>
        <p:spPr>
          <a:xfrm>
            <a:off x="8604281" y="3789506"/>
            <a:ext cx="967581" cy="472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057F486A-C598-EE38-61D9-165530D7B13E}"/>
              </a:ext>
            </a:extLst>
          </p:cNvPr>
          <p:cNvSpPr txBox="1">
            <a:spLocks/>
          </p:cNvSpPr>
          <p:nvPr/>
        </p:nvSpPr>
        <p:spPr>
          <a:xfrm>
            <a:off x="787400" y="3240867"/>
            <a:ext cx="1691640" cy="3962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Block sums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3EDC921-486F-6A54-501A-959D116F98A6}"/>
              </a:ext>
            </a:extLst>
          </p:cNvPr>
          <p:cNvSpPr txBox="1">
            <a:spLocks/>
          </p:cNvSpPr>
          <p:nvPr/>
        </p:nvSpPr>
        <p:spPr>
          <a:xfrm>
            <a:off x="842968" y="4376464"/>
            <a:ext cx="1691640" cy="396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Prefix sums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1E16433-52E2-D828-6A56-29A279AFB6CA}"/>
              </a:ext>
            </a:extLst>
          </p:cNvPr>
          <p:cNvCxnSpPr>
            <a:cxnSpLocks/>
          </p:cNvCxnSpPr>
          <p:nvPr/>
        </p:nvCxnSpPr>
        <p:spPr>
          <a:xfrm flipH="1">
            <a:off x="2133600" y="4843324"/>
            <a:ext cx="764592" cy="490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A0D4608-E9DC-E3B6-9F2B-9CB8C982A996}"/>
              </a:ext>
            </a:extLst>
          </p:cNvPr>
          <p:cNvCxnSpPr>
            <a:cxnSpLocks/>
          </p:cNvCxnSpPr>
          <p:nvPr/>
        </p:nvCxnSpPr>
        <p:spPr>
          <a:xfrm flipH="1">
            <a:off x="3914192" y="4843324"/>
            <a:ext cx="764592" cy="490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DE88A3-10EF-8DA2-DEAA-0438199D7654}"/>
              </a:ext>
            </a:extLst>
          </p:cNvPr>
          <p:cNvCxnSpPr>
            <a:cxnSpLocks/>
          </p:cNvCxnSpPr>
          <p:nvPr/>
        </p:nvCxnSpPr>
        <p:spPr>
          <a:xfrm flipH="1">
            <a:off x="5784824" y="4825925"/>
            <a:ext cx="764592" cy="490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6FFF1EF-CAFA-435D-B9AA-35E8D92F2F8A}"/>
              </a:ext>
            </a:extLst>
          </p:cNvPr>
          <p:cNvCxnSpPr>
            <a:cxnSpLocks/>
          </p:cNvCxnSpPr>
          <p:nvPr/>
        </p:nvCxnSpPr>
        <p:spPr>
          <a:xfrm flipH="1">
            <a:off x="7467703" y="4843324"/>
            <a:ext cx="764592" cy="490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D37B91-4331-2FDA-FA87-D0B5CEDDBA74}"/>
              </a:ext>
            </a:extLst>
          </p:cNvPr>
          <p:cNvCxnSpPr>
            <a:cxnSpLocks/>
          </p:cNvCxnSpPr>
          <p:nvPr/>
        </p:nvCxnSpPr>
        <p:spPr>
          <a:xfrm flipH="1">
            <a:off x="9293808" y="4834053"/>
            <a:ext cx="569582" cy="500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376D6C3A-9150-EAB1-A13D-685007B5F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52772"/>
              </p:ext>
            </p:extLst>
          </p:nvPr>
        </p:nvGraphicFramePr>
        <p:xfrm>
          <a:off x="1953408" y="5385895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B52EDC31-0C8F-75F2-B8B0-1159114EB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990674"/>
              </p:ext>
            </p:extLst>
          </p:nvPr>
        </p:nvGraphicFramePr>
        <p:xfrm>
          <a:off x="1953408" y="5386384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0DF5A81-51D2-0D02-DAF9-81F421948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75740"/>
              </p:ext>
            </p:extLst>
          </p:nvPr>
        </p:nvGraphicFramePr>
        <p:xfrm>
          <a:off x="1953408" y="5386873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83D3E4E5-F093-F30A-8D14-DE55F6467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47641"/>
              </p:ext>
            </p:extLst>
          </p:nvPr>
        </p:nvGraphicFramePr>
        <p:xfrm>
          <a:off x="1953408" y="5385895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A8F49AE1-1C83-BAE3-1E79-544297432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300600"/>
              </p:ext>
            </p:extLst>
          </p:nvPr>
        </p:nvGraphicFramePr>
        <p:xfrm>
          <a:off x="1953408" y="5385895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3B61F81-F6C5-762E-8523-A14BF6770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633279"/>
              </p:ext>
            </p:extLst>
          </p:nvPr>
        </p:nvGraphicFramePr>
        <p:xfrm>
          <a:off x="1953408" y="5385895"/>
          <a:ext cx="8623152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298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158419DC-C194-5BAA-CD6C-401589674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72856"/>
              </p:ext>
            </p:extLst>
          </p:nvPr>
        </p:nvGraphicFramePr>
        <p:xfrm>
          <a:off x="1932976" y="2307674"/>
          <a:ext cx="864358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730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7B6608-2CD4-5F71-FB60-5B7BEEFE7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7023"/>
              </p:ext>
            </p:extLst>
          </p:nvPr>
        </p:nvGraphicFramePr>
        <p:xfrm>
          <a:off x="1932976" y="2307674"/>
          <a:ext cx="8643584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730">
                  <a:extLst>
                    <a:ext uri="{9D8B030D-6E8A-4147-A177-3AD203B41FA5}">
                      <a16:colId xmlns:a16="http://schemas.microsoft.com/office/drawing/2014/main" val="352691613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6508594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72418958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69828302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77634503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404903654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19870851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88282145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150898751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544451467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13137865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947116608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24243538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60042924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850334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77511174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76436693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81790409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914570462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97731349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3274193985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7849839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818408820"/>
                    </a:ext>
                  </a:extLst>
                </a:gridCol>
                <a:gridCol w="359298">
                  <a:extLst>
                    <a:ext uri="{9D8B030D-6E8A-4147-A177-3AD203B41FA5}">
                      <a16:colId xmlns:a16="http://schemas.microsoft.com/office/drawing/2014/main" val="15817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3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88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2" grpId="0"/>
      <p:bldP spid="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EE5D-1942-4CFB-0F34-24609D36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from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91DE-716B-31EA-DA8C-A2818104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62CF5-4C53-A3B3-AA8F-3446A002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427" y="2039003"/>
            <a:ext cx="5582418" cy="268538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E55CFD5-BB07-2F70-C237-822AC49401AD}"/>
              </a:ext>
            </a:extLst>
          </p:cNvPr>
          <p:cNvGrpSpPr/>
          <p:nvPr/>
        </p:nvGrpSpPr>
        <p:grpSpPr>
          <a:xfrm>
            <a:off x="838200" y="1948488"/>
            <a:ext cx="4686604" cy="2868843"/>
            <a:chOff x="724349" y="2751127"/>
            <a:chExt cx="5880846" cy="366868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16775EA-E246-8DB6-492C-9D3E6E50DB99}"/>
                </a:ext>
              </a:extLst>
            </p:cNvPr>
            <p:cNvSpPr/>
            <p:nvPr/>
          </p:nvSpPr>
          <p:spPr>
            <a:xfrm>
              <a:off x="724349" y="2751127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ED07E63-4E99-EE81-93DF-FE358B9E7A5F}"/>
                </a:ext>
              </a:extLst>
            </p:cNvPr>
            <p:cNvSpPr/>
            <p:nvPr/>
          </p:nvSpPr>
          <p:spPr>
            <a:xfrm>
              <a:off x="724349" y="5524096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157CF54-F315-474C-68A6-CB54C94343DA}"/>
                </a:ext>
              </a:extLst>
            </p:cNvPr>
            <p:cNvSpPr/>
            <p:nvPr/>
          </p:nvSpPr>
          <p:spPr>
            <a:xfrm>
              <a:off x="724349" y="3044231"/>
              <a:ext cx="5880846" cy="319284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en-US" sz="2000" b="1" dirty="0">
                  <a:solidFill>
                    <a:srgbClr val="EF6C00"/>
                  </a:solidFill>
                </a:rPr>
                <a:t>Insight:</a:t>
              </a:r>
              <a:r>
                <a:rPr 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</a:rPr>
                <a:t>Many sequence algorithms naturally break input into blocks: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000" b="1" dirty="0">
                  <a:solidFill>
                    <a:schemeClr val="tx1"/>
                  </a:solidFill>
                </a:rPr>
                <a:t>Local pass</a:t>
              </a:r>
              <a:r>
                <a:rPr lang="en-US" sz="2000" dirty="0">
                  <a:solidFill>
                    <a:schemeClr val="tx1"/>
                  </a:solidFill>
                </a:rPr>
                <a:t>: process blocks in parallel, each block sequentially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000" b="1" dirty="0">
                  <a:solidFill>
                    <a:schemeClr val="tx1"/>
                  </a:solidFill>
                </a:rPr>
                <a:t>Global aggregation</a:t>
              </a:r>
              <a:r>
                <a:rPr lang="en-US" sz="2000" dirty="0">
                  <a:solidFill>
                    <a:schemeClr val="tx1"/>
                  </a:solidFill>
                </a:rPr>
                <a:t>: combine per-blocks summaries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US" sz="2000" b="1" dirty="0">
                  <a:solidFill>
                    <a:schemeClr val="tx1"/>
                  </a:solidFill>
                </a:rPr>
                <a:t>Second local pass</a:t>
              </a:r>
              <a:r>
                <a:rPr lang="en-US" sz="2000" dirty="0">
                  <a:solidFill>
                    <a:schemeClr val="tx1"/>
                  </a:solidFill>
                </a:rPr>
                <a:t>: revisit each blocks to determine result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32E98E6-27F2-4B2F-8F17-0CA66C1CCBF5}"/>
              </a:ext>
            </a:extLst>
          </p:cNvPr>
          <p:cNvSpPr txBox="1"/>
          <p:nvPr/>
        </p:nvSpPr>
        <p:spPr>
          <a:xfrm>
            <a:off x="7955793" y="1728504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Example: Parallel Scan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8F4663-A9FB-3BDF-679B-978C448622B3}"/>
              </a:ext>
            </a:extLst>
          </p:cNvPr>
          <p:cNvSpPr/>
          <p:nvPr/>
        </p:nvSpPr>
        <p:spPr>
          <a:xfrm>
            <a:off x="1073114" y="5441983"/>
            <a:ext cx="10045772" cy="700433"/>
          </a:xfrm>
          <a:prstGeom prst="round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Key insight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i="1" dirty="0">
                <a:solidFill>
                  <a:schemeClr val="tx1"/>
                </a:solidFill>
              </a:rPr>
              <a:t>Blocks</a:t>
            </a:r>
            <a:r>
              <a:rPr lang="en-US" sz="2400" dirty="0">
                <a:solidFill>
                  <a:schemeClr val="tx1"/>
                </a:solidFill>
              </a:rPr>
              <a:t> are the unit of parallelism, not individual elements</a:t>
            </a:r>
          </a:p>
        </p:txBody>
      </p:sp>
    </p:spTree>
    <p:extLst>
      <p:ext uri="{BB962C8B-B14F-4D97-AF65-F5344CB8AC3E}">
        <p14:creationId xmlns:p14="http://schemas.microsoft.com/office/powerpoint/2010/main" val="400685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3DF1-9D7D-06D6-E727-3F60D26E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blocks the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D094B-0FAD-1506-7140-3B1D34A8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9139"/>
            <a:ext cx="10515600" cy="1966344"/>
          </a:xfrm>
        </p:spPr>
        <p:txBody>
          <a:bodyPr>
            <a:normAutofit/>
          </a:bodyPr>
          <a:lstStyle/>
          <a:p>
            <a:r>
              <a:rPr lang="en-US" dirty="0"/>
              <a:t>Think of it as a random-access to the set of blocks, each block covering the interval between two checkpoints</a:t>
            </a:r>
          </a:p>
          <a:p>
            <a:pPr lvl="1"/>
            <a:r>
              <a:rPr lang="en-US" dirty="0"/>
              <a:t>Each block is a forward range, processed sequentially</a:t>
            </a:r>
          </a:p>
          <a:p>
            <a:pPr lvl="1"/>
            <a:r>
              <a:rPr lang="en-US" dirty="0"/>
              <a:t>Parallel algorithms can parallelize across blocks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67518-DF6B-D1A7-37C6-649018B8E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7D3369-45EF-DBE4-484C-CF680E3B1EF8}"/>
              </a:ext>
            </a:extLst>
          </p:cNvPr>
          <p:cNvSpPr/>
          <p:nvPr/>
        </p:nvSpPr>
        <p:spPr>
          <a:xfrm>
            <a:off x="838200" y="1690688"/>
            <a:ext cx="10515600" cy="120059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bIns="91440"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block_iterable</a:t>
            </a:r>
            <a:r>
              <a:rPr lang="en-US" sz="2800" dirty="0">
                <a:solidFill>
                  <a:schemeClr val="tx1"/>
                </a:solidFill>
              </a:rPr>
              <a:t> range is a </a:t>
            </a:r>
            <a:r>
              <a:rPr lang="en-US" sz="28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forward_range</a:t>
            </a:r>
            <a:r>
              <a:rPr lang="en-US" sz="2800" dirty="0">
                <a:solidFill>
                  <a:schemeClr val="tx1"/>
                </a:solidFill>
              </a:rPr>
              <a:t> with </a:t>
            </a:r>
            <a:r>
              <a:rPr lang="en-US" sz="2800" b="1" dirty="0">
                <a:solidFill>
                  <a:schemeClr val="tx1"/>
                </a:solidFill>
              </a:rPr>
              <a:t>random-access </a:t>
            </a:r>
            <a:r>
              <a:rPr lang="en-US" sz="2800" dirty="0">
                <a:solidFill>
                  <a:schemeClr val="tx1"/>
                </a:solidFill>
              </a:rPr>
              <a:t>to a set of sparse, evenly-spaced </a:t>
            </a:r>
            <a:r>
              <a:rPr lang="en-US" sz="2800" b="1" dirty="0">
                <a:solidFill>
                  <a:schemeClr val="tx1"/>
                </a:solidFill>
              </a:rPr>
              <a:t>checkpoints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0D1CA1-B003-ED6A-0FB7-82C7AFD7B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8557"/>
              </p:ext>
            </p:extLst>
          </p:nvPr>
        </p:nvGraphicFramePr>
        <p:xfrm>
          <a:off x="2031996" y="4936861"/>
          <a:ext cx="8128008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0286">
                  <a:extLst>
                    <a:ext uri="{9D8B030D-6E8A-4147-A177-3AD203B41FA5}">
                      <a16:colId xmlns:a16="http://schemas.microsoft.com/office/drawing/2014/main" val="1527671767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25455585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840123413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458644136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9027460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439514625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4060100995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84700896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07788670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005999581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1261366473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965771669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739763262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449772017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816063419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04738211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4076832877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689537501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1328231562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1710922883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91494688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336763667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2840750555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1860340201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43430193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1124468168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9197050"/>
                    </a:ext>
                  </a:extLst>
                </a:gridCol>
                <a:gridCol w="290286">
                  <a:extLst>
                    <a:ext uri="{9D8B030D-6E8A-4147-A177-3AD203B41FA5}">
                      <a16:colId xmlns:a16="http://schemas.microsoft.com/office/drawing/2014/main" val="3906839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5995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238899-113A-B661-4B7A-69B98D0582CD}"/>
              </a:ext>
            </a:extLst>
          </p:cNvPr>
          <p:cNvSpPr txBox="1"/>
          <p:nvPr/>
        </p:nvSpPr>
        <p:spPr>
          <a:xfrm>
            <a:off x="1608153" y="49368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128CAC-52E6-EDB9-DD0D-786754DC41EE}"/>
              </a:ext>
            </a:extLst>
          </p:cNvPr>
          <p:cNvSpPr txBox="1"/>
          <p:nvPr/>
        </p:nvSpPr>
        <p:spPr>
          <a:xfrm>
            <a:off x="1608153" y="598701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begin(r)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55ADF4-CD9D-F3F1-7F3D-EB19841E4337}"/>
              </a:ext>
            </a:extLst>
          </p:cNvPr>
          <p:cNvSpPr txBox="1"/>
          <p:nvPr/>
        </p:nvSpPr>
        <p:spPr>
          <a:xfrm>
            <a:off x="9966480" y="598701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end(r)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1640ECE-3544-C2DA-7377-80FF23D95726}"/>
              </a:ext>
            </a:extLst>
          </p:cNvPr>
          <p:cNvSpPr/>
          <p:nvPr/>
        </p:nvSpPr>
        <p:spPr>
          <a:xfrm rot="10800000">
            <a:off x="2073221" y="5475557"/>
            <a:ext cx="208157" cy="42374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A0F99DA-68A8-8827-CC28-31DC110AFC03}"/>
              </a:ext>
            </a:extLst>
          </p:cNvPr>
          <p:cNvSpPr/>
          <p:nvPr/>
        </p:nvSpPr>
        <p:spPr>
          <a:xfrm rot="10800000">
            <a:off x="10280573" y="5475557"/>
            <a:ext cx="208157" cy="42374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B8679-9FD8-6781-531E-27EF80D232AC}"/>
              </a:ext>
            </a:extLst>
          </p:cNvPr>
          <p:cNvSpPr txBox="1"/>
          <p:nvPr/>
        </p:nvSpPr>
        <p:spPr>
          <a:xfrm>
            <a:off x="4801853" y="5765531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begin_block</a:t>
            </a:r>
            <a:r>
              <a:rPr lang="en-US" b="1" dirty="0">
                <a:latin typeface="Consolas" panose="020B0609020204030204" pitchFamily="49" charset="0"/>
              </a:rPr>
              <a:t>(r, i)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D065F1-18E2-F760-E2D3-E63E5B8D0CA1}"/>
              </a:ext>
            </a:extLst>
          </p:cNvPr>
          <p:cNvCxnSpPr>
            <a:cxnSpLocks/>
          </p:cNvCxnSpPr>
          <p:nvPr/>
        </p:nvCxnSpPr>
        <p:spPr>
          <a:xfrm flipH="1" flipV="1">
            <a:off x="2177299" y="5355604"/>
            <a:ext cx="3793304" cy="4099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E9A3B9-DD25-DA0C-2819-09B3A41277FC}"/>
              </a:ext>
            </a:extLst>
          </p:cNvPr>
          <p:cNvCxnSpPr>
            <a:cxnSpLocks/>
          </p:cNvCxnSpPr>
          <p:nvPr/>
        </p:nvCxnSpPr>
        <p:spPr>
          <a:xfrm flipH="1" flipV="1">
            <a:off x="3637258" y="5342903"/>
            <a:ext cx="2341066" cy="404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AF7B66-DF95-5D64-672E-B99CC2ACDDB6}"/>
              </a:ext>
            </a:extLst>
          </p:cNvPr>
          <p:cNvCxnSpPr>
            <a:cxnSpLocks/>
          </p:cNvCxnSpPr>
          <p:nvPr/>
        </p:nvCxnSpPr>
        <p:spPr>
          <a:xfrm flipH="1" flipV="1">
            <a:off x="5108501" y="5342903"/>
            <a:ext cx="869823" cy="416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158F0B-EF78-6E81-9D6E-03DC4C4CA2FC}"/>
              </a:ext>
            </a:extLst>
          </p:cNvPr>
          <p:cNvCxnSpPr>
            <a:cxnSpLocks/>
          </p:cNvCxnSpPr>
          <p:nvPr/>
        </p:nvCxnSpPr>
        <p:spPr>
          <a:xfrm flipV="1">
            <a:off x="5986041" y="5342903"/>
            <a:ext cx="553713" cy="404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4BEE64-E240-F0E9-0756-226850ED5D93}"/>
              </a:ext>
            </a:extLst>
          </p:cNvPr>
          <p:cNvCxnSpPr>
            <a:cxnSpLocks/>
          </p:cNvCxnSpPr>
          <p:nvPr/>
        </p:nvCxnSpPr>
        <p:spPr>
          <a:xfrm flipV="1">
            <a:off x="5970603" y="5342903"/>
            <a:ext cx="1995946" cy="422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E7A775-FA52-ADEB-B5C2-01D051E4E7A4}"/>
              </a:ext>
            </a:extLst>
          </p:cNvPr>
          <p:cNvCxnSpPr>
            <a:cxnSpLocks/>
          </p:cNvCxnSpPr>
          <p:nvPr/>
        </p:nvCxnSpPr>
        <p:spPr>
          <a:xfrm flipV="1">
            <a:off x="5978324" y="5342903"/>
            <a:ext cx="3475057" cy="416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6D6549B-6710-5668-036C-A54751AD801F}"/>
                  </a:ext>
                </a:extLst>
              </p:cNvPr>
              <p:cNvSpPr txBox="1"/>
              <p:nvPr/>
            </p:nvSpPr>
            <p:spPr>
              <a:xfrm>
                <a:off x="3799668" y="6095964"/>
                <a:ext cx="4810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</a:rPr>
                  <a:t>end_block(r, i)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latin typeface="Consolas" panose="020B0609020204030204" pitchFamily="49" charset="0"/>
                  </a:rPr>
                  <a:t> </a:t>
                </a:r>
                <a:r>
                  <a:rPr lang="en-US" b="1" dirty="0" err="1">
                    <a:latin typeface="Consolas" panose="020B0609020204030204" pitchFamily="49" charset="0"/>
                  </a:rPr>
                  <a:t>begin_block</a:t>
                </a:r>
                <a:r>
                  <a:rPr lang="en-US" b="1" dirty="0">
                    <a:latin typeface="Consolas" panose="020B0609020204030204" pitchFamily="49" charset="0"/>
                  </a:rPr>
                  <a:t>(r,i+1)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6D6549B-6710-5668-036C-A54751AD8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68" y="6095964"/>
                <a:ext cx="4810932" cy="369332"/>
              </a:xfrm>
              <a:prstGeom prst="rect">
                <a:avLst/>
              </a:prstGeom>
              <a:blipFill>
                <a:blip r:embed="rId3"/>
                <a:stretch>
                  <a:fillRect l="-1013" t="-9836" r="-1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14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 animBg="1"/>
      <p:bldP spid="15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D00B-38CE-FC88-44BB-C08EEB65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block-iterable ranges?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B7AC-CD08-327E-9791-7920F2C4C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en-US" b="1" dirty="0"/>
              <a:t>Enable parallelism without losing laziness</a:t>
            </a:r>
          </a:p>
          <a:p>
            <a:pPr lvl="1"/>
            <a:r>
              <a:rPr lang="en-US" dirty="0"/>
              <a:t>Threads can work on separate blocks in parallel</a:t>
            </a:r>
          </a:p>
          <a:p>
            <a:pPr lvl="1"/>
            <a:r>
              <a:rPr lang="en-US" dirty="0"/>
              <a:t>Each block can still generate elements lazily on demand</a:t>
            </a:r>
          </a:p>
          <a:p>
            <a:r>
              <a:rPr lang="en-US" b="1" dirty="0"/>
              <a:t>Match the structure of real algorithms</a:t>
            </a:r>
          </a:p>
          <a:p>
            <a:pPr lvl="1"/>
            <a:r>
              <a:rPr lang="en-US" dirty="0"/>
              <a:t>Many sequence algorithms are naturally “two-pass per block”</a:t>
            </a:r>
          </a:p>
          <a:p>
            <a:pPr lvl="1"/>
            <a:r>
              <a:rPr lang="en-US" dirty="0"/>
              <a:t>Block summaries → global aggregation → fix-up</a:t>
            </a:r>
          </a:p>
          <a:p>
            <a:r>
              <a:rPr lang="en-US" b="1" dirty="0"/>
              <a:t>Composable &amp; bandwidth-efficient</a:t>
            </a:r>
          </a:p>
          <a:p>
            <a:pPr lvl="1"/>
            <a:r>
              <a:rPr lang="en-US" dirty="0"/>
              <a:t>Adapters (transform, filter, scan, etc.) preserve block-iterable</a:t>
            </a:r>
          </a:p>
          <a:p>
            <a:pPr lvl="1"/>
            <a:r>
              <a:rPr lang="en-US" dirty="0"/>
              <a:t>Adjacent stages can </a:t>
            </a:r>
            <a:r>
              <a:rPr lang="en-US" b="1" dirty="0"/>
              <a:t>fuse</a:t>
            </a:r>
            <a:r>
              <a:rPr lang="en-US" dirty="0"/>
              <a:t> their iterations into a single iteration</a:t>
            </a:r>
          </a:p>
          <a:p>
            <a:pPr lvl="1"/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97D4-CE33-6B3A-70AA-4E70BA70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98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0606C9-DD56-533C-528E-D5E1CDCE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B52F6A-0A05-B07D-A715-C10DACAF2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46BC7-0E21-3064-CC49-E94EE3C5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07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1677-0789-B5F9-AC57-3705C2EB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A7118-E104-680D-B7F8-4C9273DE2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Adapters (composable):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transform</a:t>
            </a:r>
            <a:r>
              <a:rPr lang="en-US" dirty="0"/>
              <a:t> (a.k.a.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en-US" dirty="0"/>
              <a:t>) – apply a function to each element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scan </a:t>
            </a:r>
            <a:r>
              <a:rPr lang="en-US" b="1" dirty="0">
                <a:latin typeface="+mj-lt"/>
              </a:rPr>
              <a:t>– </a:t>
            </a:r>
            <a:r>
              <a:rPr lang="en-US" dirty="0">
                <a:latin typeface="+mj-lt"/>
              </a:rPr>
              <a:t>prefix sums over any associative function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flatten</a:t>
            </a:r>
            <a:r>
              <a:rPr lang="en-US" dirty="0"/>
              <a:t> (a.k.a.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join</a:t>
            </a:r>
            <a:r>
              <a:rPr lang="en-US" dirty="0"/>
              <a:t>) – concatenate nested ranges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dirty="0"/>
              <a:t>keep elements that satisfy the given predicate</a:t>
            </a:r>
            <a:endParaRPr lang="en-US" b="1" dirty="0">
              <a:latin typeface="Consolas" panose="020B0609020204030204" pitchFamily="49" charset="0"/>
            </a:endParaRPr>
          </a:p>
          <a:p>
            <a:pPr>
              <a:spcAft>
                <a:spcPts val="1000"/>
              </a:spcAft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b="1" dirty="0"/>
              <a:t> </a:t>
            </a:r>
            <a:r>
              <a:rPr lang="en-US" dirty="0"/>
              <a:t>– view multiple ranges in lockstep</a:t>
            </a:r>
          </a:p>
          <a:p>
            <a:pPr marL="0" indent="0">
              <a:buNone/>
            </a:pPr>
            <a:r>
              <a:rPr lang="en-US" b="1" dirty="0"/>
              <a:t>Terminals: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reduce</a:t>
            </a:r>
            <a:r>
              <a:rPr lang="en-US" dirty="0"/>
              <a:t> – fold over an associative operation</a:t>
            </a:r>
          </a:p>
          <a:p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to_sequence</a:t>
            </a:r>
            <a:r>
              <a:rPr lang="en-US" dirty="0"/>
              <a:t> – materialize into a non-lazy range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A0954-F1CC-8314-0D0A-492DCA58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9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3E63-5AB7-A9D2-3D9F-D843FAD2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243B8-DA3F-90A2-83E0-B705074B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5E1F09-AB0B-5EAD-6AA0-EC0BE8167902}"/>
              </a:ext>
            </a:extLst>
          </p:cNvPr>
          <p:cNvGrpSpPr/>
          <p:nvPr/>
        </p:nvGrpSpPr>
        <p:grpSpPr>
          <a:xfrm>
            <a:off x="6229989" y="1557430"/>
            <a:ext cx="4948820" cy="1910730"/>
            <a:chOff x="724349" y="2751127"/>
            <a:chExt cx="5880846" cy="3668684"/>
          </a:xfrm>
          <a:solidFill>
            <a:srgbClr val="F6C6AD"/>
          </a:solidFill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1F1D44-925A-6656-9F1A-CD4CFB1BE3B1}"/>
                </a:ext>
              </a:extLst>
            </p:cNvPr>
            <p:cNvSpPr/>
            <p:nvPr/>
          </p:nvSpPr>
          <p:spPr>
            <a:xfrm>
              <a:off x="724349" y="2751127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A01E16C-7574-2F6A-655F-03F6CBF8E533}"/>
                </a:ext>
              </a:extLst>
            </p:cNvPr>
            <p:cNvSpPr/>
            <p:nvPr/>
          </p:nvSpPr>
          <p:spPr>
            <a:xfrm>
              <a:off x="724349" y="5524096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BEBCBF0-F298-97AB-2E4F-88479BA2DAFD}"/>
                </a:ext>
              </a:extLst>
            </p:cNvPr>
            <p:cNvSpPr/>
            <p:nvPr/>
          </p:nvSpPr>
          <p:spPr>
            <a:xfrm>
              <a:off x="724349" y="3044231"/>
              <a:ext cx="5880846" cy="319284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en-US" sz="2000" b="1" i="1" dirty="0">
                  <a:solidFill>
                    <a:schemeClr val="tx1"/>
                  </a:solidFill>
                  <a:ea typeface="Cambria Math" panose="02040503050406030204" pitchFamily="18" charset="0"/>
                </a:rPr>
                <a:t>Adapter constructor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Process blocks in parallel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Compute per-block metadata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Aggregate metadata across blocks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Store aggregate metadata in adapter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3CDB5E-A8C9-33B5-D011-CEBF764384CB}"/>
              </a:ext>
            </a:extLst>
          </p:cNvPr>
          <p:cNvGrpSpPr/>
          <p:nvPr/>
        </p:nvGrpSpPr>
        <p:grpSpPr>
          <a:xfrm>
            <a:off x="6229989" y="4221159"/>
            <a:ext cx="5116395" cy="1910730"/>
            <a:chOff x="724349" y="2751127"/>
            <a:chExt cx="5880846" cy="3668684"/>
          </a:xfrm>
          <a:solidFill>
            <a:srgbClr val="F6C6AD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D18B0D-6FD8-7F27-1000-D256AF7C2B38}"/>
                </a:ext>
              </a:extLst>
            </p:cNvPr>
            <p:cNvSpPr/>
            <p:nvPr/>
          </p:nvSpPr>
          <p:spPr>
            <a:xfrm>
              <a:off x="724349" y="2751127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8694BE-2A50-A127-D343-22C3FA34BE09}"/>
                </a:ext>
              </a:extLst>
            </p:cNvPr>
            <p:cNvSpPr/>
            <p:nvPr/>
          </p:nvSpPr>
          <p:spPr>
            <a:xfrm>
              <a:off x="724349" y="5524096"/>
              <a:ext cx="5880846" cy="89571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513C5135-A3E6-64D4-0B0E-D278EFFEB106}"/>
                    </a:ext>
                  </a:extLst>
                </p:cNvPr>
                <p:cNvSpPr/>
                <p:nvPr/>
              </p:nvSpPr>
              <p:spPr>
                <a:xfrm>
                  <a:off x="724349" y="3044231"/>
                  <a:ext cx="5880846" cy="3192849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0" bIns="91440" rtlCol="0" anchor="ctr"/>
                <a:lstStyle/>
                <a:p>
                  <a:r>
                    <a:rPr lang="en-US" sz="2000" b="1" i="1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iteration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000" b="1" dirty="0" err="1">
                      <a:solidFill>
                        <a:schemeClr val="accent5">
                          <a:lumMod val="75000"/>
                        </a:schemeClr>
                      </a:solidFill>
                      <a:latin typeface="Consolas" panose="020B0609020204030204" pitchFamily="49" charset="0"/>
                      <a:ea typeface="Cambria Math" panose="02040503050406030204" pitchFamily="18" charset="0"/>
                    </a:rPr>
                    <a:t>begin_block</a:t>
                  </a:r>
                  <a:r>
                    <a:rPr lang="en-US" sz="2000" b="1" dirty="0">
                      <a:solidFill>
                        <a:schemeClr val="accent5">
                          <a:lumMod val="75000"/>
                        </a:schemeClr>
                      </a:solidFill>
                      <a:latin typeface="Consolas" panose="020B0609020204030204" pitchFamily="49" charset="0"/>
                      <a:ea typeface="Cambria Math" panose="02040503050406030204" pitchFamily="18" charset="0"/>
                    </a:rPr>
                    <a:t>(r, i)</a:t>
                  </a:r>
                  <a:r>
                    <a:rPr lang="en-US" sz="20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creates an iterator using metadata for block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Iteration lazily computes the values of the block (like a sequential lazy view)</a:t>
                  </a:r>
                </a:p>
              </p:txBody>
            </p:sp>
          </mc:Choice>
          <mc:Fallback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513C5135-A3E6-64D4-0B0E-D278EFFEB1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349" y="3044231"/>
                  <a:ext cx="5880846" cy="3192849"/>
                </a:xfrm>
                <a:prstGeom prst="roundRect">
                  <a:avLst/>
                </a:prstGeom>
                <a:blipFill>
                  <a:blip r:embed="rId2"/>
                  <a:stretch>
                    <a:fillRect t="-366" b="-512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1036191-F32F-72F4-FCEF-DBE6657C2C85}"/>
              </a:ext>
            </a:extLst>
          </p:cNvPr>
          <p:cNvSpPr txBox="1"/>
          <p:nvPr/>
        </p:nvSpPr>
        <p:spPr>
          <a:xfrm>
            <a:off x="1084535" y="5448300"/>
            <a:ext cx="5011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Note</a:t>
            </a:r>
            <a:r>
              <a:rPr lang="en-US" sz="1600" i="1" dirty="0"/>
              <a:t>: Because construction precomputes metadata, creation is not O(1). Our adapters therefore aren't </a:t>
            </a:r>
            <a:r>
              <a:rPr lang="en-US" sz="1600" b="1" i="1" dirty="0">
                <a:latin typeface="Consolas" panose="020B0609020204030204" pitchFamily="49" charset="0"/>
              </a:rPr>
              <a:t>views</a:t>
            </a:r>
            <a:r>
              <a:rPr lang="en-US" sz="1600" i="1" dirty="0"/>
              <a:t> in the strict C++ standard sense!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6ADF58-A9BE-5F55-1E63-FC57135A5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58800"/>
            <a:ext cx="4248151" cy="35895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Local pass</a:t>
            </a:r>
            <a:r>
              <a:rPr lang="en-US" sz="2400" dirty="0"/>
              <a:t>: process blocks in parallel, each block sequentially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Global aggregation</a:t>
            </a:r>
            <a:r>
              <a:rPr lang="en-US" sz="2400" dirty="0"/>
              <a:t>: combine per-blocks summaries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Second local pass</a:t>
            </a:r>
            <a:r>
              <a:rPr lang="en-US" sz="2400" dirty="0"/>
              <a:t>: revisit each blocks to determine result</a:t>
            </a:r>
          </a:p>
          <a:p>
            <a:endParaRPr 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D4F0C1-FD97-F8C6-41CE-FE426263696E}"/>
              </a:ext>
            </a:extLst>
          </p:cNvPr>
          <p:cNvCxnSpPr>
            <a:cxnSpLocks/>
          </p:cNvCxnSpPr>
          <p:nvPr/>
        </p:nvCxnSpPr>
        <p:spPr>
          <a:xfrm>
            <a:off x="838199" y="4074117"/>
            <a:ext cx="449934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D8E6A5-8B86-C2BD-F178-0D682A062906}"/>
              </a:ext>
            </a:extLst>
          </p:cNvPr>
          <p:cNvGrpSpPr/>
          <p:nvPr/>
        </p:nvGrpSpPr>
        <p:grpSpPr>
          <a:xfrm>
            <a:off x="4461417" y="3488155"/>
            <a:ext cx="2644235" cy="487129"/>
            <a:chOff x="2594517" y="3498322"/>
            <a:chExt cx="2644235" cy="48712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E48035-9923-1AC4-7F6E-1FE2C22FD584}"/>
                </a:ext>
              </a:extLst>
            </p:cNvPr>
            <p:cNvSpPr txBox="1"/>
            <p:nvPr/>
          </p:nvSpPr>
          <p:spPr>
            <a:xfrm>
              <a:off x="3048000" y="3523786"/>
              <a:ext cx="219075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Immediately</a:t>
              </a: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F3968764-40B7-B921-EDD7-4117428AC990}"/>
                </a:ext>
              </a:extLst>
            </p:cNvPr>
            <p:cNvSpPr/>
            <p:nvPr/>
          </p:nvSpPr>
          <p:spPr>
            <a:xfrm rot="10800000">
              <a:off x="2594517" y="3498322"/>
              <a:ext cx="453483" cy="438615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3AE466-063D-1C77-1B4F-D71F1291A59C}"/>
              </a:ext>
            </a:extLst>
          </p:cNvPr>
          <p:cNvGrpSpPr/>
          <p:nvPr/>
        </p:nvGrpSpPr>
        <p:grpSpPr>
          <a:xfrm>
            <a:off x="4461417" y="4165036"/>
            <a:ext cx="1597122" cy="471486"/>
            <a:chOff x="2594517" y="3523786"/>
            <a:chExt cx="1597122" cy="47148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0E85284-7293-1949-2419-AE799FE9E2BC}"/>
                </a:ext>
              </a:extLst>
            </p:cNvPr>
            <p:cNvSpPr txBox="1"/>
            <p:nvPr/>
          </p:nvSpPr>
          <p:spPr>
            <a:xfrm>
              <a:off x="3048000" y="3523786"/>
              <a:ext cx="11436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Lazily</a:t>
              </a: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A2E387CA-58C4-8875-D10F-91B6D01E44FB}"/>
                </a:ext>
              </a:extLst>
            </p:cNvPr>
            <p:cNvSpPr/>
            <p:nvPr/>
          </p:nvSpPr>
          <p:spPr>
            <a:xfrm>
              <a:off x="2594517" y="3556657"/>
              <a:ext cx="453483" cy="43861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632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AC3A-AE92-ADBF-B8C3-17E86B4F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Block-iterable transform (map)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1E6E6-F384-1154-BBDD-CB2F94A07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973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Adapter State:</a:t>
            </a:r>
          </a:p>
          <a:p>
            <a:r>
              <a:rPr lang="en-US" sz="2400" dirty="0"/>
              <a:t>The transformation function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104AA-A21D-EAA9-1D6E-F1C669CC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8EB49-02BD-1DA0-A4C7-EE4759F44F1D}"/>
              </a:ext>
            </a:extLst>
          </p:cNvPr>
          <p:cNvSpPr/>
          <p:nvPr/>
        </p:nvSpPr>
        <p:spPr>
          <a:xfrm>
            <a:off x="959005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5E537-A1D1-E449-C3BD-CF2E1BC9FB20}"/>
              </a:ext>
            </a:extLst>
          </p:cNvPr>
          <p:cNvSpPr/>
          <p:nvPr/>
        </p:nvSpPr>
        <p:spPr>
          <a:xfrm>
            <a:off x="1914293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C188C-B90C-A97F-4CA4-B648DFF7AAF1}"/>
              </a:ext>
            </a:extLst>
          </p:cNvPr>
          <p:cNvSpPr/>
          <p:nvPr/>
        </p:nvSpPr>
        <p:spPr>
          <a:xfrm>
            <a:off x="2869581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CF7295-3CC4-D429-FA37-4179413E3E0A}"/>
              </a:ext>
            </a:extLst>
          </p:cNvPr>
          <p:cNvSpPr/>
          <p:nvPr/>
        </p:nvSpPr>
        <p:spPr>
          <a:xfrm>
            <a:off x="3824869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D4386-7591-0C4C-7CE4-4538B5F5841E}"/>
              </a:ext>
            </a:extLst>
          </p:cNvPr>
          <p:cNvSpPr/>
          <p:nvPr/>
        </p:nvSpPr>
        <p:spPr>
          <a:xfrm>
            <a:off x="4780157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55935C-1ACE-1D7A-8173-235B33A3D771}"/>
              </a:ext>
            </a:extLst>
          </p:cNvPr>
          <p:cNvSpPr/>
          <p:nvPr/>
        </p:nvSpPr>
        <p:spPr>
          <a:xfrm>
            <a:off x="959005" y="3683620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9BE7C-8FD5-B7EB-162A-D71D9D81C3E1}"/>
              </a:ext>
            </a:extLst>
          </p:cNvPr>
          <p:cNvSpPr/>
          <p:nvPr/>
        </p:nvSpPr>
        <p:spPr>
          <a:xfrm>
            <a:off x="1914293" y="3683620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696E47-840C-1757-FF6E-4A4D2DAFDD2B}"/>
              </a:ext>
            </a:extLst>
          </p:cNvPr>
          <p:cNvSpPr/>
          <p:nvPr/>
        </p:nvSpPr>
        <p:spPr>
          <a:xfrm>
            <a:off x="2869581" y="3683620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F56C0-9DE4-5FD9-CC8B-98FC70AFA828}"/>
              </a:ext>
            </a:extLst>
          </p:cNvPr>
          <p:cNvSpPr/>
          <p:nvPr/>
        </p:nvSpPr>
        <p:spPr>
          <a:xfrm>
            <a:off x="3824869" y="3683620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40B11A-DFB0-E82A-D1D6-90593A00D8D6}"/>
              </a:ext>
            </a:extLst>
          </p:cNvPr>
          <p:cNvSpPr/>
          <p:nvPr/>
        </p:nvSpPr>
        <p:spPr>
          <a:xfrm>
            <a:off x="4780157" y="3683620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887340-B165-29A2-CA0A-E351CD42CFA0}"/>
              </a:ext>
            </a:extLst>
          </p:cNvPr>
          <p:cNvSpPr txBox="1"/>
          <p:nvPr/>
        </p:nvSpPr>
        <p:spPr>
          <a:xfrm>
            <a:off x="386787" y="280504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fun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5E3804-E185-A475-A98F-FD45F1247A44}"/>
              </a:ext>
            </a:extLst>
          </p:cNvPr>
          <p:cNvCxnSpPr/>
          <p:nvPr/>
        </p:nvCxnSpPr>
        <p:spPr>
          <a:xfrm>
            <a:off x="104821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DBD21E-146E-B7F1-7027-8D87C3FD1E1A}"/>
              </a:ext>
            </a:extLst>
          </p:cNvPr>
          <p:cNvCxnSpPr/>
          <p:nvPr/>
        </p:nvCxnSpPr>
        <p:spPr>
          <a:xfrm>
            <a:off x="1155802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C296F2-3FF1-DF94-D6D2-BE3281B50951}"/>
              </a:ext>
            </a:extLst>
          </p:cNvPr>
          <p:cNvCxnSpPr/>
          <p:nvPr/>
        </p:nvCxnSpPr>
        <p:spPr>
          <a:xfrm>
            <a:off x="1271032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F3120D-7F0A-488D-9FA1-A2F01ED471C9}"/>
              </a:ext>
            </a:extLst>
          </p:cNvPr>
          <p:cNvCxnSpPr/>
          <p:nvPr/>
        </p:nvCxnSpPr>
        <p:spPr>
          <a:xfrm>
            <a:off x="1397413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2C8DA0-2AD3-A921-34DF-9679A7C89D5D}"/>
              </a:ext>
            </a:extLst>
          </p:cNvPr>
          <p:cNvCxnSpPr/>
          <p:nvPr/>
        </p:nvCxnSpPr>
        <p:spPr>
          <a:xfrm>
            <a:off x="1527511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3B8B90-C1B2-0216-D171-146DDE890E50}"/>
              </a:ext>
            </a:extLst>
          </p:cNvPr>
          <p:cNvCxnSpPr/>
          <p:nvPr/>
        </p:nvCxnSpPr>
        <p:spPr>
          <a:xfrm>
            <a:off x="1657608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774749-6AB9-2F31-B61D-59930F2AAD2E}"/>
              </a:ext>
            </a:extLst>
          </p:cNvPr>
          <p:cNvCxnSpPr/>
          <p:nvPr/>
        </p:nvCxnSpPr>
        <p:spPr>
          <a:xfrm>
            <a:off x="180257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622F7C-11A0-66D1-12B5-9C5162AA7C40}"/>
              </a:ext>
            </a:extLst>
          </p:cNvPr>
          <p:cNvCxnSpPr/>
          <p:nvPr/>
        </p:nvCxnSpPr>
        <p:spPr>
          <a:xfrm>
            <a:off x="201465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C052F9-DB65-52B8-C25A-C177CC7ADA63}"/>
              </a:ext>
            </a:extLst>
          </p:cNvPr>
          <p:cNvCxnSpPr/>
          <p:nvPr/>
        </p:nvCxnSpPr>
        <p:spPr>
          <a:xfrm>
            <a:off x="2122242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CF9E5D-4153-2CDA-4D8A-5B2C05792E91}"/>
              </a:ext>
            </a:extLst>
          </p:cNvPr>
          <p:cNvCxnSpPr/>
          <p:nvPr/>
        </p:nvCxnSpPr>
        <p:spPr>
          <a:xfrm>
            <a:off x="2237472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EAA081-75F4-8252-9FD1-2C661A48F755}"/>
              </a:ext>
            </a:extLst>
          </p:cNvPr>
          <p:cNvCxnSpPr/>
          <p:nvPr/>
        </p:nvCxnSpPr>
        <p:spPr>
          <a:xfrm>
            <a:off x="2363853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5D8BFD-955A-4B03-ABD2-8247264A4FE2}"/>
              </a:ext>
            </a:extLst>
          </p:cNvPr>
          <p:cNvCxnSpPr/>
          <p:nvPr/>
        </p:nvCxnSpPr>
        <p:spPr>
          <a:xfrm>
            <a:off x="2493951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579274-AB20-6CD0-81EB-4D60CE6299D8}"/>
              </a:ext>
            </a:extLst>
          </p:cNvPr>
          <p:cNvCxnSpPr/>
          <p:nvPr/>
        </p:nvCxnSpPr>
        <p:spPr>
          <a:xfrm>
            <a:off x="2624048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40D2E5-D792-6552-A531-458FF74E42EB}"/>
              </a:ext>
            </a:extLst>
          </p:cNvPr>
          <p:cNvCxnSpPr/>
          <p:nvPr/>
        </p:nvCxnSpPr>
        <p:spPr>
          <a:xfrm>
            <a:off x="276901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8C6005-0EB9-E51C-7FC3-FA40E29E4667}"/>
              </a:ext>
            </a:extLst>
          </p:cNvPr>
          <p:cNvCxnSpPr/>
          <p:nvPr/>
        </p:nvCxnSpPr>
        <p:spPr>
          <a:xfrm>
            <a:off x="2940207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465A160-7ABB-5999-7AA1-BB0AFEFC3545}"/>
              </a:ext>
            </a:extLst>
          </p:cNvPr>
          <p:cNvCxnSpPr/>
          <p:nvPr/>
        </p:nvCxnSpPr>
        <p:spPr>
          <a:xfrm>
            <a:off x="3047794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12DE19-7F68-D047-5AF7-C71882BC70FC}"/>
              </a:ext>
            </a:extLst>
          </p:cNvPr>
          <p:cNvCxnSpPr/>
          <p:nvPr/>
        </p:nvCxnSpPr>
        <p:spPr>
          <a:xfrm>
            <a:off x="3163024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37201D-48AB-8D59-30C4-039FDB50747D}"/>
              </a:ext>
            </a:extLst>
          </p:cNvPr>
          <p:cNvCxnSpPr/>
          <p:nvPr/>
        </p:nvCxnSpPr>
        <p:spPr>
          <a:xfrm>
            <a:off x="328940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2009E5-B29E-15DF-C010-8AF23DBF0EA9}"/>
              </a:ext>
            </a:extLst>
          </p:cNvPr>
          <p:cNvCxnSpPr/>
          <p:nvPr/>
        </p:nvCxnSpPr>
        <p:spPr>
          <a:xfrm>
            <a:off x="3419503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09644D-86B9-21DA-E4C4-87E26A2F7CF7}"/>
              </a:ext>
            </a:extLst>
          </p:cNvPr>
          <p:cNvCxnSpPr/>
          <p:nvPr/>
        </p:nvCxnSpPr>
        <p:spPr>
          <a:xfrm>
            <a:off x="3549600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DDDEFE-4455-4D4C-6343-3625AF89ED10}"/>
              </a:ext>
            </a:extLst>
          </p:cNvPr>
          <p:cNvCxnSpPr/>
          <p:nvPr/>
        </p:nvCxnSpPr>
        <p:spPr>
          <a:xfrm>
            <a:off x="3694567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FABCA2-6F82-1E23-4E4E-BDCC2CD09505}"/>
              </a:ext>
            </a:extLst>
          </p:cNvPr>
          <p:cNvCxnSpPr/>
          <p:nvPr/>
        </p:nvCxnSpPr>
        <p:spPr>
          <a:xfrm>
            <a:off x="3902928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7ED0F2-D41F-2CEA-0D9C-E62223AF8F65}"/>
              </a:ext>
            </a:extLst>
          </p:cNvPr>
          <p:cNvCxnSpPr/>
          <p:nvPr/>
        </p:nvCxnSpPr>
        <p:spPr>
          <a:xfrm>
            <a:off x="401051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C36994-711B-9745-6CA7-0CD16B8CAFE4}"/>
              </a:ext>
            </a:extLst>
          </p:cNvPr>
          <p:cNvCxnSpPr/>
          <p:nvPr/>
        </p:nvCxnSpPr>
        <p:spPr>
          <a:xfrm>
            <a:off x="4125745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EC13D5A-4016-F00C-AA69-E48187BEC8E5}"/>
              </a:ext>
            </a:extLst>
          </p:cNvPr>
          <p:cNvCxnSpPr/>
          <p:nvPr/>
        </p:nvCxnSpPr>
        <p:spPr>
          <a:xfrm>
            <a:off x="4252126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EEF2192-9302-F0B0-6A81-473C4AC5625D}"/>
              </a:ext>
            </a:extLst>
          </p:cNvPr>
          <p:cNvCxnSpPr/>
          <p:nvPr/>
        </p:nvCxnSpPr>
        <p:spPr>
          <a:xfrm>
            <a:off x="4382224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506F1E-95EF-C0DC-ECE8-C20D116EB55B}"/>
              </a:ext>
            </a:extLst>
          </p:cNvPr>
          <p:cNvCxnSpPr/>
          <p:nvPr/>
        </p:nvCxnSpPr>
        <p:spPr>
          <a:xfrm>
            <a:off x="4512321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2D3C02-1A16-63CF-1D62-724254169E32}"/>
              </a:ext>
            </a:extLst>
          </p:cNvPr>
          <p:cNvCxnSpPr/>
          <p:nvPr/>
        </p:nvCxnSpPr>
        <p:spPr>
          <a:xfrm>
            <a:off x="4657288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58871B-8D66-DB9B-7160-6E4C2D5B59A3}"/>
              </a:ext>
            </a:extLst>
          </p:cNvPr>
          <p:cNvCxnSpPr/>
          <p:nvPr/>
        </p:nvCxnSpPr>
        <p:spPr>
          <a:xfrm>
            <a:off x="4847066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44C01DE-C6BE-D3C7-561D-4309B5F8DF32}"/>
              </a:ext>
            </a:extLst>
          </p:cNvPr>
          <p:cNvCxnSpPr/>
          <p:nvPr/>
        </p:nvCxnSpPr>
        <p:spPr>
          <a:xfrm>
            <a:off x="4954653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653E59-5D87-EA33-EDA7-B9171A7EE36F}"/>
              </a:ext>
            </a:extLst>
          </p:cNvPr>
          <p:cNvCxnSpPr/>
          <p:nvPr/>
        </p:nvCxnSpPr>
        <p:spPr>
          <a:xfrm>
            <a:off x="5069883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AF97C95-3A80-3700-8D28-7F11228696CB}"/>
              </a:ext>
            </a:extLst>
          </p:cNvPr>
          <p:cNvCxnSpPr/>
          <p:nvPr/>
        </p:nvCxnSpPr>
        <p:spPr>
          <a:xfrm>
            <a:off x="5196264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00A1A9-A2B6-F83F-69EA-2E4021EB6887}"/>
              </a:ext>
            </a:extLst>
          </p:cNvPr>
          <p:cNvCxnSpPr/>
          <p:nvPr/>
        </p:nvCxnSpPr>
        <p:spPr>
          <a:xfrm>
            <a:off x="5326362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E95DFC5-71C1-3A18-97AB-11269FB1CF87}"/>
              </a:ext>
            </a:extLst>
          </p:cNvPr>
          <p:cNvCxnSpPr/>
          <p:nvPr/>
        </p:nvCxnSpPr>
        <p:spPr>
          <a:xfrm>
            <a:off x="5456459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80AD3EC-DEEC-C450-3B92-13C2AABFA8B6}"/>
              </a:ext>
            </a:extLst>
          </p:cNvPr>
          <p:cNvCxnSpPr/>
          <p:nvPr/>
        </p:nvCxnSpPr>
        <p:spPr>
          <a:xfrm>
            <a:off x="5601426" y="2349190"/>
            <a:ext cx="0" cy="133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C438292-1362-E4B5-5E42-82AC0EF9D7BB}"/>
              </a:ext>
            </a:extLst>
          </p:cNvPr>
          <p:cNvSpPr/>
          <p:nvPr/>
        </p:nvSpPr>
        <p:spPr>
          <a:xfrm>
            <a:off x="1211560" y="4508811"/>
            <a:ext cx="4244899" cy="1325563"/>
          </a:xfrm>
          <a:prstGeom prst="round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Comment</a:t>
            </a:r>
            <a:r>
              <a:rPr lang="en-US" sz="2400" dirty="0">
                <a:solidFill>
                  <a:schemeClr val="tx1"/>
                </a:solidFill>
              </a:rPr>
              <a:t>: Transform is one of the few adapters that preserves random-access.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20BFFE6E-703E-825F-4F61-4F60BB0077D7}"/>
              </a:ext>
            </a:extLst>
          </p:cNvPr>
          <p:cNvSpPr txBox="1">
            <a:spLocks/>
          </p:cNvSpPr>
          <p:nvPr/>
        </p:nvSpPr>
        <p:spPr>
          <a:xfrm>
            <a:off x="6096000" y="2805048"/>
            <a:ext cx="5257800" cy="98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Construction</a:t>
            </a:r>
          </a:p>
          <a:p>
            <a:r>
              <a:rPr lang="en-US" sz="2400" dirty="0"/>
              <a:t>Just store the function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77116959-7231-4FCD-D9AC-C41DD54F15AD}"/>
              </a:ext>
            </a:extLst>
          </p:cNvPr>
          <p:cNvSpPr txBox="1">
            <a:spLocks/>
          </p:cNvSpPr>
          <p:nvPr/>
        </p:nvSpPr>
        <p:spPr>
          <a:xfrm>
            <a:off x="6086503" y="3788377"/>
            <a:ext cx="5257800" cy="144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Iterator State:</a:t>
            </a:r>
          </a:p>
          <a:p>
            <a:r>
              <a:rPr lang="en-US" sz="2400" dirty="0"/>
              <a:t>Iterator into underlying view</a:t>
            </a:r>
          </a:p>
          <a:p>
            <a:r>
              <a:rPr lang="en-US" sz="2400" dirty="0"/>
              <a:t>Pointer to transformation function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6833CEB6-7001-2A69-8CF3-EBCAE43DA6F2}"/>
              </a:ext>
            </a:extLst>
          </p:cNvPr>
          <p:cNvSpPr txBox="1">
            <a:spLocks/>
          </p:cNvSpPr>
          <p:nvPr/>
        </p:nvSpPr>
        <p:spPr>
          <a:xfrm>
            <a:off x="6096000" y="5229244"/>
            <a:ext cx="5257800" cy="989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Increment operation:</a:t>
            </a:r>
          </a:p>
          <a:p>
            <a:r>
              <a:rPr lang="en-US" sz="2400" dirty="0"/>
              <a:t>Increment underlying iterator</a:t>
            </a:r>
          </a:p>
        </p:txBody>
      </p:sp>
    </p:spTree>
    <p:extLst>
      <p:ext uri="{BB962C8B-B14F-4D97-AF65-F5344CB8AC3E}">
        <p14:creationId xmlns:p14="http://schemas.microsoft.com/office/powerpoint/2010/main" val="87726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54" grpId="0" animBg="1"/>
      <p:bldP spid="55" grpId="0"/>
      <p:bldP spid="56" grpId="0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3267-9EC7-69E9-62DB-7FAE53DF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Block-iterable scan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C4AC3-2B36-98FC-2E71-27C41712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8CCB51-1C3D-5E65-4F04-3E28FF916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96589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Adapter State: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Block starting value (prefix sum)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4ACAA-FF17-93E5-9670-4B869C001613}"/>
              </a:ext>
            </a:extLst>
          </p:cNvPr>
          <p:cNvSpPr/>
          <p:nvPr/>
        </p:nvSpPr>
        <p:spPr>
          <a:xfrm>
            <a:off x="959005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19951-1835-B524-D269-50E6D31ED3C4}"/>
              </a:ext>
            </a:extLst>
          </p:cNvPr>
          <p:cNvSpPr/>
          <p:nvPr/>
        </p:nvSpPr>
        <p:spPr>
          <a:xfrm>
            <a:off x="1914293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04E9C-22F1-CA55-576C-E3CE7E115C4D}"/>
              </a:ext>
            </a:extLst>
          </p:cNvPr>
          <p:cNvSpPr/>
          <p:nvPr/>
        </p:nvSpPr>
        <p:spPr>
          <a:xfrm>
            <a:off x="2869581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61F93F-A2B2-18BF-FB54-C2B3657518B4}"/>
              </a:ext>
            </a:extLst>
          </p:cNvPr>
          <p:cNvSpPr/>
          <p:nvPr/>
        </p:nvSpPr>
        <p:spPr>
          <a:xfrm>
            <a:off x="3824869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311C8-FD73-9DFB-D498-3C728F9DD9B4}"/>
              </a:ext>
            </a:extLst>
          </p:cNvPr>
          <p:cNvSpPr/>
          <p:nvPr/>
        </p:nvSpPr>
        <p:spPr>
          <a:xfrm>
            <a:off x="4780157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79998-2D04-43D2-7A7F-7A94CEF7632B}"/>
              </a:ext>
            </a:extLst>
          </p:cNvPr>
          <p:cNvSpPr/>
          <p:nvPr/>
        </p:nvSpPr>
        <p:spPr>
          <a:xfrm>
            <a:off x="1263805" y="2516459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C2162-7674-ED29-4C94-5FBB850CEEA2}"/>
              </a:ext>
            </a:extLst>
          </p:cNvPr>
          <p:cNvSpPr/>
          <p:nvPr/>
        </p:nvSpPr>
        <p:spPr>
          <a:xfrm>
            <a:off x="2219093" y="2516459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DE1655-F3E2-6CEA-CB4E-2F3728A6BCD6}"/>
              </a:ext>
            </a:extLst>
          </p:cNvPr>
          <p:cNvSpPr/>
          <p:nvPr/>
        </p:nvSpPr>
        <p:spPr>
          <a:xfrm>
            <a:off x="3174381" y="2516458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CBBA78-B543-71FE-422F-DB03AB28AA7D}"/>
              </a:ext>
            </a:extLst>
          </p:cNvPr>
          <p:cNvSpPr/>
          <p:nvPr/>
        </p:nvSpPr>
        <p:spPr>
          <a:xfrm>
            <a:off x="4129669" y="2516458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439EA3-AAB8-54B9-4050-C9DBE1AD61C6}"/>
              </a:ext>
            </a:extLst>
          </p:cNvPr>
          <p:cNvSpPr/>
          <p:nvPr/>
        </p:nvSpPr>
        <p:spPr>
          <a:xfrm>
            <a:off x="5084957" y="2516457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842AF-F991-61A8-8774-FB75C47C4526}"/>
              </a:ext>
            </a:extLst>
          </p:cNvPr>
          <p:cNvSpPr txBox="1"/>
          <p:nvPr/>
        </p:nvSpPr>
        <p:spPr>
          <a:xfrm>
            <a:off x="195002" y="246932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totals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CEF4D4-9588-2F66-F26C-AD0BE0AC688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401337" y="2178203"/>
            <a:ext cx="0" cy="3382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4C0191-6088-24CD-2FE9-609A267821B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345681" y="2178203"/>
            <a:ext cx="10944" cy="3382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4CC6EF-5E72-63F3-C9FA-90AF3B450A9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308195" y="2178203"/>
            <a:ext cx="3718" cy="3382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F9AA18-1513-D22C-5A30-E364CAB7E6C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263483" y="2178203"/>
            <a:ext cx="3718" cy="3382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52A9C1-C358-9FCE-6623-824A2E2F408A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5222489" y="2178203"/>
            <a:ext cx="3508" cy="3382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B9969E5-1F64-0D9F-7B85-43E7B8FB407C}"/>
              </a:ext>
            </a:extLst>
          </p:cNvPr>
          <p:cNvSpPr txBox="1"/>
          <p:nvPr/>
        </p:nvSpPr>
        <p:spPr>
          <a:xfrm>
            <a:off x="220990" y="3105831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</a:rPr>
              <a:t>prefix</a:t>
            </a: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sums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2FEDC2-1D07-ED22-C231-F45322D20571}"/>
              </a:ext>
            </a:extLst>
          </p:cNvPr>
          <p:cNvSpPr/>
          <p:nvPr/>
        </p:nvSpPr>
        <p:spPr>
          <a:xfrm>
            <a:off x="1263805" y="3291468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BB642B-B326-744A-0071-FFBC4731A004}"/>
              </a:ext>
            </a:extLst>
          </p:cNvPr>
          <p:cNvSpPr/>
          <p:nvPr/>
        </p:nvSpPr>
        <p:spPr>
          <a:xfrm>
            <a:off x="2219093" y="3291468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9B9245-64FF-4149-2A56-A8425561993D}"/>
              </a:ext>
            </a:extLst>
          </p:cNvPr>
          <p:cNvSpPr/>
          <p:nvPr/>
        </p:nvSpPr>
        <p:spPr>
          <a:xfrm>
            <a:off x="3174381" y="3291467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9BD9F5-79B4-B326-896B-EE1290FD8F6A}"/>
              </a:ext>
            </a:extLst>
          </p:cNvPr>
          <p:cNvSpPr/>
          <p:nvPr/>
        </p:nvSpPr>
        <p:spPr>
          <a:xfrm>
            <a:off x="4129669" y="3291467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07B01C-307E-6400-F24C-29D76CAF9824}"/>
              </a:ext>
            </a:extLst>
          </p:cNvPr>
          <p:cNvSpPr/>
          <p:nvPr/>
        </p:nvSpPr>
        <p:spPr>
          <a:xfrm>
            <a:off x="5084957" y="329146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3A0F9B-B4E8-12A0-1908-D8ACDD83F001}"/>
              </a:ext>
            </a:extLst>
          </p:cNvPr>
          <p:cNvCxnSpPr>
            <a:cxnSpLocks/>
            <a:stCxn id="11" idx="2"/>
            <a:endCxn id="41" idx="0"/>
          </p:cNvCxnSpPr>
          <p:nvPr/>
        </p:nvCxnSpPr>
        <p:spPr>
          <a:xfrm>
            <a:off x="1401337" y="2791522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E5D30E-E4BC-8D48-A826-B25ADFC1D2CC}"/>
              </a:ext>
            </a:extLst>
          </p:cNvPr>
          <p:cNvCxnSpPr>
            <a:cxnSpLocks/>
            <a:stCxn id="12" idx="2"/>
            <a:endCxn id="42" idx="0"/>
          </p:cNvCxnSpPr>
          <p:nvPr/>
        </p:nvCxnSpPr>
        <p:spPr>
          <a:xfrm>
            <a:off x="2356625" y="2791522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298F94-1E82-6C0C-9FFC-006E03618E61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3311913" y="2791521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B386D90-8B15-C826-9D92-BEC2B331DD98}"/>
              </a:ext>
            </a:extLst>
          </p:cNvPr>
          <p:cNvCxnSpPr>
            <a:cxnSpLocks/>
            <a:stCxn id="14" idx="2"/>
            <a:endCxn id="44" idx="0"/>
          </p:cNvCxnSpPr>
          <p:nvPr/>
        </p:nvCxnSpPr>
        <p:spPr>
          <a:xfrm>
            <a:off x="4267201" y="2791521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F2AD9FF-F2EA-9EAF-DCEA-54A761E24B93}"/>
              </a:ext>
            </a:extLst>
          </p:cNvPr>
          <p:cNvCxnSpPr>
            <a:cxnSpLocks/>
            <a:stCxn id="15" idx="2"/>
            <a:endCxn id="45" idx="0"/>
          </p:cNvCxnSpPr>
          <p:nvPr/>
        </p:nvCxnSpPr>
        <p:spPr>
          <a:xfrm>
            <a:off x="5222489" y="2791520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EE7475-D3E6-C8D3-E847-C552685E2DC1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1538868" y="3429000"/>
            <a:ext cx="6802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0E0DED-09D9-8BBA-6955-D25B31D6D1B8}"/>
              </a:ext>
            </a:extLst>
          </p:cNvPr>
          <p:cNvCxnSpPr>
            <a:cxnSpLocks/>
          </p:cNvCxnSpPr>
          <p:nvPr/>
        </p:nvCxnSpPr>
        <p:spPr>
          <a:xfrm>
            <a:off x="2505308" y="3428997"/>
            <a:ext cx="6802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0D2788-1DF4-2194-EA25-5BF2E904B87A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449444" y="3428997"/>
            <a:ext cx="680225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710FA40-634F-C1BD-8159-E7F83E0054F5}"/>
              </a:ext>
            </a:extLst>
          </p:cNvPr>
          <p:cNvCxnSpPr>
            <a:cxnSpLocks/>
          </p:cNvCxnSpPr>
          <p:nvPr/>
        </p:nvCxnSpPr>
        <p:spPr>
          <a:xfrm>
            <a:off x="4404732" y="3428997"/>
            <a:ext cx="680225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545D347-C285-BAB5-154B-6B3B64E0E84C}"/>
              </a:ext>
            </a:extLst>
          </p:cNvPr>
          <p:cNvCxnSpPr>
            <a:cxnSpLocks/>
          </p:cNvCxnSpPr>
          <p:nvPr/>
        </p:nvCxnSpPr>
        <p:spPr>
          <a:xfrm>
            <a:off x="1165479" y="4081032"/>
            <a:ext cx="449934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BAA2FC4-65DD-7614-BC97-218396E8A7A6}"/>
              </a:ext>
            </a:extLst>
          </p:cNvPr>
          <p:cNvSpPr txBox="1"/>
          <p:nvPr/>
        </p:nvSpPr>
        <p:spPr>
          <a:xfrm>
            <a:off x="2999677" y="3779722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construction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AE9E5C-1719-16EE-284A-B52A5D3EB97A}"/>
              </a:ext>
            </a:extLst>
          </p:cNvPr>
          <p:cNvSpPr txBox="1"/>
          <p:nvPr/>
        </p:nvSpPr>
        <p:spPr>
          <a:xfrm>
            <a:off x="2903036" y="4078269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iteration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DFBBC62-D26C-B56F-5A0B-964D11263335}"/>
              </a:ext>
            </a:extLst>
          </p:cNvPr>
          <p:cNvSpPr/>
          <p:nvPr/>
        </p:nvSpPr>
        <p:spPr>
          <a:xfrm>
            <a:off x="959005" y="4672135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59DC325-D382-34CA-19B6-BCCC22DFC90F}"/>
              </a:ext>
            </a:extLst>
          </p:cNvPr>
          <p:cNvSpPr/>
          <p:nvPr/>
        </p:nvSpPr>
        <p:spPr>
          <a:xfrm>
            <a:off x="1914293" y="4672135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CE2C08D-2652-F82C-003B-2DF852C4D375}"/>
              </a:ext>
            </a:extLst>
          </p:cNvPr>
          <p:cNvSpPr/>
          <p:nvPr/>
        </p:nvSpPr>
        <p:spPr>
          <a:xfrm>
            <a:off x="2869581" y="4672135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704895B-AA0C-6957-F4F9-E272352C2051}"/>
              </a:ext>
            </a:extLst>
          </p:cNvPr>
          <p:cNvSpPr/>
          <p:nvPr/>
        </p:nvSpPr>
        <p:spPr>
          <a:xfrm>
            <a:off x="3824869" y="4672135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14CE65C-F459-A578-8174-A6D08A943F49}"/>
              </a:ext>
            </a:extLst>
          </p:cNvPr>
          <p:cNvSpPr/>
          <p:nvPr/>
        </p:nvSpPr>
        <p:spPr>
          <a:xfrm>
            <a:off x="4780157" y="4672135"/>
            <a:ext cx="884664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3A47AB4-0A97-B98E-1E48-27E0DE8F946D}"/>
              </a:ext>
            </a:extLst>
          </p:cNvPr>
          <p:cNvCxnSpPr>
            <a:cxnSpLocks/>
          </p:cNvCxnSpPr>
          <p:nvPr/>
        </p:nvCxnSpPr>
        <p:spPr>
          <a:xfrm flipH="1">
            <a:off x="1063083" y="3566529"/>
            <a:ext cx="338254" cy="11056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6A73BDF-4411-1ADA-082D-05DAF1474824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2022089" y="3566531"/>
            <a:ext cx="334536" cy="1116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BC0E64E-AEB8-8675-15F2-3ACF19705A8B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977377" y="3566530"/>
            <a:ext cx="334536" cy="11056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A4AEB31-5D5B-4090-2857-F7C888F71152}"/>
              </a:ext>
            </a:extLst>
          </p:cNvPr>
          <p:cNvCxnSpPr>
            <a:cxnSpLocks/>
          </p:cNvCxnSpPr>
          <p:nvPr/>
        </p:nvCxnSpPr>
        <p:spPr>
          <a:xfrm flipH="1">
            <a:off x="3945675" y="3566530"/>
            <a:ext cx="334536" cy="11056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D4A0CC7-FD50-4D7F-DABC-ABFB27A05702}"/>
              </a:ext>
            </a:extLst>
          </p:cNvPr>
          <p:cNvCxnSpPr>
            <a:cxnSpLocks/>
          </p:cNvCxnSpPr>
          <p:nvPr/>
        </p:nvCxnSpPr>
        <p:spPr>
          <a:xfrm flipH="1">
            <a:off x="4891847" y="3577558"/>
            <a:ext cx="334536" cy="11056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AE465E8-9C19-C11D-414A-BC327C465993}"/>
              </a:ext>
            </a:extLst>
          </p:cNvPr>
          <p:cNvCxnSpPr>
            <a:cxnSpLocks/>
            <a:endCxn id="79" idx="3"/>
          </p:cNvCxnSpPr>
          <p:nvPr/>
        </p:nvCxnSpPr>
        <p:spPr>
          <a:xfrm>
            <a:off x="1063083" y="4831969"/>
            <a:ext cx="780586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149983B-976E-F74E-7290-3DCF7E095822}"/>
              </a:ext>
            </a:extLst>
          </p:cNvPr>
          <p:cNvCxnSpPr>
            <a:cxnSpLocks/>
          </p:cNvCxnSpPr>
          <p:nvPr/>
        </p:nvCxnSpPr>
        <p:spPr>
          <a:xfrm>
            <a:off x="1966331" y="4831969"/>
            <a:ext cx="780586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690FAB1-C094-744F-7A7E-D9A305971190}"/>
              </a:ext>
            </a:extLst>
          </p:cNvPr>
          <p:cNvCxnSpPr>
            <a:cxnSpLocks/>
          </p:cNvCxnSpPr>
          <p:nvPr/>
        </p:nvCxnSpPr>
        <p:spPr>
          <a:xfrm>
            <a:off x="2973659" y="4831969"/>
            <a:ext cx="780586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3789156-5D90-0889-AEA9-5D26792BEE8C}"/>
              </a:ext>
            </a:extLst>
          </p:cNvPr>
          <p:cNvCxnSpPr>
            <a:cxnSpLocks/>
          </p:cNvCxnSpPr>
          <p:nvPr/>
        </p:nvCxnSpPr>
        <p:spPr>
          <a:xfrm>
            <a:off x="3928947" y="4831969"/>
            <a:ext cx="780586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A6237D3-C019-D270-6A9D-891CAE49CC83}"/>
              </a:ext>
            </a:extLst>
          </p:cNvPr>
          <p:cNvCxnSpPr>
            <a:cxnSpLocks/>
          </p:cNvCxnSpPr>
          <p:nvPr/>
        </p:nvCxnSpPr>
        <p:spPr>
          <a:xfrm>
            <a:off x="4884235" y="4831969"/>
            <a:ext cx="780586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46BB9DE1-8AF6-B3AF-42C2-C11CAF47E080}"/>
              </a:ext>
            </a:extLst>
          </p:cNvPr>
          <p:cNvSpPr txBox="1">
            <a:spLocks/>
          </p:cNvSpPr>
          <p:nvPr/>
        </p:nvSpPr>
        <p:spPr>
          <a:xfrm>
            <a:off x="6096000" y="2688234"/>
            <a:ext cx="5257800" cy="114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Construction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Compute total sum of each block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Compute prefix sum of block sums</a:t>
            </a:r>
          </a:p>
        </p:txBody>
      </p:sp>
      <p:sp>
        <p:nvSpPr>
          <p:cNvPr id="100" name="Content Placeholder 2">
            <a:extLst>
              <a:ext uri="{FF2B5EF4-FFF2-40B4-BE49-F238E27FC236}">
                <a16:creationId xmlns:a16="http://schemas.microsoft.com/office/drawing/2014/main" id="{869D11A2-C994-BE3A-3E9A-C1965357F56F}"/>
              </a:ext>
            </a:extLst>
          </p:cNvPr>
          <p:cNvSpPr txBox="1">
            <a:spLocks/>
          </p:cNvSpPr>
          <p:nvPr/>
        </p:nvSpPr>
        <p:spPr>
          <a:xfrm>
            <a:off x="6096000" y="3845616"/>
            <a:ext cx="5257800" cy="114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Iterator State: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Iterator into underlying view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Prefix sum so far</a:t>
            </a:r>
          </a:p>
        </p:txBody>
      </p: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FFD4F971-BD12-FDCE-9EB2-894074E2E2B7}"/>
              </a:ext>
            </a:extLst>
          </p:cNvPr>
          <p:cNvSpPr txBox="1">
            <a:spLocks/>
          </p:cNvSpPr>
          <p:nvPr/>
        </p:nvSpPr>
        <p:spPr>
          <a:xfrm>
            <a:off x="6096000" y="5002997"/>
            <a:ext cx="5257800" cy="1219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Increment operation: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Increment underlying iterator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Add value to prefix sum</a:t>
            </a:r>
          </a:p>
        </p:txBody>
      </p:sp>
    </p:spTree>
    <p:extLst>
      <p:ext uri="{BB962C8B-B14F-4D97-AF65-F5344CB8AC3E}">
        <p14:creationId xmlns:p14="http://schemas.microsoft.com/office/powerpoint/2010/main" val="403315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31" grpId="0"/>
      <p:bldP spid="41" grpId="0" animBg="1"/>
      <p:bldP spid="42" grpId="0" animBg="1"/>
      <p:bldP spid="43" grpId="0" animBg="1"/>
      <p:bldP spid="44" grpId="0" animBg="1"/>
      <p:bldP spid="45" grpId="0" animBg="1"/>
      <p:bldP spid="77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99" grpId="0"/>
      <p:bldP spid="100" grpId="0"/>
      <p:bldP spid="1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4ABA-3909-0335-9892-420776DB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Block-iterable flatten (join)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43408-2095-D5AD-321A-C065C7B0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CD83A-545F-184B-6D49-228A090B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486400" cy="94043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Adapter State: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Iterators pointing to the outer range and inner range in which each block begins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8A2B1-7B53-7452-586A-1C174A980D38}"/>
              </a:ext>
            </a:extLst>
          </p:cNvPr>
          <p:cNvSpPr/>
          <p:nvPr/>
        </p:nvSpPr>
        <p:spPr>
          <a:xfrm>
            <a:off x="959005" y="2029522"/>
            <a:ext cx="1613433" cy="512956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E5890-886B-8E0E-04CD-B33AA28E64B8}"/>
              </a:ext>
            </a:extLst>
          </p:cNvPr>
          <p:cNvSpPr/>
          <p:nvPr/>
        </p:nvSpPr>
        <p:spPr>
          <a:xfrm>
            <a:off x="2649264" y="2029522"/>
            <a:ext cx="1556001" cy="512956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543FA-2B5F-0743-71AB-F43A7973ED83}"/>
              </a:ext>
            </a:extLst>
          </p:cNvPr>
          <p:cNvSpPr/>
          <p:nvPr/>
        </p:nvSpPr>
        <p:spPr>
          <a:xfrm>
            <a:off x="4271128" y="2029522"/>
            <a:ext cx="1393693" cy="512956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ACC6E7-1102-6C4A-00A4-EE4C16E4B682}"/>
              </a:ext>
            </a:extLst>
          </p:cNvPr>
          <p:cNvGrpSpPr/>
          <p:nvPr/>
        </p:nvGrpSpPr>
        <p:grpSpPr>
          <a:xfrm>
            <a:off x="1046862" y="2129882"/>
            <a:ext cx="817388" cy="301084"/>
            <a:chOff x="838201" y="3137210"/>
            <a:chExt cx="438150" cy="11894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21CE85-C3FE-5A80-024C-12A5BCF90C0A}"/>
                </a:ext>
              </a:extLst>
            </p:cNvPr>
            <p:cNvSpPr/>
            <p:nvPr/>
          </p:nvSpPr>
          <p:spPr>
            <a:xfrm>
              <a:off x="838201" y="3137210"/>
              <a:ext cx="438150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B80220-EEF6-1607-E62B-AE3D54B91682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5DA79D-DB5A-1C08-1538-1147B26D8EDF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A407409-98A3-885B-EB1F-7BCA7E66F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B8B81CF-8916-C4C8-E809-C058D12A656E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5C10979-BC67-D9F6-B7DD-6FC8F542BBBF}"/>
                </a:ext>
              </a:extLst>
            </p:cNvPr>
            <p:cNvCxnSpPr>
              <a:cxnSpLocks/>
            </p:cNvCxnSpPr>
            <p:nvPr/>
          </p:nvCxnSpPr>
          <p:spPr>
            <a:xfrm>
              <a:off x="115188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7DF817-D5BA-4590-9185-8AAE581FD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161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6E6BB60-E3EF-390E-15CE-B9E8B31BCDFC}"/>
              </a:ext>
            </a:extLst>
          </p:cNvPr>
          <p:cNvGrpSpPr/>
          <p:nvPr/>
        </p:nvGrpSpPr>
        <p:grpSpPr>
          <a:xfrm>
            <a:off x="2729268" y="2149097"/>
            <a:ext cx="317678" cy="282310"/>
            <a:chOff x="838201" y="3137210"/>
            <a:chExt cx="170287" cy="11894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D39716-753E-E75D-48CC-ACE8E0C5F334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D2A0D9-EA15-E3DA-16F4-D15EE82DB59B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4523E15-FFDA-54CD-EA7C-20AED4FA56C8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2DE70B7-2BC0-D6DE-F3A9-EB9CCF4E346E}"/>
              </a:ext>
            </a:extLst>
          </p:cNvPr>
          <p:cNvGrpSpPr/>
          <p:nvPr/>
        </p:nvGrpSpPr>
        <p:grpSpPr>
          <a:xfrm>
            <a:off x="3773905" y="2144771"/>
            <a:ext cx="317678" cy="289324"/>
            <a:chOff x="838201" y="3137210"/>
            <a:chExt cx="170287" cy="11894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40AEDA-3C21-6682-92E3-9BE7B488C472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889CC99-2953-21B0-FCD4-52C4D8EE7265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9845408-847F-893E-C55D-57249FC6AFAB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2C9D63F-A81E-2C9A-E88C-83FB0270B62C}"/>
              </a:ext>
            </a:extLst>
          </p:cNvPr>
          <p:cNvGrpSpPr/>
          <p:nvPr/>
        </p:nvGrpSpPr>
        <p:grpSpPr>
          <a:xfrm>
            <a:off x="3112435" y="2144771"/>
            <a:ext cx="578475" cy="292892"/>
            <a:chOff x="838201" y="3137210"/>
            <a:chExt cx="310084" cy="11894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7F68429-191D-0376-1305-047F068C9F2D}"/>
                </a:ext>
              </a:extLst>
            </p:cNvPr>
            <p:cNvSpPr/>
            <p:nvPr/>
          </p:nvSpPr>
          <p:spPr>
            <a:xfrm>
              <a:off x="838201" y="3137210"/>
              <a:ext cx="310084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9B17656-BE68-946C-837C-6242B9F6CCF4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FBB380-12F6-C150-885A-7874A608E9B7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8D91FE2-F760-0307-3BF5-0EF9034A9D76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89A5CDD-F781-30E3-0543-22426D872B36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60A45E-4DB1-D18D-835D-CE8BD53B5576}"/>
              </a:ext>
            </a:extLst>
          </p:cNvPr>
          <p:cNvGrpSpPr/>
          <p:nvPr/>
        </p:nvGrpSpPr>
        <p:grpSpPr>
          <a:xfrm>
            <a:off x="4357573" y="2156531"/>
            <a:ext cx="578475" cy="289324"/>
            <a:chOff x="838201" y="3137210"/>
            <a:chExt cx="310084" cy="11894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9D204AD-0CC9-3B2B-0852-1B05A5A9866B}"/>
                </a:ext>
              </a:extLst>
            </p:cNvPr>
            <p:cNvSpPr/>
            <p:nvPr/>
          </p:nvSpPr>
          <p:spPr>
            <a:xfrm>
              <a:off x="838201" y="3137210"/>
              <a:ext cx="310084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CBD51F-292C-E416-A1D6-F88974AA9F44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8FBDAA0-C490-A543-4AB3-E978234BC7A0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20D7A0C-C022-AE7A-67E9-CFEA3942923E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EB9290-2BE1-34D4-C6CE-B2D2BEB9ACC8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B46C8B4-9DD0-065E-94F8-70A6FA8889A1}"/>
              </a:ext>
            </a:extLst>
          </p:cNvPr>
          <p:cNvGrpSpPr/>
          <p:nvPr/>
        </p:nvGrpSpPr>
        <p:grpSpPr>
          <a:xfrm>
            <a:off x="4979239" y="2156531"/>
            <a:ext cx="317678" cy="289324"/>
            <a:chOff x="838201" y="3137210"/>
            <a:chExt cx="170287" cy="118946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0D4BAD8-9A2A-53A3-6778-003BE15EDB28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9F4D963-9C6D-BE58-C62C-F09D5CF53F1C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A90CCC7-A8A2-58AB-62A2-D450BFDF08DD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C1B561F0-2B6E-4EF6-D421-E0A34134D047}"/>
              </a:ext>
            </a:extLst>
          </p:cNvPr>
          <p:cNvSpPr/>
          <p:nvPr/>
        </p:nvSpPr>
        <p:spPr>
          <a:xfrm>
            <a:off x="1209199" y="5753167"/>
            <a:ext cx="591398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23BB194-0099-D5DF-5B18-3D8E62609E3A}"/>
              </a:ext>
            </a:extLst>
          </p:cNvPr>
          <p:cNvGrpSpPr/>
          <p:nvPr/>
        </p:nvGrpSpPr>
        <p:grpSpPr>
          <a:xfrm>
            <a:off x="5341266" y="2161482"/>
            <a:ext cx="235467" cy="289324"/>
            <a:chOff x="838201" y="3137210"/>
            <a:chExt cx="126219" cy="118946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A39C4EC-BD5C-C800-B28A-5FBCA9C97A72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63DE123-6671-437E-E9B4-1D1A53000872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5C2616B-7C99-792D-0BDB-E0CB79F928FD}"/>
              </a:ext>
            </a:extLst>
          </p:cNvPr>
          <p:cNvGrpSpPr/>
          <p:nvPr/>
        </p:nvGrpSpPr>
        <p:grpSpPr>
          <a:xfrm>
            <a:off x="1929739" y="2135762"/>
            <a:ext cx="235467" cy="289324"/>
            <a:chOff x="838201" y="3137210"/>
            <a:chExt cx="126219" cy="11894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77319E5-FF96-B07B-CEED-A62914F24EA2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4A87374-1F09-55EC-536F-4FD3F075E284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3E5E64A-9DAC-C14C-E05C-5131511C199C}"/>
              </a:ext>
            </a:extLst>
          </p:cNvPr>
          <p:cNvGrpSpPr/>
          <p:nvPr/>
        </p:nvGrpSpPr>
        <p:grpSpPr>
          <a:xfrm>
            <a:off x="2232541" y="2135639"/>
            <a:ext cx="235467" cy="289324"/>
            <a:chOff x="838201" y="3137210"/>
            <a:chExt cx="126219" cy="11894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1B89EFF-179D-C69D-58C5-EEF4548D30AC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A392424-2D38-CBD3-D8D0-A9D5B14818C1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E788F24-49CF-1162-44E6-07B2D0FAC332}"/>
              </a:ext>
            </a:extLst>
          </p:cNvPr>
          <p:cNvSpPr/>
          <p:nvPr/>
        </p:nvSpPr>
        <p:spPr>
          <a:xfrm>
            <a:off x="1336587" y="2882917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738F29D-8D3D-00DF-5B19-9C39A7E9D888}"/>
              </a:ext>
            </a:extLst>
          </p:cNvPr>
          <p:cNvSpPr/>
          <p:nvPr/>
        </p:nvSpPr>
        <p:spPr>
          <a:xfrm>
            <a:off x="1905071" y="288291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3541EAC-60A5-A765-55CB-49FB07079982}"/>
              </a:ext>
            </a:extLst>
          </p:cNvPr>
          <p:cNvSpPr/>
          <p:nvPr/>
        </p:nvSpPr>
        <p:spPr>
          <a:xfrm>
            <a:off x="3247163" y="288291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ED863DC-C700-5AB6-3C06-EE53132C99F6}"/>
              </a:ext>
            </a:extLst>
          </p:cNvPr>
          <p:cNvSpPr/>
          <p:nvPr/>
        </p:nvSpPr>
        <p:spPr>
          <a:xfrm>
            <a:off x="4506523" y="288291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81EB50D-AD54-3387-7349-5E3CF7764771}"/>
              </a:ext>
            </a:extLst>
          </p:cNvPr>
          <p:cNvSpPr/>
          <p:nvPr/>
        </p:nvSpPr>
        <p:spPr>
          <a:xfrm>
            <a:off x="5313855" y="288291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FE1404-68DD-12D2-94BB-0933D852CDB2}"/>
              </a:ext>
            </a:extLst>
          </p:cNvPr>
          <p:cNvSpPr txBox="1"/>
          <p:nvPr/>
        </p:nvSpPr>
        <p:spPr>
          <a:xfrm>
            <a:off x="267784" y="283578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sizes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6C3DA47-7C9E-129A-0D38-9C585A8C5FEA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1474119" y="2470150"/>
            <a:ext cx="0" cy="4127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2F7A705-2261-5492-C8C6-E04E7E618BB4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2042603" y="2470150"/>
            <a:ext cx="0" cy="412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238B6DB-6ADB-717B-C9CF-28BE10B6DA36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3384550" y="2489200"/>
            <a:ext cx="145" cy="3937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8F40371-6D73-46CC-3A89-897FF48827AF}"/>
              </a:ext>
            </a:extLst>
          </p:cNvPr>
          <p:cNvCxnSpPr>
            <a:cxnSpLocks/>
            <a:endCxn id="110" idx="0"/>
          </p:cNvCxnSpPr>
          <p:nvPr/>
        </p:nvCxnSpPr>
        <p:spPr>
          <a:xfrm>
            <a:off x="4644055" y="2470150"/>
            <a:ext cx="0" cy="412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F1E9EF7-3D47-E038-7B7F-3BF4D01B686F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5443497" y="2489200"/>
            <a:ext cx="7890" cy="393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4C1E8B7-8A69-8F94-0488-CE3CE8A55810}"/>
              </a:ext>
            </a:extLst>
          </p:cNvPr>
          <p:cNvSpPr txBox="1"/>
          <p:nvPr/>
        </p:nvSpPr>
        <p:spPr>
          <a:xfrm>
            <a:off x="293772" y="3472289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</a:rPr>
              <a:t>prefix</a:t>
            </a: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sums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1A888E3-4AC3-F65B-C3C1-91339A9B7043}"/>
              </a:ext>
            </a:extLst>
          </p:cNvPr>
          <p:cNvSpPr/>
          <p:nvPr/>
        </p:nvSpPr>
        <p:spPr>
          <a:xfrm>
            <a:off x="1336587" y="365792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E3C9206-6B29-BAF6-E737-C81FC9B1B388}"/>
              </a:ext>
            </a:extLst>
          </p:cNvPr>
          <p:cNvSpPr/>
          <p:nvPr/>
        </p:nvSpPr>
        <p:spPr>
          <a:xfrm>
            <a:off x="1904416" y="365792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5AF737-1142-2CCC-8BEC-01AC9B2BD2CD}"/>
              </a:ext>
            </a:extLst>
          </p:cNvPr>
          <p:cNvSpPr/>
          <p:nvPr/>
        </p:nvSpPr>
        <p:spPr>
          <a:xfrm>
            <a:off x="3247163" y="365792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B656728-9A52-ACAA-1920-7990DA29CE93}"/>
              </a:ext>
            </a:extLst>
          </p:cNvPr>
          <p:cNvSpPr/>
          <p:nvPr/>
        </p:nvSpPr>
        <p:spPr>
          <a:xfrm>
            <a:off x="4506523" y="3657924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306786D-BCD1-9A81-790B-1BBB8E069DF5}"/>
              </a:ext>
            </a:extLst>
          </p:cNvPr>
          <p:cNvSpPr/>
          <p:nvPr/>
        </p:nvSpPr>
        <p:spPr>
          <a:xfrm>
            <a:off x="5313855" y="3657924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5606D8E-5CED-ECA1-29E7-8BE7391D1661}"/>
              </a:ext>
            </a:extLst>
          </p:cNvPr>
          <p:cNvCxnSpPr>
            <a:cxnSpLocks/>
            <a:stCxn id="107" idx="2"/>
            <a:endCxn id="119" idx="0"/>
          </p:cNvCxnSpPr>
          <p:nvPr/>
        </p:nvCxnSpPr>
        <p:spPr>
          <a:xfrm>
            <a:off x="1474119" y="3157980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FF56AF2-1211-CF4F-9310-AB52422CE879}"/>
              </a:ext>
            </a:extLst>
          </p:cNvPr>
          <p:cNvCxnSpPr>
            <a:cxnSpLocks/>
            <a:stCxn id="108" idx="2"/>
            <a:endCxn id="120" idx="0"/>
          </p:cNvCxnSpPr>
          <p:nvPr/>
        </p:nvCxnSpPr>
        <p:spPr>
          <a:xfrm flipH="1">
            <a:off x="2041948" y="3157978"/>
            <a:ext cx="655" cy="4999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06CB61D-0B94-61EA-E90A-BAC7F43690D2}"/>
              </a:ext>
            </a:extLst>
          </p:cNvPr>
          <p:cNvCxnSpPr>
            <a:cxnSpLocks/>
            <a:stCxn id="109" idx="2"/>
            <a:endCxn id="121" idx="0"/>
          </p:cNvCxnSpPr>
          <p:nvPr/>
        </p:nvCxnSpPr>
        <p:spPr>
          <a:xfrm>
            <a:off x="3384695" y="3157979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0BDCEF5-6D62-FD40-048B-0F3FDAC5509E}"/>
              </a:ext>
            </a:extLst>
          </p:cNvPr>
          <p:cNvCxnSpPr>
            <a:cxnSpLocks/>
            <a:stCxn id="110" idx="2"/>
            <a:endCxn id="122" idx="0"/>
          </p:cNvCxnSpPr>
          <p:nvPr/>
        </p:nvCxnSpPr>
        <p:spPr>
          <a:xfrm>
            <a:off x="4644055" y="3157978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46EF543-FDC7-7D39-E2E3-A1C6881B8C2D}"/>
              </a:ext>
            </a:extLst>
          </p:cNvPr>
          <p:cNvCxnSpPr>
            <a:cxnSpLocks/>
            <a:stCxn id="111" idx="2"/>
            <a:endCxn id="123" idx="0"/>
          </p:cNvCxnSpPr>
          <p:nvPr/>
        </p:nvCxnSpPr>
        <p:spPr>
          <a:xfrm>
            <a:off x="5451387" y="3157978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D5DEB0D-8DA9-0ED6-17EE-9E7825D8562A}"/>
              </a:ext>
            </a:extLst>
          </p:cNvPr>
          <p:cNvCxnSpPr>
            <a:cxnSpLocks/>
            <a:stCxn id="119" idx="3"/>
            <a:endCxn id="120" idx="1"/>
          </p:cNvCxnSpPr>
          <p:nvPr/>
        </p:nvCxnSpPr>
        <p:spPr>
          <a:xfrm>
            <a:off x="1611650" y="3795458"/>
            <a:ext cx="2927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76610B4-FF0C-1C82-1988-B3D8BC727530}"/>
              </a:ext>
            </a:extLst>
          </p:cNvPr>
          <p:cNvCxnSpPr>
            <a:cxnSpLocks/>
            <a:stCxn id="139" idx="3"/>
            <a:endCxn id="145" idx="1"/>
          </p:cNvCxnSpPr>
          <p:nvPr/>
        </p:nvCxnSpPr>
        <p:spPr>
          <a:xfrm>
            <a:off x="2491627" y="3795458"/>
            <a:ext cx="240563" cy="4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14A8A30-FABC-772E-BD29-8BBF258D3A21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3826298" y="3795454"/>
            <a:ext cx="680225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88CEB53-0C0B-E9B3-2582-10A6B8D72A15}"/>
              </a:ext>
            </a:extLst>
          </p:cNvPr>
          <p:cNvCxnSpPr>
            <a:cxnSpLocks/>
            <a:stCxn id="122" idx="3"/>
          </p:cNvCxnSpPr>
          <p:nvPr/>
        </p:nvCxnSpPr>
        <p:spPr>
          <a:xfrm>
            <a:off x="4781586" y="3795456"/>
            <a:ext cx="1876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A37D6E6-2BF2-02BC-25F8-9B0E4A356629}"/>
              </a:ext>
            </a:extLst>
          </p:cNvPr>
          <p:cNvSpPr/>
          <p:nvPr/>
        </p:nvSpPr>
        <p:spPr>
          <a:xfrm>
            <a:off x="2217219" y="288291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1E3391A-66E6-5FD8-14CC-046A72C392F2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2354751" y="2470150"/>
            <a:ext cx="0" cy="412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60F52CB-8F1B-95E4-F1BB-43A7C9F2CAC6}"/>
              </a:ext>
            </a:extLst>
          </p:cNvPr>
          <p:cNvSpPr/>
          <p:nvPr/>
        </p:nvSpPr>
        <p:spPr>
          <a:xfrm>
            <a:off x="2216564" y="365792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72F46AB-985A-0CBF-A6DE-469415243F82}"/>
              </a:ext>
            </a:extLst>
          </p:cNvPr>
          <p:cNvCxnSpPr>
            <a:cxnSpLocks/>
            <a:stCxn id="137" idx="2"/>
            <a:endCxn id="139" idx="0"/>
          </p:cNvCxnSpPr>
          <p:nvPr/>
        </p:nvCxnSpPr>
        <p:spPr>
          <a:xfrm flipH="1">
            <a:off x="2354096" y="3157978"/>
            <a:ext cx="655" cy="4999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A8EA04-65F3-4B89-4D00-D8308C225B44}"/>
              </a:ext>
            </a:extLst>
          </p:cNvPr>
          <p:cNvSpPr/>
          <p:nvPr/>
        </p:nvSpPr>
        <p:spPr>
          <a:xfrm>
            <a:off x="2732190" y="2888104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9AA079F-8D00-46E2-D729-E37B3FCE42F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2869722" y="2470150"/>
            <a:ext cx="0" cy="4179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12A3165-FE4D-3C57-5583-5F54C6C02AFC}"/>
              </a:ext>
            </a:extLst>
          </p:cNvPr>
          <p:cNvSpPr/>
          <p:nvPr/>
        </p:nvSpPr>
        <p:spPr>
          <a:xfrm>
            <a:off x="2732190" y="3658350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539266A-6767-E4CC-02D5-4747CEC4AD10}"/>
              </a:ext>
            </a:extLst>
          </p:cNvPr>
          <p:cNvCxnSpPr>
            <a:cxnSpLocks/>
            <a:stCxn id="143" idx="2"/>
            <a:endCxn id="145" idx="0"/>
          </p:cNvCxnSpPr>
          <p:nvPr/>
        </p:nvCxnSpPr>
        <p:spPr>
          <a:xfrm>
            <a:off x="2869722" y="3163167"/>
            <a:ext cx="0" cy="4951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3931AE9-B704-5647-0E24-A8EE35BA6F30}"/>
              </a:ext>
            </a:extLst>
          </p:cNvPr>
          <p:cNvCxnSpPr>
            <a:cxnSpLocks/>
            <a:stCxn id="145" idx="3"/>
            <a:endCxn id="121" idx="1"/>
          </p:cNvCxnSpPr>
          <p:nvPr/>
        </p:nvCxnSpPr>
        <p:spPr>
          <a:xfrm flipV="1">
            <a:off x="3007253" y="3795457"/>
            <a:ext cx="239910" cy="4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8AE91DF4-5021-1B5C-E8DC-5A4EA80D23E1}"/>
              </a:ext>
            </a:extLst>
          </p:cNvPr>
          <p:cNvSpPr/>
          <p:nvPr/>
        </p:nvSpPr>
        <p:spPr>
          <a:xfrm>
            <a:off x="3768791" y="2882915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06814B4-7D80-955B-1DFE-4A4E63059DC6}"/>
              </a:ext>
            </a:extLst>
          </p:cNvPr>
          <p:cNvCxnSpPr>
            <a:cxnSpLocks/>
            <a:endCxn id="155" idx="0"/>
          </p:cNvCxnSpPr>
          <p:nvPr/>
        </p:nvCxnSpPr>
        <p:spPr>
          <a:xfrm flipH="1">
            <a:off x="3906323" y="2489200"/>
            <a:ext cx="5277" cy="393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05F6F16-3D93-A3A9-135D-2E7A943A5456}"/>
              </a:ext>
            </a:extLst>
          </p:cNvPr>
          <p:cNvSpPr/>
          <p:nvPr/>
        </p:nvSpPr>
        <p:spPr>
          <a:xfrm>
            <a:off x="3768791" y="3657924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AA41E2C-2A68-81F1-D431-43613A59A8F8}"/>
              </a:ext>
            </a:extLst>
          </p:cNvPr>
          <p:cNvCxnSpPr>
            <a:cxnSpLocks/>
            <a:stCxn id="155" idx="2"/>
            <a:endCxn id="157" idx="0"/>
          </p:cNvCxnSpPr>
          <p:nvPr/>
        </p:nvCxnSpPr>
        <p:spPr>
          <a:xfrm>
            <a:off x="3906323" y="3157978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A2B31FC-6EE7-D3A0-B996-1BC0EE448901}"/>
              </a:ext>
            </a:extLst>
          </p:cNvPr>
          <p:cNvSpPr/>
          <p:nvPr/>
        </p:nvSpPr>
        <p:spPr>
          <a:xfrm>
            <a:off x="4937702" y="2874927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641734C-6C84-237B-7780-0DF9AE84B404}"/>
              </a:ext>
            </a:extLst>
          </p:cNvPr>
          <p:cNvCxnSpPr>
            <a:cxnSpLocks/>
            <a:endCxn id="170" idx="0"/>
          </p:cNvCxnSpPr>
          <p:nvPr/>
        </p:nvCxnSpPr>
        <p:spPr>
          <a:xfrm flipH="1">
            <a:off x="5075234" y="2483152"/>
            <a:ext cx="7612" cy="3917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9A527B9-1521-C090-C04D-DA75D49D4479}"/>
              </a:ext>
            </a:extLst>
          </p:cNvPr>
          <p:cNvSpPr/>
          <p:nvPr/>
        </p:nvSpPr>
        <p:spPr>
          <a:xfrm>
            <a:off x="4937702" y="3649936"/>
            <a:ext cx="275063" cy="275063"/>
          </a:xfrm>
          <a:prstGeom prst="rect">
            <a:avLst/>
          </a:prstGeom>
          <a:solidFill>
            <a:srgbClr val="F5A7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36C87B48-089E-7385-A7CE-8141FAF6D0A1}"/>
              </a:ext>
            </a:extLst>
          </p:cNvPr>
          <p:cNvCxnSpPr>
            <a:cxnSpLocks/>
            <a:stCxn id="170" idx="2"/>
            <a:endCxn id="172" idx="0"/>
          </p:cNvCxnSpPr>
          <p:nvPr/>
        </p:nvCxnSpPr>
        <p:spPr>
          <a:xfrm>
            <a:off x="5075234" y="3149990"/>
            <a:ext cx="0" cy="499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08517A-1C07-E0E0-D860-C2FFB5B0B1EB}"/>
              </a:ext>
            </a:extLst>
          </p:cNvPr>
          <p:cNvCxnSpPr>
            <a:cxnSpLocks/>
            <a:stCxn id="172" idx="3"/>
            <a:endCxn id="123" idx="1"/>
          </p:cNvCxnSpPr>
          <p:nvPr/>
        </p:nvCxnSpPr>
        <p:spPr>
          <a:xfrm>
            <a:off x="5212765" y="3787468"/>
            <a:ext cx="101090" cy="79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A23DAA4-2AC1-4382-5CB0-CB7E66C0E0C2}"/>
              </a:ext>
            </a:extLst>
          </p:cNvPr>
          <p:cNvGrpSpPr/>
          <p:nvPr/>
        </p:nvGrpSpPr>
        <p:grpSpPr>
          <a:xfrm>
            <a:off x="1243339" y="4537463"/>
            <a:ext cx="817388" cy="301084"/>
            <a:chOff x="838201" y="3137210"/>
            <a:chExt cx="438150" cy="118946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70E8964-CA14-190E-E498-2B566F7B7565}"/>
                </a:ext>
              </a:extLst>
            </p:cNvPr>
            <p:cNvSpPr/>
            <p:nvPr/>
          </p:nvSpPr>
          <p:spPr>
            <a:xfrm>
              <a:off x="838201" y="3137210"/>
              <a:ext cx="438150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D1DFDE6D-7F17-457A-EAE9-2553E447B83C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CC74213C-680E-7553-7AA2-8F4DD6F6CA2B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51AA3E9-E50C-A676-819F-9702C18CC775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1C0EDED-CF1F-A9FD-86BD-CB4C87929323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14B1B88-933C-E5DB-97EF-88686D80A2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88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E5277AA-A069-C82A-2ACE-078B350EFF45}"/>
                </a:ext>
              </a:extLst>
            </p:cNvPr>
            <p:cNvCxnSpPr>
              <a:cxnSpLocks/>
            </p:cNvCxnSpPr>
            <p:nvPr/>
          </p:nvCxnSpPr>
          <p:spPr>
            <a:xfrm>
              <a:off x="12161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5B754D1-F1B4-6D0C-3485-2693854D8B95}"/>
              </a:ext>
            </a:extLst>
          </p:cNvPr>
          <p:cNvGrpSpPr/>
          <p:nvPr/>
        </p:nvGrpSpPr>
        <p:grpSpPr>
          <a:xfrm>
            <a:off x="2693355" y="4548524"/>
            <a:ext cx="317678" cy="282310"/>
            <a:chOff x="838201" y="3137210"/>
            <a:chExt cx="170287" cy="118946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9589FE6-0D5D-9E75-CE1A-B16C0AFE3BBD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BAF4FCE9-CDA9-433B-8DE9-ED9615F5CF5C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5569F5C-6B4B-B9B2-3D1A-3C1D28A37FA3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8089191-2339-C565-A88E-0AD86F4C42C2}"/>
              </a:ext>
            </a:extLst>
          </p:cNvPr>
          <p:cNvGrpSpPr/>
          <p:nvPr/>
        </p:nvGrpSpPr>
        <p:grpSpPr>
          <a:xfrm>
            <a:off x="3678520" y="4551632"/>
            <a:ext cx="317678" cy="289324"/>
            <a:chOff x="838201" y="3137210"/>
            <a:chExt cx="170287" cy="118946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60718CE-24A6-ECEA-A215-88CDB21BC363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3E013DB4-B2E9-D2FB-1082-0CB846C5FC4A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7C23183A-B7FC-6976-2DDC-CA90C62B2611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FA56128E-8A54-A219-1DAB-22D3C25C4132}"/>
              </a:ext>
            </a:extLst>
          </p:cNvPr>
          <p:cNvGrpSpPr/>
          <p:nvPr/>
        </p:nvGrpSpPr>
        <p:grpSpPr>
          <a:xfrm>
            <a:off x="3054220" y="4544198"/>
            <a:ext cx="578475" cy="292892"/>
            <a:chOff x="838201" y="3137210"/>
            <a:chExt cx="310084" cy="118946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29CF968-761E-E077-BDAC-7F8CEB4745A3}"/>
                </a:ext>
              </a:extLst>
            </p:cNvPr>
            <p:cNvSpPr/>
            <p:nvPr/>
          </p:nvSpPr>
          <p:spPr>
            <a:xfrm>
              <a:off x="838201" y="3137210"/>
              <a:ext cx="310084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7D1CF5DF-F75F-3788-7079-D9A0AD316E7B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764315-1857-9E8C-743F-510554038D18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8C240E33-95CC-4CD0-5755-EB9AEC30833D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F3D1325-9B67-F52A-1410-8A4C1894493E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D5167B0-077E-6E15-933D-6EEBB9CCB781}"/>
              </a:ext>
            </a:extLst>
          </p:cNvPr>
          <p:cNvGrpSpPr/>
          <p:nvPr/>
        </p:nvGrpSpPr>
        <p:grpSpPr>
          <a:xfrm>
            <a:off x="4039167" y="4548524"/>
            <a:ext cx="578475" cy="289324"/>
            <a:chOff x="838201" y="3137210"/>
            <a:chExt cx="310084" cy="118946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06D4886-9841-3809-EFE3-BF74F83B1FAB}"/>
                </a:ext>
              </a:extLst>
            </p:cNvPr>
            <p:cNvSpPr/>
            <p:nvPr/>
          </p:nvSpPr>
          <p:spPr>
            <a:xfrm>
              <a:off x="838201" y="3137210"/>
              <a:ext cx="310084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599A3E4C-F50F-7B56-3DFB-A8D3E25D1D71}"/>
                </a:ext>
              </a:extLst>
            </p:cNvPr>
            <p:cNvCxnSpPr>
              <a:cxnSpLocks/>
            </p:cNvCxnSpPr>
            <p:nvPr/>
          </p:nvCxnSpPr>
          <p:spPr>
            <a:xfrm>
              <a:off x="902494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EF1F83C-469A-B501-FBAA-082BABF030CF}"/>
                </a:ext>
              </a:extLst>
            </p:cNvPr>
            <p:cNvCxnSpPr>
              <a:cxnSpLocks/>
            </p:cNvCxnSpPr>
            <p:nvPr/>
          </p:nvCxnSpPr>
          <p:spPr>
            <a:xfrm>
              <a:off x="961386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E01E505-3AB4-EC88-87C4-97DDC26B775D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79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9E2AF5D-2088-9C0F-8C62-E7F10F0DAAC8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73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91B0063-4D36-D12E-358E-6F77EA49A3F0}"/>
              </a:ext>
            </a:extLst>
          </p:cNvPr>
          <p:cNvGrpSpPr/>
          <p:nvPr/>
        </p:nvGrpSpPr>
        <p:grpSpPr>
          <a:xfrm>
            <a:off x="4660833" y="4548524"/>
            <a:ext cx="317678" cy="289324"/>
            <a:chOff x="838201" y="3137210"/>
            <a:chExt cx="170287" cy="118946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90D7C3B-6484-3E5D-4358-DEE16F44DB09}"/>
                </a:ext>
              </a:extLst>
            </p:cNvPr>
            <p:cNvSpPr/>
            <p:nvPr/>
          </p:nvSpPr>
          <p:spPr>
            <a:xfrm>
              <a:off x="838201" y="3137210"/>
              <a:ext cx="170287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39A445F-0860-FDD7-DE7C-0AC6EABBFCB5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3561C97-92BE-2E2D-4192-AC09BFFFBC76}"/>
                </a:ext>
              </a:extLst>
            </p:cNvPr>
            <p:cNvCxnSpPr>
              <a:cxnSpLocks/>
            </p:cNvCxnSpPr>
            <p:nvPr/>
          </p:nvCxnSpPr>
          <p:spPr>
            <a:xfrm>
              <a:off x="959005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400CD527-84A1-EB9B-DE4A-622A3277DDD8}"/>
              </a:ext>
            </a:extLst>
          </p:cNvPr>
          <p:cNvGrpSpPr/>
          <p:nvPr/>
        </p:nvGrpSpPr>
        <p:grpSpPr>
          <a:xfrm>
            <a:off x="2124285" y="4542623"/>
            <a:ext cx="235467" cy="289324"/>
            <a:chOff x="838201" y="3137210"/>
            <a:chExt cx="126219" cy="11894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F1EB526-3276-B6BB-7C5B-AB65B3727395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1D019026-CEC3-BCA8-1B16-8B5DB87851B6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7E6C198-869D-DDB6-0B0B-B167168BB1BE}"/>
              </a:ext>
            </a:extLst>
          </p:cNvPr>
          <p:cNvGrpSpPr/>
          <p:nvPr/>
        </p:nvGrpSpPr>
        <p:grpSpPr>
          <a:xfrm>
            <a:off x="2412219" y="4542500"/>
            <a:ext cx="235467" cy="289324"/>
            <a:chOff x="838201" y="3137210"/>
            <a:chExt cx="126219" cy="118946"/>
          </a:xfrm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F23A5180-467A-7C97-0A56-B107F8EAB287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C8B23B8-EBA1-6F49-D6BC-13EBCBA40B11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FF41CE5-3F9E-0B9E-3CC4-A356A05DADB5}"/>
              </a:ext>
            </a:extLst>
          </p:cNvPr>
          <p:cNvSpPr/>
          <p:nvPr/>
        </p:nvSpPr>
        <p:spPr>
          <a:xfrm>
            <a:off x="1848422" y="5753167"/>
            <a:ext cx="60073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0DDDABB7-9548-7650-3E3B-F2328B6941C5}"/>
              </a:ext>
            </a:extLst>
          </p:cNvPr>
          <p:cNvSpPr/>
          <p:nvPr/>
        </p:nvSpPr>
        <p:spPr>
          <a:xfrm>
            <a:off x="2492918" y="5753167"/>
            <a:ext cx="60073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87B239B-4A06-ADAE-1A5C-1AD7E36C7B67}"/>
              </a:ext>
            </a:extLst>
          </p:cNvPr>
          <p:cNvSpPr/>
          <p:nvPr/>
        </p:nvSpPr>
        <p:spPr>
          <a:xfrm>
            <a:off x="3141483" y="5753167"/>
            <a:ext cx="60073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837D142-1DAC-6CB4-2546-4D63C0B881BD}"/>
              </a:ext>
            </a:extLst>
          </p:cNvPr>
          <p:cNvSpPr/>
          <p:nvPr/>
        </p:nvSpPr>
        <p:spPr>
          <a:xfrm>
            <a:off x="3774611" y="5753167"/>
            <a:ext cx="60073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1F07378-3382-0964-BEEB-74902427DC7C}"/>
              </a:ext>
            </a:extLst>
          </p:cNvPr>
          <p:cNvSpPr/>
          <p:nvPr/>
        </p:nvSpPr>
        <p:spPr>
          <a:xfrm>
            <a:off x="4417434" y="5753167"/>
            <a:ext cx="60073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801B6BE0-2623-2E37-A515-E383A6D66AA9}"/>
              </a:ext>
            </a:extLst>
          </p:cNvPr>
          <p:cNvCxnSpPr>
            <a:cxnSpLocks/>
            <a:stCxn id="235" idx="2"/>
          </p:cNvCxnSpPr>
          <p:nvPr/>
        </p:nvCxnSpPr>
        <p:spPr>
          <a:xfrm flipH="1">
            <a:off x="1293866" y="4838097"/>
            <a:ext cx="14632" cy="915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BDB158D-1066-DC41-949C-E22D4C227F26}"/>
              </a:ext>
            </a:extLst>
          </p:cNvPr>
          <p:cNvCxnSpPr>
            <a:cxnSpLocks/>
            <a:stCxn id="236" idx="2"/>
          </p:cNvCxnSpPr>
          <p:nvPr/>
        </p:nvCxnSpPr>
        <p:spPr>
          <a:xfrm>
            <a:off x="1890871" y="4838097"/>
            <a:ext cx="10864" cy="915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E138CA0C-BE52-CD50-F43C-A1133251AF1F}"/>
              </a:ext>
            </a:extLst>
          </p:cNvPr>
          <p:cNvCxnSpPr>
            <a:cxnSpLocks/>
            <a:stCxn id="237" idx="2"/>
          </p:cNvCxnSpPr>
          <p:nvPr/>
        </p:nvCxnSpPr>
        <p:spPr>
          <a:xfrm flipH="1">
            <a:off x="2567091" y="4838097"/>
            <a:ext cx="27105" cy="915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1556B0-7C43-7095-9DE6-AC34A5658006}"/>
              </a:ext>
            </a:extLst>
          </p:cNvPr>
          <p:cNvCxnSpPr>
            <a:cxnSpLocks/>
            <a:stCxn id="238" idx="2"/>
          </p:cNvCxnSpPr>
          <p:nvPr/>
        </p:nvCxnSpPr>
        <p:spPr>
          <a:xfrm flipH="1">
            <a:off x="3217005" y="4838097"/>
            <a:ext cx="15945" cy="915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27486F95-7827-E1EF-2230-E851ABED0158}"/>
              </a:ext>
            </a:extLst>
          </p:cNvPr>
          <p:cNvCxnSpPr>
            <a:cxnSpLocks/>
          </p:cNvCxnSpPr>
          <p:nvPr/>
        </p:nvCxnSpPr>
        <p:spPr>
          <a:xfrm flipH="1">
            <a:off x="3831705" y="4849245"/>
            <a:ext cx="13878" cy="9039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EFF82F3A-C5F5-DA6F-7ECD-A3C37AFF5699}"/>
              </a:ext>
            </a:extLst>
          </p:cNvPr>
          <p:cNvCxnSpPr>
            <a:cxnSpLocks/>
            <a:stCxn id="240" idx="2"/>
          </p:cNvCxnSpPr>
          <p:nvPr/>
        </p:nvCxnSpPr>
        <p:spPr>
          <a:xfrm>
            <a:off x="4446908" y="4849245"/>
            <a:ext cx="11184" cy="9039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3951BB4B-584B-7762-E878-2A8EF9052AA5}"/>
              </a:ext>
            </a:extLst>
          </p:cNvPr>
          <p:cNvSpPr/>
          <p:nvPr/>
        </p:nvSpPr>
        <p:spPr>
          <a:xfrm>
            <a:off x="1255086" y="4530480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A25DB7FA-79D7-2EFA-6201-FC092AAFEB3D}"/>
              </a:ext>
            </a:extLst>
          </p:cNvPr>
          <p:cNvSpPr/>
          <p:nvPr/>
        </p:nvSpPr>
        <p:spPr>
          <a:xfrm>
            <a:off x="1837459" y="4530480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EAE19284-6980-7D71-C538-C3B1848E1110}"/>
              </a:ext>
            </a:extLst>
          </p:cNvPr>
          <p:cNvSpPr/>
          <p:nvPr/>
        </p:nvSpPr>
        <p:spPr>
          <a:xfrm>
            <a:off x="2540784" y="4530480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20C363B2-1166-ED88-C4B2-54843DE835F4}"/>
              </a:ext>
            </a:extLst>
          </p:cNvPr>
          <p:cNvSpPr/>
          <p:nvPr/>
        </p:nvSpPr>
        <p:spPr>
          <a:xfrm>
            <a:off x="3179538" y="4530480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E56C8ACC-A5FD-5F68-09B0-D1B17C7DE820}"/>
              </a:ext>
            </a:extLst>
          </p:cNvPr>
          <p:cNvSpPr/>
          <p:nvPr/>
        </p:nvSpPr>
        <p:spPr>
          <a:xfrm>
            <a:off x="3792171" y="4541628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B8466BCB-8AB6-7157-71A0-69B5AFC4CFD1}"/>
              </a:ext>
            </a:extLst>
          </p:cNvPr>
          <p:cNvSpPr/>
          <p:nvPr/>
        </p:nvSpPr>
        <p:spPr>
          <a:xfrm>
            <a:off x="4393496" y="4541628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FF3C3AD-E0C7-92BD-6BC7-20670BDB86BB}"/>
              </a:ext>
            </a:extLst>
          </p:cNvPr>
          <p:cNvGrpSpPr/>
          <p:nvPr/>
        </p:nvGrpSpPr>
        <p:grpSpPr>
          <a:xfrm>
            <a:off x="5018196" y="4547358"/>
            <a:ext cx="235467" cy="289324"/>
            <a:chOff x="838201" y="3137210"/>
            <a:chExt cx="126219" cy="118946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BD3C0E0F-68CE-4E91-57B3-7465E5F1BF05}"/>
                </a:ext>
              </a:extLst>
            </p:cNvPr>
            <p:cNvSpPr/>
            <p:nvPr/>
          </p:nvSpPr>
          <p:spPr>
            <a:xfrm>
              <a:off x="838201" y="3137210"/>
              <a:ext cx="126219" cy="11894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65AD1518-6E4C-F6E1-59CD-F9F03EFC55AA}"/>
                </a:ext>
              </a:extLst>
            </p:cNvPr>
            <p:cNvCxnSpPr>
              <a:cxnSpLocks/>
            </p:cNvCxnSpPr>
            <p:nvPr/>
          </p:nvCxnSpPr>
          <p:spPr>
            <a:xfrm>
              <a:off x="897732" y="3141856"/>
              <a:ext cx="0" cy="110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1C3B094-A6BE-BEC4-4E03-E61B0F165E6B}"/>
              </a:ext>
            </a:extLst>
          </p:cNvPr>
          <p:cNvSpPr/>
          <p:nvPr/>
        </p:nvSpPr>
        <p:spPr>
          <a:xfrm>
            <a:off x="5055101" y="5753167"/>
            <a:ext cx="235559" cy="319668"/>
          </a:xfrm>
          <a:prstGeom prst="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2CC3DFA8-97C1-884E-E4B8-F4FB48E266F8}"/>
              </a:ext>
            </a:extLst>
          </p:cNvPr>
          <p:cNvCxnSpPr>
            <a:cxnSpLocks/>
            <a:stCxn id="247" idx="2"/>
          </p:cNvCxnSpPr>
          <p:nvPr/>
        </p:nvCxnSpPr>
        <p:spPr>
          <a:xfrm>
            <a:off x="5075233" y="4849245"/>
            <a:ext cx="7110" cy="9039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816ABB49-E00C-AA7D-285D-422E68DDF527}"/>
              </a:ext>
            </a:extLst>
          </p:cNvPr>
          <p:cNvSpPr/>
          <p:nvPr/>
        </p:nvSpPr>
        <p:spPr>
          <a:xfrm>
            <a:off x="5021821" y="4541628"/>
            <a:ext cx="106824" cy="30761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2113C4F1-C9BB-2035-ADF3-27D173538FFE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1308498" y="3932987"/>
            <a:ext cx="150301" cy="5974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07F0D04B-16ED-2827-EC21-F901461AD0D8}"/>
              </a:ext>
            </a:extLst>
          </p:cNvPr>
          <p:cNvCxnSpPr>
            <a:cxnSpLocks/>
            <a:stCxn id="119" idx="2"/>
            <a:endCxn id="236" idx="0"/>
          </p:cNvCxnSpPr>
          <p:nvPr/>
        </p:nvCxnSpPr>
        <p:spPr>
          <a:xfrm>
            <a:off x="1474119" y="3932989"/>
            <a:ext cx="416752" cy="5974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5234845F-F527-B543-2D36-2D0DE6534073}"/>
              </a:ext>
            </a:extLst>
          </p:cNvPr>
          <p:cNvCxnSpPr>
            <a:cxnSpLocks/>
            <a:stCxn id="139" idx="2"/>
            <a:endCxn id="237" idx="0"/>
          </p:cNvCxnSpPr>
          <p:nvPr/>
        </p:nvCxnSpPr>
        <p:spPr>
          <a:xfrm>
            <a:off x="2354096" y="3932989"/>
            <a:ext cx="240100" cy="5974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938D21B8-9FEE-8F6A-BEC9-2762D5EDFB71}"/>
              </a:ext>
            </a:extLst>
          </p:cNvPr>
          <p:cNvCxnSpPr>
            <a:cxnSpLocks/>
            <a:stCxn id="121" idx="2"/>
            <a:endCxn id="238" idx="0"/>
          </p:cNvCxnSpPr>
          <p:nvPr/>
        </p:nvCxnSpPr>
        <p:spPr>
          <a:xfrm flipH="1">
            <a:off x="3232950" y="3932988"/>
            <a:ext cx="151745" cy="5974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E6BE528B-413D-0FDA-CBD9-2E4A078D4C6E}"/>
              </a:ext>
            </a:extLst>
          </p:cNvPr>
          <p:cNvCxnSpPr>
            <a:cxnSpLocks/>
            <a:stCxn id="157" idx="2"/>
            <a:endCxn id="239" idx="0"/>
          </p:cNvCxnSpPr>
          <p:nvPr/>
        </p:nvCxnSpPr>
        <p:spPr>
          <a:xfrm flipH="1">
            <a:off x="3845583" y="3932987"/>
            <a:ext cx="60740" cy="6086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D6270A4D-C01F-3724-7939-EBC9C67ACC40}"/>
              </a:ext>
            </a:extLst>
          </p:cNvPr>
          <p:cNvCxnSpPr>
            <a:cxnSpLocks/>
            <a:stCxn id="122" idx="2"/>
            <a:endCxn id="240" idx="0"/>
          </p:cNvCxnSpPr>
          <p:nvPr/>
        </p:nvCxnSpPr>
        <p:spPr>
          <a:xfrm flipH="1">
            <a:off x="4446908" y="3932987"/>
            <a:ext cx="197147" cy="6086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883989FF-B4BD-8C98-C765-06B798701748}"/>
              </a:ext>
            </a:extLst>
          </p:cNvPr>
          <p:cNvCxnSpPr>
            <a:cxnSpLocks/>
            <a:stCxn id="123" idx="2"/>
            <a:endCxn id="247" idx="0"/>
          </p:cNvCxnSpPr>
          <p:nvPr/>
        </p:nvCxnSpPr>
        <p:spPr>
          <a:xfrm flipH="1">
            <a:off x="5075233" y="3932987"/>
            <a:ext cx="376154" cy="6086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A43BAD38-0F4A-5D03-0D5E-33FF295B9091}"/>
              </a:ext>
            </a:extLst>
          </p:cNvPr>
          <p:cNvSpPr txBox="1"/>
          <p:nvPr/>
        </p:nvSpPr>
        <p:spPr>
          <a:xfrm>
            <a:off x="327014" y="449962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iters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9075F7BC-C47D-C429-84A5-9FB1054F08F3}"/>
              </a:ext>
            </a:extLst>
          </p:cNvPr>
          <p:cNvCxnSpPr>
            <a:cxnSpLocks/>
          </p:cNvCxnSpPr>
          <p:nvPr/>
        </p:nvCxnSpPr>
        <p:spPr>
          <a:xfrm>
            <a:off x="1085637" y="5196916"/>
            <a:ext cx="449934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D7732792-CC54-7B32-FD35-7ABE5C27FED7}"/>
              </a:ext>
            </a:extLst>
          </p:cNvPr>
          <p:cNvSpPr txBox="1"/>
          <p:nvPr/>
        </p:nvSpPr>
        <p:spPr>
          <a:xfrm>
            <a:off x="2919835" y="4895606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construction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5725DB21-E81A-AB6C-00A0-D4DB89537835}"/>
              </a:ext>
            </a:extLst>
          </p:cNvPr>
          <p:cNvSpPr txBox="1"/>
          <p:nvPr/>
        </p:nvSpPr>
        <p:spPr>
          <a:xfrm>
            <a:off x="2823194" y="5194153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iteration</a:t>
            </a:r>
          </a:p>
        </p:txBody>
      </p: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03E10A95-E1E8-7C7D-8F81-ADEDC00A8A26}"/>
              </a:ext>
            </a:extLst>
          </p:cNvPr>
          <p:cNvCxnSpPr>
            <a:cxnSpLocks/>
            <a:endCxn id="92" idx="3"/>
          </p:cNvCxnSpPr>
          <p:nvPr/>
        </p:nvCxnSpPr>
        <p:spPr>
          <a:xfrm>
            <a:off x="1293866" y="5911469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00B47C68-1528-2D10-3CFD-A776823ECF45}"/>
              </a:ext>
            </a:extLst>
          </p:cNvPr>
          <p:cNvCxnSpPr>
            <a:cxnSpLocks/>
          </p:cNvCxnSpPr>
          <p:nvPr/>
        </p:nvCxnSpPr>
        <p:spPr>
          <a:xfrm>
            <a:off x="1917246" y="5911469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3EEFF71A-C0C9-BDD0-0689-4BD08B3703A9}"/>
              </a:ext>
            </a:extLst>
          </p:cNvPr>
          <p:cNvCxnSpPr>
            <a:cxnSpLocks/>
          </p:cNvCxnSpPr>
          <p:nvPr/>
        </p:nvCxnSpPr>
        <p:spPr>
          <a:xfrm>
            <a:off x="2572438" y="5912235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68654739-23E0-F2B0-71F1-4E216F548374}"/>
              </a:ext>
            </a:extLst>
          </p:cNvPr>
          <p:cNvCxnSpPr>
            <a:cxnSpLocks/>
          </p:cNvCxnSpPr>
          <p:nvPr/>
        </p:nvCxnSpPr>
        <p:spPr>
          <a:xfrm>
            <a:off x="3220708" y="5912235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6B441D8F-FDED-7493-F79E-727556AC4866}"/>
              </a:ext>
            </a:extLst>
          </p:cNvPr>
          <p:cNvCxnSpPr>
            <a:cxnSpLocks/>
          </p:cNvCxnSpPr>
          <p:nvPr/>
        </p:nvCxnSpPr>
        <p:spPr>
          <a:xfrm>
            <a:off x="3868619" y="5913001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F3BAE987-BBF8-8FEC-165C-CB7940319BF6}"/>
              </a:ext>
            </a:extLst>
          </p:cNvPr>
          <p:cNvCxnSpPr>
            <a:cxnSpLocks/>
          </p:cNvCxnSpPr>
          <p:nvPr/>
        </p:nvCxnSpPr>
        <p:spPr>
          <a:xfrm>
            <a:off x="4524654" y="5913001"/>
            <a:ext cx="506731" cy="153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FB989371-B4D9-F3C6-8E97-D45001D68BCE}"/>
              </a:ext>
            </a:extLst>
          </p:cNvPr>
          <p:cNvCxnSpPr>
            <a:cxnSpLocks/>
          </p:cNvCxnSpPr>
          <p:nvPr/>
        </p:nvCxnSpPr>
        <p:spPr>
          <a:xfrm>
            <a:off x="5117306" y="5912644"/>
            <a:ext cx="160377" cy="1123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ontent Placeholder 2">
            <a:extLst>
              <a:ext uri="{FF2B5EF4-FFF2-40B4-BE49-F238E27FC236}">
                <a16:creationId xmlns:a16="http://schemas.microsoft.com/office/drawing/2014/main" id="{77B2EFF4-49ED-D9E4-357B-AA38268759E2}"/>
              </a:ext>
            </a:extLst>
          </p:cNvPr>
          <p:cNvSpPr txBox="1">
            <a:spLocks/>
          </p:cNvSpPr>
          <p:nvPr/>
        </p:nvSpPr>
        <p:spPr>
          <a:xfrm>
            <a:off x="6096000" y="2766061"/>
            <a:ext cx="5486400" cy="1272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/>
              <a:t>Construction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Compute prefix sums of sizes of inner ranges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Use prefix sums to identify starting element for each block based on block size</a:t>
            </a:r>
          </a:p>
        </p:txBody>
      </p:sp>
      <p:sp>
        <p:nvSpPr>
          <p:cNvPr id="293" name="Content Placeholder 2">
            <a:extLst>
              <a:ext uri="{FF2B5EF4-FFF2-40B4-BE49-F238E27FC236}">
                <a16:creationId xmlns:a16="http://schemas.microsoft.com/office/drawing/2014/main" id="{A98AE85A-0ABF-1BAC-71FE-DA3BC4DC78B8}"/>
              </a:ext>
            </a:extLst>
          </p:cNvPr>
          <p:cNvSpPr txBox="1">
            <a:spLocks/>
          </p:cNvSpPr>
          <p:nvPr/>
        </p:nvSpPr>
        <p:spPr>
          <a:xfrm>
            <a:off x="6096000" y="4000348"/>
            <a:ext cx="5486400" cy="946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/>
              <a:t>Iterator State: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Inner iterator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Outer iterator</a:t>
            </a:r>
          </a:p>
        </p:txBody>
      </p:sp>
      <p:sp>
        <p:nvSpPr>
          <p:cNvPr id="294" name="Content Placeholder 2">
            <a:extLst>
              <a:ext uri="{FF2B5EF4-FFF2-40B4-BE49-F238E27FC236}">
                <a16:creationId xmlns:a16="http://schemas.microsoft.com/office/drawing/2014/main" id="{6D19F929-47E2-BE1F-87D1-ACDBB29F9787}"/>
              </a:ext>
            </a:extLst>
          </p:cNvPr>
          <p:cNvSpPr txBox="1">
            <a:spLocks/>
          </p:cNvSpPr>
          <p:nvPr/>
        </p:nvSpPr>
        <p:spPr>
          <a:xfrm>
            <a:off x="6096000" y="4971441"/>
            <a:ext cx="5486400" cy="1521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/>
              <a:t>Increment operation: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Advance inner; if it reaches the end, advance outer and reset inner to new beginning</a:t>
            </a:r>
          </a:p>
        </p:txBody>
      </p:sp>
    </p:spTree>
    <p:extLst>
      <p:ext uri="{BB962C8B-B14F-4D97-AF65-F5344CB8AC3E}">
        <p14:creationId xmlns:p14="http://schemas.microsoft.com/office/powerpoint/2010/main" val="283274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animBg="1"/>
      <p:bldP spid="8" grpId="0" animBg="1"/>
      <p:bldP spid="92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/>
      <p:bldP spid="118" grpId="0"/>
      <p:bldP spid="119" grpId="0" animBg="1"/>
      <p:bldP spid="120" grpId="0" animBg="1"/>
      <p:bldP spid="121" grpId="0" animBg="1"/>
      <p:bldP spid="122" grpId="0" animBg="1"/>
      <p:bldP spid="123" grpId="0" animBg="1"/>
      <p:bldP spid="137" grpId="0" animBg="1"/>
      <p:bldP spid="139" grpId="0" animBg="1"/>
      <p:bldP spid="143" grpId="0" animBg="1"/>
      <p:bldP spid="145" grpId="0" animBg="1"/>
      <p:bldP spid="155" grpId="0" animBg="1"/>
      <p:bldP spid="157" grpId="0" animBg="1"/>
      <p:bldP spid="170" grpId="0" animBg="1"/>
      <p:bldP spid="172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4" grpId="0" animBg="1"/>
      <p:bldP spid="247" grpId="0" animBg="1"/>
      <p:bldP spid="269" grpId="0"/>
      <p:bldP spid="271" grpId="0"/>
      <p:bldP spid="272" grpId="0"/>
      <p:bldP spid="292" grpId="0"/>
      <p:bldP spid="293" grpId="0"/>
      <p:bldP spid="2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1B19-56AB-645E-2C2F-50856ABA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Block-iterable filter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5FC78-F408-43BF-02E7-1B4B48A8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D496FA-FA57-C646-474E-C3F079867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0664" y="1830877"/>
            <a:ext cx="5486400" cy="185348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Naïve filter: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Mark survivors with predicate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Compute per-block survivor counts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Prefix sum counts and search for offsets to make equal sized output blocks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Sounds just like </a:t>
            </a:r>
            <a:r>
              <a:rPr lang="en-US" sz="2000" b="1" dirty="0"/>
              <a:t>flatten</a:t>
            </a:r>
            <a:r>
              <a:rPr lang="en-US" sz="2000" dirty="0"/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FB059-43BF-7990-1B34-9816BDF359B9}"/>
              </a:ext>
            </a:extLst>
          </p:cNvPr>
          <p:cNvSpPr/>
          <p:nvPr/>
        </p:nvSpPr>
        <p:spPr>
          <a:xfrm>
            <a:off x="959005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94D187-DF36-2015-3A8D-FD93E7A910D1}"/>
              </a:ext>
            </a:extLst>
          </p:cNvPr>
          <p:cNvSpPr/>
          <p:nvPr/>
        </p:nvSpPr>
        <p:spPr>
          <a:xfrm>
            <a:off x="1914293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D02F5E-6873-D029-B934-F4BEFB77BE2F}"/>
              </a:ext>
            </a:extLst>
          </p:cNvPr>
          <p:cNvSpPr/>
          <p:nvPr/>
        </p:nvSpPr>
        <p:spPr>
          <a:xfrm>
            <a:off x="2869581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932201-B76F-F8FD-D843-84C127FA6D7C}"/>
              </a:ext>
            </a:extLst>
          </p:cNvPr>
          <p:cNvSpPr/>
          <p:nvPr/>
        </p:nvSpPr>
        <p:spPr>
          <a:xfrm>
            <a:off x="3824869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5A05E-4383-0456-22B9-21E995EF2491}"/>
              </a:ext>
            </a:extLst>
          </p:cNvPr>
          <p:cNvSpPr/>
          <p:nvPr/>
        </p:nvSpPr>
        <p:spPr>
          <a:xfrm>
            <a:off x="4780157" y="2029522"/>
            <a:ext cx="884664" cy="319668"/>
          </a:xfrm>
          <a:prstGeom prst="rect">
            <a:avLst/>
          </a:prstGeom>
          <a:solidFill>
            <a:srgbClr val="BFE8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92F5720-E54B-11A5-B8BA-055FFE4EBB9A}"/>
              </a:ext>
            </a:extLst>
          </p:cNvPr>
          <p:cNvSpPr txBox="1">
            <a:spLocks/>
          </p:cNvSpPr>
          <p:nvPr/>
        </p:nvSpPr>
        <p:spPr>
          <a:xfrm>
            <a:off x="6006352" y="3824556"/>
            <a:ext cx="5347448" cy="1325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/>
              <a:t>Filter as a second-class adapter!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No need for a separate “first-class” filter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Filter just produces blocks containing survivors then hand off to </a:t>
            </a:r>
            <a:r>
              <a:rPr lang="en-US" sz="2000" b="1" dirty="0"/>
              <a:t>flatten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526CE-B092-7719-68B7-B5FA26DB2B0C}"/>
              </a:ext>
            </a:extLst>
          </p:cNvPr>
          <p:cNvSpPr txBox="1"/>
          <p:nvPr/>
        </p:nvSpPr>
        <p:spPr>
          <a:xfrm>
            <a:off x="901020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0BDEE-DF66-5525-1ECE-CC543BDCF8DB}"/>
              </a:ext>
            </a:extLst>
          </p:cNvPr>
          <p:cNvSpPr txBox="1"/>
          <p:nvPr/>
        </p:nvSpPr>
        <p:spPr>
          <a:xfrm>
            <a:off x="1070540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B0F42-6C92-3AF7-6151-BCD69A7E67AB}"/>
              </a:ext>
            </a:extLst>
          </p:cNvPr>
          <p:cNvSpPr txBox="1"/>
          <p:nvPr/>
        </p:nvSpPr>
        <p:spPr>
          <a:xfrm>
            <a:off x="1492416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64E00-332F-4D71-AC74-8D78CF13EE79}"/>
              </a:ext>
            </a:extLst>
          </p:cNvPr>
          <p:cNvSpPr txBox="1"/>
          <p:nvPr/>
        </p:nvSpPr>
        <p:spPr>
          <a:xfrm>
            <a:off x="1878544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FE87F-1EDF-E497-2112-604801766308}"/>
              </a:ext>
            </a:extLst>
          </p:cNvPr>
          <p:cNvSpPr txBox="1"/>
          <p:nvPr/>
        </p:nvSpPr>
        <p:spPr>
          <a:xfrm>
            <a:off x="2457007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5CA3A-F09A-A6D6-87A1-0898CD0F6A0B}"/>
              </a:ext>
            </a:extLst>
          </p:cNvPr>
          <p:cNvSpPr txBox="1"/>
          <p:nvPr/>
        </p:nvSpPr>
        <p:spPr>
          <a:xfrm>
            <a:off x="3113084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4C48C2-52A3-5112-6A8A-4182A9A73564}"/>
              </a:ext>
            </a:extLst>
          </p:cNvPr>
          <p:cNvSpPr txBox="1"/>
          <p:nvPr/>
        </p:nvSpPr>
        <p:spPr>
          <a:xfrm>
            <a:off x="4759724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82AA3-1A77-AE46-18E4-A589C7BF2100}"/>
              </a:ext>
            </a:extLst>
          </p:cNvPr>
          <p:cNvSpPr txBox="1"/>
          <p:nvPr/>
        </p:nvSpPr>
        <p:spPr>
          <a:xfrm>
            <a:off x="4925122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339E83-67CC-213D-C320-0AA1C599DC49}"/>
              </a:ext>
            </a:extLst>
          </p:cNvPr>
          <p:cNvSpPr txBox="1"/>
          <p:nvPr/>
        </p:nvSpPr>
        <p:spPr>
          <a:xfrm>
            <a:off x="5097065" y="2004690"/>
            <a:ext cx="33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✔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703465-0216-AF7F-0554-85517FF3D744}"/>
              </a:ext>
            </a:extLst>
          </p:cNvPr>
          <p:cNvSpPr/>
          <p:nvPr/>
        </p:nvSpPr>
        <p:spPr>
          <a:xfrm>
            <a:off x="959005" y="2813050"/>
            <a:ext cx="609445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E67470-FD06-0661-B62C-E3FD5D5607BD}"/>
              </a:ext>
            </a:extLst>
          </p:cNvPr>
          <p:cNvSpPr/>
          <p:nvPr/>
        </p:nvSpPr>
        <p:spPr>
          <a:xfrm>
            <a:off x="1914293" y="2825750"/>
            <a:ext cx="414570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1E5A35-502D-28B1-A8C7-1E69ADC551C4}"/>
              </a:ext>
            </a:extLst>
          </p:cNvPr>
          <p:cNvSpPr/>
          <p:nvPr/>
        </p:nvSpPr>
        <p:spPr>
          <a:xfrm>
            <a:off x="2869581" y="2808674"/>
            <a:ext cx="243503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7D5EB3-7316-23BC-641C-6445F70300E2}"/>
              </a:ext>
            </a:extLst>
          </p:cNvPr>
          <p:cNvSpPr/>
          <p:nvPr/>
        </p:nvSpPr>
        <p:spPr>
          <a:xfrm>
            <a:off x="4780157" y="2825750"/>
            <a:ext cx="610993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EA4EE6-FE07-B64E-BFE1-C657F599747B}"/>
              </a:ext>
            </a:extLst>
          </p:cNvPr>
          <p:cNvSpPr/>
          <p:nvPr/>
        </p:nvSpPr>
        <p:spPr>
          <a:xfrm>
            <a:off x="3851680" y="2820173"/>
            <a:ext cx="69704" cy="26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28D080B-FCD8-1C06-8BD2-081AA4E72466}"/>
              </a:ext>
            </a:extLst>
          </p:cNvPr>
          <p:cNvCxnSpPr>
            <a:cxnSpLocks/>
          </p:cNvCxnSpPr>
          <p:nvPr/>
        </p:nvCxnSpPr>
        <p:spPr>
          <a:xfrm flipH="1" flipV="1">
            <a:off x="1069181" y="2305050"/>
            <a:ext cx="4380" cy="63869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AC237D9-6C72-6DFD-2D3A-1DCCD7538F27}"/>
              </a:ext>
            </a:extLst>
          </p:cNvPr>
          <p:cNvCxnSpPr>
            <a:cxnSpLocks/>
          </p:cNvCxnSpPr>
          <p:nvPr/>
        </p:nvCxnSpPr>
        <p:spPr>
          <a:xfrm flipH="1" flipV="1">
            <a:off x="1254919" y="2302669"/>
            <a:ext cx="8808" cy="63935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7488DAF-6E3A-AE1D-C700-C0BB69F1FEDD}"/>
              </a:ext>
            </a:extLst>
          </p:cNvPr>
          <p:cNvCxnSpPr>
            <a:cxnSpLocks/>
          </p:cNvCxnSpPr>
          <p:nvPr/>
        </p:nvCxnSpPr>
        <p:spPr>
          <a:xfrm flipV="1">
            <a:off x="1412081" y="2300288"/>
            <a:ext cx="207169" cy="65246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054D0B3-767B-A071-A8EB-1E3F68CB805A}"/>
              </a:ext>
            </a:extLst>
          </p:cNvPr>
          <p:cNvCxnSpPr>
            <a:cxnSpLocks/>
          </p:cNvCxnSpPr>
          <p:nvPr/>
        </p:nvCxnSpPr>
        <p:spPr>
          <a:xfrm flipV="1">
            <a:off x="2040731" y="2309813"/>
            <a:ext cx="2382" cy="66675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0C10F02-6EB6-39D3-17DE-55CEA798A90A}"/>
              </a:ext>
            </a:extLst>
          </p:cNvPr>
          <p:cNvCxnSpPr>
            <a:cxnSpLocks/>
          </p:cNvCxnSpPr>
          <p:nvPr/>
        </p:nvCxnSpPr>
        <p:spPr>
          <a:xfrm flipV="1">
            <a:off x="2188369" y="2293144"/>
            <a:ext cx="395287" cy="67627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85990AF-70FF-2A8E-AD5E-D6B7B0E271DF}"/>
              </a:ext>
            </a:extLst>
          </p:cNvPr>
          <p:cNvCxnSpPr>
            <a:cxnSpLocks/>
          </p:cNvCxnSpPr>
          <p:nvPr/>
        </p:nvCxnSpPr>
        <p:spPr>
          <a:xfrm flipV="1">
            <a:off x="2974181" y="2295525"/>
            <a:ext cx="264319" cy="65722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9DD6AC0-077C-FBD1-EF3E-5ED255E0CAA7}"/>
              </a:ext>
            </a:extLst>
          </p:cNvPr>
          <p:cNvCxnSpPr>
            <a:cxnSpLocks/>
          </p:cNvCxnSpPr>
          <p:nvPr/>
        </p:nvCxnSpPr>
        <p:spPr>
          <a:xfrm flipV="1">
            <a:off x="4886325" y="2312194"/>
            <a:ext cx="21431" cy="67389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943E79D-8B1A-B4A9-F188-F69B89586BDB}"/>
              </a:ext>
            </a:extLst>
          </p:cNvPr>
          <p:cNvCxnSpPr>
            <a:cxnSpLocks/>
          </p:cNvCxnSpPr>
          <p:nvPr/>
        </p:nvCxnSpPr>
        <p:spPr>
          <a:xfrm flipV="1">
            <a:off x="5081588" y="2309813"/>
            <a:ext cx="2381" cy="664368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E629EEE-80D3-62AF-C568-95AA70894218}"/>
              </a:ext>
            </a:extLst>
          </p:cNvPr>
          <p:cNvCxnSpPr>
            <a:cxnSpLocks/>
          </p:cNvCxnSpPr>
          <p:nvPr/>
        </p:nvCxnSpPr>
        <p:spPr>
          <a:xfrm flipV="1">
            <a:off x="5253038" y="2309813"/>
            <a:ext cx="21431" cy="659606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E0C592C-D401-990D-C4F2-F29A22AD1139}"/>
              </a:ext>
            </a:extLst>
          </p:cNvPr>
          <p:cNvSpPr/>
          <p:nvPr/>
        </p:nvSpPr>
        <p:spPr>
          <a:xfrm>
            <a:off x="959005" y="3557856"/>
            <a:ext cx="4705816" cy="266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onsolas" panose="020B0609020204030204" pitchFamily="49" charset="0"/>
              </a:rPr>
              <a:t>flatten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538B25-DF3C-891C-0BAE-F10DDF417867}"/>
              </a:ext>
            </a:extLst>
          </p:cNvPr>
          <p:cNvCxnSpPr>
            <a:cxnSpLocks/>
          </p:cNvCxnSpPr>
          <p:nvPr/>
        </p:nvCxnSpPr>
        <p:spPr>
          <a:xfrm>
            <a:off x="1492416" y="3086873"/>
            <a:ext cx="629162" cy="470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51A46EF-3D53-65A1-EA6B-1FE27EF292C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121578" y="3092450"/>
            <a:ext cx="666226" cy="4654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48EFDB8-F0D8-8D45-7D7E-5837606ECCF5}"/>
              </a:ext>
            </a:extLst>
          </p:cNvPr>
          <p:cNvCxnSpPr>
            <a:cxnSpLocks/>
            <a:stCxn id="23" idx="2"/>
            <a:endCxn id="92" idx="0"/>
          </p:cNvCxnSpPr>
          <p:nvPr/>
        </p:nvCxnSpPr>
        <p:spPr>
          <a:xfrm>
            <a:off x="2991333" y="3075374"/>
            <a:ext cx="320580" cy="4824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49BD0F0-E78A-995E-57A2-448C6D670298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600450" y="3086873"/>
            <a:ext cx="286082" cy="470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F9DB3CD-1FED-DCFD-43F5-A951C16A4D1B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362450" y="3092450"/>
            <a:ext cx="723204" cy="4654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E0B41CF-DAD0-8373-290A-A6143A060A9B}"/>
              </a:ext>
            </a:extLst>
          </p:cNvPr>
          <p:cNvSpPr/>
          <p:nvPr/>
        </p:nvSpPr>
        <p:spPr>
          <a:xfrm>
            <a:off x="959005" y="4007080"/>
            <a:ext cx="4705816" cy="5769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onsolas" panose="020B0609020204030204" pitchFamily="49" charset="0"/>
              </a:rPr>
              <a:t>transform([](auto&amp;&amp; it)</a:t>
            </a:r>
            <a:br>
              <a:rPr lang="en-US" sz="1400" b="1" dirty="0">
                <a:latin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</a:rPr>
              <a:t>-&gt; </a:t>
            </a:r>
            <a:r>
              <a:rPr lang="en-US" sz="1400" b="1" dirty="0" err="1">
                <a:latin typeface="Consolas" panose="020B0609020204030204" pitchFamily="49" charset="0"/>
              </a:rPr>
              <a:t>decltype</a:t>
            </a:r>
            <a:r>
              <a:rPr lang="en-US" sz="1400" b="1" dirty="0">
                <a:latin typeface="Consolas" panose="020B0609020204030204" pitchFamily="49" charset="0"/>
              </a:rPr>
              <a:t>(auto) { return *it; })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7BE5370-E6A4-1E6B-92D4-74AD56560D7D}"/>
              </a:ext>
            </a:extLst>
          </p:cNvPr>
          <p:cNvCxnSpPr>
            <a:cxnSpLocks/>
            <a:stCxn id="92" idx="2"/>
            <a:endCxn id="114" idx="0"/>
          </p:cNvCxnSpPr>
          <p:nvPr/>
        </p:nvCxnSpPr>
        <p:spPr>
          <a:xfrm>
            <a:off x="3311913" y="3824556"/>
            <a:ext cx="0" cy="1825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C2C136A-A247-6CEA-7B0C-A9D794E323C7}"/>
              </a:ext>
            </a:extLst>
          </p:cNvPr>
          <p:cNvSpPr/>
          <p:nvPr/>
        </p:nvSpPr>
        <p:spPr>
          <a:xfrm>
            <a:off x="896581" y="4766522"/>
            <a:ext cx="4763801" cy="1456134"/>
          </a:xfrm>
          <a:prstGeom prst="roundRect">
            <a:avLst/>
          </a:prstGeom>
          <a:solidFill>
            <a:srgbClr val="BFE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Once we have a few first-class adaptors, it becomes easier to build new ones by </a:t>
            </a:r>
            <a:r>
              <a:rPr lang="en-US" sz="2000" b="1" dirty="0">
                <a:solidFill>
                  <a:schemeClr val="tx1"/>
                </a:solidFill>
              </a:rPr>
              <a:t>composition</a:t>
            </a:r>
            <a:r>
              <a:rPr lang="en-US" sz="2000" dirty="0">
                <a:solidFill>
                  <a:schemeClr val="tx1"/>
                </a:solidFill>
              </a:rPr>
              <a:t> rather than from scratch!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61B526A4-EB8D-7794-FAA1-03307A2E67E4}"/>
              </a:ext>
            </a:extLst>
          </p:cNvPr>
          <p:cNvSpPr txBox="1">
            <a:spLocks/>
          </p:cNvSpPr>
          <p:nvPr/>
        </p:nvSpPr>
        <p:spPr>
          <a:xfrm>
            <a:off x="5947971" y="5121133"/>
            <a:ext cx="5347448" cy="1233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dirty="0"/>
              <a:t>To support non-copyable types, filter hands out </a:t>
            </a:r>
            <a:r>
              <a:rPr lang="en-US" sz="2000" b="1" dirty="0"/>
              <a:t>iterators</a:t>
            </a:r>
            <a:r>
              <a:rPr lang="en-US" sz="2000" dirty="0"/>
              <a:t> as survivors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Final step: pipe through a transformation that dereferences the iterators</a:t>
            </a:r>
          </a:p>
        </p:txBody>
      </p:sp>
    </p:spTree>
    <p:extLst>
      <p:ext uri="{BB962C8B-B14F-4D97-AF65-F5344CB8AC3E}">
        <p14:creationId xmlns:p14="http://schemas.microsoft.com/office/powerpoint/2010/main" val="6610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9" grpId="0" animBg="1"/>
      <p:bldP spid="10" grpId="0" animBg="1"/>
      <p:bldP spid="11" grpId="0" animBg="1"/>
      <p:bldP spid="12" grpId="0" animBg="1"/>
      <p:bldP spid="13" grpId="0" animBg="1"/>
      <p:bldP spid="14" grpId="0" build="allAtOnce"/>
      <p:bldP spid="6" grpId="0"/>
      <p:bldP spid="7" grpId="0"/>
      <p:bldP spid="8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53" grpId="0" animBg="1"/>
      <p:bldP spid="92" grpId="0" animBg="1"/>
      <p:bldP spid="114" grpId="0" animBg="1"/>
      <p:bldP spid="120" grpId="0" animBg="1"/>
      <p:bldP spid="121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E01C80-D467-5DF0-36A9-DB374ED9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B5D7E4-17B0-D45A-D06D-C9902C5B0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4C8C-A6E6-AE11-1AB9-60551514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06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3A7C-2CB4-FC07-0F1C-653E69A8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82586794-ECA6-A061-867E-26ABF953FF17}"/>
              </a:ext>
            </a:extLst>
          </p:cNvPr>
          <p:cNvSpPr/>
          <p:nvPr/>
        </p:nvSpPr>
        <p:spPr>
          <a:xfrm>
            <a:off x="7887718" y="2827225"/>
            <a:ext cx="2341716" cy="1685730"/>
          </a:xfrm>
          <a:custGeom>
            <a:avLst/>
            <a:gdLst>
              <a:gd name="connsiteX0" fmla="*/ 12748 w 2428893"/>
              <a:gd name="connsiteY0" fmla="*/ 218602 h 1683557"/>
              <a:gd name="connsiteX1" fmla="*/ 87089 w 2428893"/>
              <a:gd name="connsiteY1" fmla="*/ 530836 h 1683557"/>
              <a:gd name="connsiteX2" fmla="*/ 332416 w 2428893"/>
              <a:gd name="connsiteY2" fmla="*/ 776163 h 1683557"/>
              <a:gd name="connsiteX3" fmla="*/ 704123 w 2428893"/>
              <a:gd name="connsiteY3" fmla="*/ 857939 h 1683557"/>
              <a:gd name="connsiteX4" fmla="*/ 1202211 w 2428893"/>
              <a:gd name="connsiteY4" fmla="*/ 969451 h 1683557"/>
              <a:gd name="connsiteX5" fmla="*/ 1477275 w 2428893"/>
              <a:gd name="connsiteY5" fmla="*/ 1266817 h 1683557"/>
              <a:gd name="connsiteX6" fmla="*/ 1663128 w 2428893"/>
              <a:gd name="connsiteY6" fmla="*/ 1556748 h 1683557"/>
              <a:gd name="connsiteX7" fmla="*/ 1938192 w 2428893"/>
              <a:gd name="connsiteY7" fmla="*/ 1683129 h 1683557"/>
              <a:gd name="connsiteX8" fmla="*/ 2332201 w 2428893"/>
              <a:gd name="connsiteY8" fmla="*/ 1586485 h 1683557"/>
              <a:gd name="connsiteX9" fmla="*/ 2428845 w 2428893"/>
              <a:gd name="connsiteY9" fmla="*/ 1303987 h 1683557"/>
              <a:gd name="connsiteX10" fmla="*/ 2339636 w 2428893"/>
              <a:gd name="connsiteY10" fmla="*/ 1036358 h 1683557"/>
              <a:gd name="connsiteX11" fmla="*/ 2019967 w 2428893"/>
              <a:gd name="connsiteY11" fmla="*/ 813334 h 1683557"/>
              <a:gd name="connsiteX12" fmla="*/ 1358328 w 2428893"/>
              <a:gd name="connsiteY12" fmla="*/ 620046 h 1683557"/>
              <a:gd name="connsiteX13" fmla="*/ 979187 w 2428893"/>
              <a:gd name="connsiteY13" fmla="*/ 300378 h 1683557"/>
              <a:gd name="connsiteX14" fmla="*/ 681821 w 2428893"/>
              <a:gd name="connsiteY14" fmla="*/ 55051 h 1683557"/>
              <a:gd name="connsiteX15" fmla="*/ 324982 w 2428893"/>
              <a:gd name="connsiteY15" fmla="*/ 10446 h 1683557"/>
              <a:gd name="connsiteX16" fmla="*/ 12748 w 2428893"/>
              <a:gd name="connsiteY16" fmla="*/ 218602 h 1683557"/>
              <a:gd name="connsiteX0" fmla="*/ 33714 w 2368084"/>
              <a:gd name="connsiteY0" fmla="*/ 235643 h 1685730"/>
              <a:gd name="connsiteX1" fmla="*/ 26280 w 2368084"/>
              <a:gd name="connsiteY1" fmla="*/ 533009 h 1685730"/>
              <a:gd name="connsiteX2" fmla="*/ 271607 w 2368084"/>
              <a:gd name="connsiteY2" fmla="*/ 778336 h 1685730"/>
              <a:gd name="connsiteX3" fmla="*/ 643314 w 2368084"/>
              <a:gd name="connsiteY3" fmla="*/ 860112 h 1685730"/>
              <a:gd name="connsiteX4" fmla="*/ 1141402 w 2368084"/>
              <a:gd name="connsiteY4" fmla="*/ 971624 h 1685730"/>
              <a:gd name="connsiteX5" fmla="*/ 1416466 w 2368084"/>
              <a:gd name="connsiteY5" fmla="*/ 1268990 h 1685730"/>
              <a:gd name="connsiteX6" fmla="*/ 1602319 w 2368084"/>
              <a:gd name="connsiteY6" fmla="*/ 1558921 h 1685730"/>
              <a:gd name="connsiteX7" fmla="*/ 1877383 w 2368084"/>
              <a:gd name="connsiteY7" fmla="*/ 1685302 h 1685730"/>
              <a:gd name="connsiteX8" fmla="*/ 2271392 w 2368084"/>
              <a:gd name="connsiteY8" fmla="*/ 1588658 h 1685730"/>
              <a:gd name="connsiteX9" fmla="*/ 2368036 w 2368084"/>
              <a:gd name="connsiteY9" fmla="*/ 1306160 h 1685730"/>
              <a:gd name="connsiteX10" fmla="*/ 2278827 w 2368084"/>
              <a:gd name="connsiteY10" fmla="*/ 1038531 h 1685730"/>
              <a:gd name="connsiteX11" fmla="*/ 1959158 w 2368084"/>
              <a:gd name="connsiteY11" fmla="*/ 815507 h 1685730"/>
              <a:gd name="connsiteX12" fmla="*/ 1297519 w 2368084"/>
              <a:gd name="connsiteY12" fmla="*/ 622219 h 1685730"/>
              <a:gd name="connsiteX13" fmla="*/ 918378 w 2368084"/>
              <a:gd name="connsiteY13" fmla="*/ 302551 h 1685730"/>
              <a:gd name="connsiteX14" fmla="*/ 621012 w 2368084"/>
              <a:gd name="connsiteY14" fmla="*/ 57224 h 1685730"/>
              <a:gd name="connsiteX15" fmla="*/ 264173 w 2368084"/>
              <a:gd name="connsiteY15" fmla="*/ 12619 h 1685730"/>
              <a:gd name="connsiteX16" fmla="*/ 33714 w 2368084"/>
              <a:gd name="connsiteY16" fmla="*/ 235643 h 1685730"/>
              <a:gd name="connsiteX0" fmla="*/ 7346 w 2341716"/>
              <a:gd name="connsiteY0" fmla="*/ 235643 h 1685730"/>
              <a:gd name="connsiteX1" fmla="*/ 74253 w 2341716"/>
              <a:gd name="connsiteY1" fmla="*/ 570180 h 1685730"/>
              <a:gd name="connsiteX2" fmla="*/ 245239 w 2341716"/>
              <a:gd name="connsiteY2" fmla="*/ 778336 h 1685730"/>
              <a:gd name="connsiteX3" fmla="*/ 616946 w 2341716"/>
              <a:gd name="connsiteY3" fmla="*/ 860112 h 1685730"/>
              <a:gd name="connsiteX4" fmla="*/ 1115034 w 2341716"/>
              <a:gd name="connsiteY4" fmla="*/ 971624 h 1685730"/>
              <a:gd name="connsiteX5" fmla="*/ 1390098 w 2341716"/>
              <a:gd name="connsiteY5" fmla="*/ 1268990 h 1685730"/>
              <a:gd name="connsiteX6" fmla="*/ 1575951 w 2341716"/>
              <a:gd name="connsiteY6" fmla="*/ 1558921 h 1685730"/>
              <a:gd name="connsiteX7" fmla="*/ 1851015 w 2341716"/>
              <a:gd name="connsiteY7" fmla="*/ 1685302 h 1685730"/>
              <a:gd name="connsiteX8" fmla="*/ 2245024 w 2341716"/>
              <a:gd name="connsiteY8" fmla="*/ 1588658 h 1685730"/>
              <a:gd name="connsiteX9" fmla="*/ 2341668 w 2341716"/>
              <a:gd name="connsiteY9" fmla="*/ 1306160 h 1685730"/>
              <a:gd name="connsiteX10" fmla="*/ 2252459 w 2341716"/>
              <a:gd name="connsiteY10" fmla="*/ 1038531 h 1685730"/>
              <a:gd name="connsiteX11" fmla="*/ 1932790 w 2341716"/>
              <a:gd name="connsiteY11" fmla="*/ 815507 h 1685730"/>
              <a:gd name="connsiteX12" fmla="*/ 1271151 w 2341716"/>
              <a:gd name="connsiteY12" fmla="*/ 622219 h 1685730"/>
              <a:gd name="connsiteX13" fmla="*/ 892010 w 2341716"/>
              <a:gd name="connsiteY13" fmla="*/ 302551 h 1685730"/>
              <a:gd name="connsiteX14" fmla="*/ 594644 w 2341716"/>
              <a:gd name="connsiteY14" fmla="*/ 57224 h 1685730"/>
              <a:gd name="connsiteX15" fmla="*/ 237805 w 2341716"/>
              <a:gd name="connsiteY15" fmla="*/ 12619 h 1685730"/>
              <a:gd name="connsiteX16" fmla="*/ 7346 w 2341716"/>
              <a:gd name="connsiteY16" fmla="*/ 235643 h 168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41716" h="1685730">
                <a:moveTo>
                  <a:pt x="7346" y="235643"/>
                </a:moveTo>
                <a:cubicBezTo>
                  <a:pt x="-19913" y="328570"/>
                  <a:pt x="34604" y="479731"/>
                  <a:pt x="74253" y="570180"/>
                </a:cubicBezTo>
                <a:cubicBezTo>
                  <a:pt x="113902" y="660629"/>
                  <a:pt x="154790" y="730014"/>
                  <a:pt x="245239" y="778336"/>
                </a:cubicBezTo>
                <a:cubicBezTo>
                  <a:pt x="335688" y="826658"/>
                  <a:pt x="616946" y="860112"/>
                  <a:pt x="616946" y="860112"/>
                </a:cubicBezTo>
                <a:cubicBezTo>
                  <a:pt x="761912" y="892327"/>
                  <a:pt x="986175" y="903478"/>
                  <a:pt x="1115034" y="971624"/>
                </a:cubicBezTo>
                <a:cubicBezTo>
                  <a:pt x="1243893" y="1039770"/>
                  <a:pt x="1313279" y="1171107"/>
                  <a:pt x="1390098" y="1268990"/>
                </a:cubicBezTo>
                <a:cubicBezTo>
                  <a:pt x="1466918" y="1366873"/>
                  <a:pt x="1499131" y="1489536"/>
                  <a:pt x="1575951" y="1558921"/>
                </a:cubicBezTo>
                <a:cubicBezTo>
                  <a:pt x="1652771" y="1628306"/>
                  <a:pt x="1739503" y="1680346"/>
                  <a:pt x="1851015" y="1685302"/>
                </a:cubicBezTo>
                <a:cubicBezTo>
                  <a:pt x="1962527" y="1690258"/>
                  <a:pt x="2163249" y="1651848"/>
                  <a:pt x="2245024" y="1588658"/>
                </a:cubicBezTo>
                <a:cubicBezTo>
                  <a:pt x="2326800" y="1525468"/>
                  <a:pt x="2340429" y="1397848"/>
                  <a:pt x="2341668" y="1306160"/>
                </a:cubicBezTo>
                <a:cubicBezTo>
                  <a:pt x="2342907" y="1214472"/>
                  <a:pt x="2320605" y="1120306"/>
                  <a:pt x="2252459" y="1038531"/>
                </a:cubicBezTo>
                <a:cubicBezTo>
                  <a:pt x="2184313" y="956756"/>
                  <a:pt x="2096341" y="884892"/>
                  <a:pt x="1932790" y="815507"/>
                </a:cubicBezTo>
                <a:cubicBezTo>
                  <a:pt x="1769239" y="746122"/>
                  <a:pt x="1444614" y="707712"/>
                  <a:pt x="1271151" y="622219"/>
                </a:cubicBezTo>
                <a:cubicBezTo>
                  <a:pt x="1097688" y="536726"/>
                  <a:pt x="1004761" y="396717"/>
                  <a:pt x="892010" y="302551"/>
                </a:cubicBezTo>
                <a:cubicBezTo>
                  <a:pt x="779259" y="208385"/>
                  <a:pt x="703678" y="105546"/>
                  <a:pt x="594644" y="57224"/>
                </a:cubicBezTo>
                <a:cubicBezTo>
                  <a:pt x="485610" y="8902"/>
                  <a:pt x="335688" y="-17117"/>
                  <a:pt x="237805" y="12619"/>
                </a:cubicBezTo>
                <a:cubicBezTo>
                  <a:pt x="139922" y="42355"/>
                  <a:pt x="34605" y="142716"/>
                  <a:pt x="7346" y="235643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5F94C168-7016-9CFC-3AFD-AAE7E63EE4DA}"/>
              </a:ext>
            </a:extLst>
          </p:cNvPr>
          <p:cNvSpPr/>
          <p:nvPr/>
        </p:nvSpPr>
        <p:spPr>
          <a:xfrm>
            <a:off x="6206769" y="2754083"/>
            <a:ext cx="3673687" cy="2964810"/>
          </a:xfrm>
          <a:custGeom>
            <a:avLst/>
            <a:gdLst>
              <a:gd name="connsiteX0" fmla="*/ 67651 w 3673687"/>
              <a:gd name="connsiteY0" fmla="*/ 554112 h 2964810"/>
              <a:gd name="connsiteX1" fmla="*/ 365016 w 3673687"/>
              <a:gd name="connsiteY1" fmla="*/ 821741 h 2964810"/>
              <a:gd name="connsiteX2" fmla="*/ 766460 w 3673687"/>
              <a:gd name="connsiteY2" fmla="*/ 918385 h 2964810"/>
              <a:gd name="connsiteX3" fmla="*/ 1234811 w 3673687"/>
              <a:gd name="connsiteY3" fmla="*/ 1133976 h 2964810"/>
              <a:gd name="connsiteX4" fmla="*/ 1584216 w 3673687"/>
              <a:gd name="connsiteY4" fmla="*/ 1453644 h 2964810"/>
              <a:gd name="connsiteX5" fmla="*/ 1725465 w 3673687"/>
              <a:gd name="connsiteY5" fmla="*/ 1721273 h 2964810"/>
              <a:gd name="connsiteX6" fmla="*/ 2216119 w 3673687"/>
              <a:gd name="connsiteY6" fmla="*/ 1996337 h 2964810"/>
              <a:gd name="connsiteX7" fmla="*/ 2602694 w 3673687"/>
              <a:gd name="connsiteY7" fmla="*/ 2360610 h 2964810"/>
              <a:gd name="connsiteX8" fmla="*/ 2818285 w 3673687"/>
              <a:gd name="connsiteY8" fmla="*/ 2791790 h 2964810"/>
              <a:gd name="connsiteX9" fmla="*/ 3189992 w 3673687"/>
              <a:gd name="connsiteY9" fmla="*/ 2962776 h 2964810"/>
              <a:gd name="connsiteX10" fmla="*/ 3621172 w 3673687"/>
              <a:gd name="connsiteY10" fmla="*/ 2858697 h 2964810"/>
              <a:gd name="connsiteX11" fmla="*/ 3643475 w 3673687"/>
              <a:gd name="connsiteY11" fmla="*/ 2479556 h 2964810"/>
              <a:gd name="connsiteX12" fmla="*/ 3413016 w 3673687"/>
              <a:gd name="connsiteY12" fmla="*/ 2197058 h 2964810"/>
              <a:gd name="connsiteX13" fmla="*/ 3056177 w 3673687"/>
              <a:gd name="connsiteY13" fmla="*/ 2085546 h 2964810"/>
              <a:gd name="connsiteX14" fmla="*/ 2706772 w 3673687"/>
              <a:gd name="connsiteY14" fmla="*/ 1654366 h 2964810"/>
              <a:gd name="connsiteX15" fmla="*/ 2424275 w 3673687"/>
              <a:gd name="connsiteY15" fmla="*/ 1312395 h 2964810"/>
              <a:gd name="connsiteX16" fmla="*/ 1926187 w 3673687"/>
              <a:gd name="connsiteY16" fmla="*/ 985293 h 2964810"/>
              <a:gd name="connsiteX17" fmla="*/ 1569348 w 3673687"/>
              <a:gd name="connsiteY17" fmla="*/ 896083 h 2964810"/>
              <a:gd name="connsiteX18" fmla="*/ 1071260 w 3673687"/>
              <a:gd name="connsiteY18" fmla="*/ 621019 h 2964810"/>
              <a:gd name="connsiteX19" fmla="*/ 877972 w 3673687"/>
              <a:gd name="connsiteY19" fmla="*/ 308785 h 2964810"/>
              <a:gd name="connsiteX20" fmla="*/ 654948 w 3673687"/>
              <a:gd name="connsiteY20" fmla="*/ 63458 h 2964810"/>
              <a:gd name="connsiteX21" fmla="*/ 268372 w 3673687"/>
              <a:gd name="connsiteY21" fmla="*/ 11419 h 2964810"/>
              <a:gd name="connsiteX22" fmla="*/ 15611 w 3673687"/>
              <a:gd name="connsiteY22" fmla="*/ 241878 h 2964810"/>
              <a:gd name="connsiteX23" fmla="*/ 67651 w 3673687"/>
              <a:gd name="connsiteY23" fmla="*/ 554112 h 2964810"/>
              <a:gd name="connsiteX0" fmla="*/ 67651 w 3673687"/>
              <a:gd name="connsiteY0" fmla="*/ 554112 h 2964810"/>
              <a:gd name="connsiteX1" fmla="*/ 365016 w 3673687"/>
              <a:gd name="connsiteY1" fmla="*/ 821741 h 2964810"/>
              <a:gd name="connsiteX2" fmla="*/ 744158 w 3673687"/>
              <a:gd name="connsiteY2" fmla="*/ 962990 h 2964810"/>
              <a:gd name="connsiteX3" fmla="*/ 1234811 w 3673687"/>
              <a:gd name="connsiteY3" fmla="*/ 1133976 h 2964810"/>
              <a:gd name="connsiteX4" fmla="*/ 1584216 w 3673687"/>
              <a:gd name="connsiteY4" fmla="*/ 1453644 h 2964810"/>
              <a:gd name="connsiteX5" fmla="*/ 1725465 w 3673687"/>
              <a:gd name="connsiteY5" fmla="*/ 1721273 h 2964810"/>
              <a:gd name="connsiteX6" fmla="*/ 2216119 w 3673687"/>
              <a:gd name="connsiteY6" fmla="*/ 1996337 h 2964810"/>
              <a:gd name="connsiteX7" fmla="*/ 2602694 w 3673687"/>
              <a:gd name="connsiteY7" fmla="*/ 2360610 h 2964810"/>
              <a:gd name="connsiteX8" fmla="*/ 2818285 w 3673687"/>
              <a:gd name="connsiteY8" fmla="*/ 2791790 h 2964810"/>
              <a:gd name="connsiteX9" fmla="*/ 3189992 w 3673687"/>
              <a:gd name="connsiteY9" fmla="*/ 2962776 h 2964810"/>
              <a:gd name="connsiteX10" fmla="*/ 3621172 w 3673687"/>
              <a:gd name="connsiteY10" fmla="*/ 2858697 h 2964810"/>
              <a:gd name="connsiteX11" fmla="*/ 3643475 w 3673687"/>
              <a:gd name="connsiteY11" fmla="*/ 2479556 h 2964810"/>
              <a:gd name="connsiteX12" fmla="*/ 3413016 w 3673687"/>
              <a:gd name="connsiteY12" fmla="*/ 2197058 h 2964810"/>
              <a:gd name="connsiteX13" fmla="*/ 3056177 w 3673687"/>
              <a:gd name="connsiteY13" fmla="*/ 2085546 h 2964810"/>
              <a:gd name="connsiteX14" fmla="*/ 2706772 w 3673687"/>
              <a:gd name="connsiteY14" fmla="*/ 1654366 h 2964810"/>
              <a:gd name="connsiteX15" fmla="*/ 2424275 w 3673687"/>
              <a:gd name="connsiteY15" fmla="*/ 1312395 h 2964810"/>
              <a:gd name="connsiteX16" fmla="*/ 1926187 w 3673687"/>
              <a:gd name="connsiteY16" fmla="*/ 985293 h 2964810"/>
              <a:gd name="connsiteX17" fmla="*/ 1569348 w 3673687"/>
              <a:gd name="connsiteY17" fmla="*/ 896083 h 2964810"/>
              <a:gd name="connsiteX18" fmla="*/ 1071260 w 3673687"/>
              <a:gd name="connsiteY18" fmla="*/ 621019 h 2964810"/>
              <a:gd name="connsiteX19" fmla="*/ 877972 w 3673687"/>
              <a:gd name="connsiteY19" fmla="*/ 308785 h 2964810"/>
              <a:gd name="connsiteX20" fmla="*/ 654948 w 3673687"/>
              <a:gd name="connsiteY20" fmla="*/ 63458 h 2964810"/>
              <a:gd name="connsiteX21" fmla="*/ 268372 w 3673687"/>
              <a:gd name="connsiteY21" fmla="*/ 11419 h 2964810"/>
              <a:gd name="connsiteX22" fmla="*/ 15611 w 3673687"/>
              <a:gd name="connsiteY22" fmla="*/ 241878 h 2964810"/>
              <a:gd name="connsiteX23" fmla="*/ 67651 w 3673687"/>
              <a:gd name="connsiteY23" fmla="*/ 554112 h 2964810"/>
              <a:gd name="connsiteX0" fmla="*/ 67651 w 3673687"/>
              <a:gd name="connsiteY0" fmla="*/ 554112 h 2964810"/>
              <a:gd name="connsiteX1" fmla="*/ 365016 w 3673687"/>
              <a:gd name="connsiteY1" fmla="*/ 821741 h 2964810"/>
              <a:gd name="connsiteX2" fmla="*/ 744158 w 3673687"/>
              <a:gd name="connsiteY2" fmla="*/ 962990 h 2964810"/>
              <a:gd name="connsiteX3" fmla="*/ 1205074 w 3673687"/>
              <a:gd name="connsiteY3" fmla="*/ 1171147 h 2964810"/>
              <a:gd name="connsiteX4" fmla="*/ 1584216 w 3673687"/>
              <a:gd name="connsiteY4" fmla="*/ 1453644 h 2964810"/>
              <a:gd name="connsiteX5" fmla="*/ 1725465 w 3673687"/>
              <a:gd name="connsiteY5" fmla="*/ 1721273 h 2964810"/>
              <a:gd name="connsiteX6" fmla="*/ 2216119 w 3673687"/>
              <a:gd name="connsiteY6" fmla="*/ 1996337 h 2964810"/>
              <a:gd name="connsiteX7" fmla="*/ 2602694 w 3673687"/>
              <a:gd name="connsiteY7" fmla="*/ 2360610 h 2964810"/>
              <a:gd name="connsiteX8" fmla="*/ 2818285 w 3673687"/>
              <a:gd name="connsiteY8" fmla="*/ 2791790 h 2964810"/>
              <a:gd name="connsiteX9" fmla="*/ 3189992 w 3673687"/>
              <a:gd name="connsiteY9" fmla="*/ 2962776 h 2964810"/>
              <a:gd name="connsiteX10" fmla="*/ 3621172 w 3673687"/>
              <a:gd name="connsiteY10" fmla="*/ 2858697 h 2964810"/>
              <a:gd name="connsiteX11" fmla="*/ 3643475 w 3673687"/>
              <a:gd name="connsiteY11" fmla="*/ 2479556 h 2964810"/>
              <a:gd name="connsiteX12" fmla="*/ 3413016 w 3673687"/>
              <a:gd name="connsiteY12" fmla="*/ 2197058 h 2964810"/>
              <a:gd name="connsiteX13" fmla="*/ 3056177 w 3673687"/>
              <a:gd name="connsiteY13" fmla="*/ 2085546 h 2964810"/>
              <a:gd name="connsiteX14" fmla="*/ 2706772 w 3673687"/>
              <a:gd name="connsiteY14" fmla="*/ 1654366 h 2964810"/>
              <a:gd name="connsiteX15" fmla="*/ 2424275 w 3673687"/>
              <a:gd name="connsiteY15" fmla="*/ 1312395 h 2964810"/>
              <a:gd name="connsiteX16" fmla="*/ 1926187 w 3673687"/>
              <a:gd name="connsiteY16" fmla="*/ 985293 h 2964810"/>
              <a:gd name="connsiteX17" fmla="*/ 1569348 w 3673687"/>
              <a:gd name="connsiteY17" fmla="*/ 896083 h 2964810"/>
              <a:gd name="connsiteX18" fmla="*/ 1071260 w 3673687"/>
              <a:gd name="connsiteY18" fmla="*/ 621019 h 2964810"/>
              <a:gd name="connsiteX19" fmla="*/ 877972 w 3673687"/>
              <a:gd name="connsiteY19" fmla="*/ 308785 h 2964810"/>
              <a:gd name="connsiteX20" fmla="*/ 654948 w 3673687"/>
              <a:gd name="connsiteY20" fmla="*/ 63458 h 2964810"/>
              <a:gd name="connsiteX21" fmla="*/ 268372 w 3673687"/>
              <a:gd name="connsiteY21" fmla="*/ 11419 h 2964810"/>
              <a:gd name="connsiteX22" fmla="*/ 15611 w 3673687"/>
              <a:gd name="connsiteY22" fmla="*/ 241878 h 2964810"/>
              <a:gd name="connsiteX23" fmla="*/ 67651 w 3673687"/>
              <a:gd name="connsiteY23" fmla="*/ 554112 h 2964810"/>
              <a:gd name="connsiteX0" fmla="*/ 67651 w 3673687"/>
              <a:gd name="connsiteY0" fmla="*/ 554112 h 2964810"/>
              <a:gd name="connsiteX1" fmla="*/ 365016 w 3673687"/>
              <a:gd name="connsiteY1" fmla="*/ 821741 h 2964810"/>
              <a:gd name="connsiteX2" fmla="*/ 744158 w 3673687"/>
              <a:gd name="connsiteY2" fmla="*/ 962990 h 2964810"/>
              <a:gd name="connsiteX3" fmla="*/ 1205074 w 3673687"/>
              <a:gd name="connsiteY3" fmla="*/ 1171147 h 2964810"/>
              <a:gd name="connsiteX4" fmla="*/ 1584216 w 3673687"/>
              <a:gd name="connsiteY4" fmla="*/ 1453644 h 2964810"/>
              <a:gd name="connsiteX5" fmla="*/ 1725465 w 3673687"/>
              <a:gd name="connsiteY5" fmla="*/ 1721273 h 2964810"/>
              <a:gd name="connsiteX6" fmla="*/ 2216119 w 3673687"/>
              <a:gd name="connsiteY6" fmla="*/ 1996337 h 2964810"/>
              <a:gd name="connsiteX7" fmla="*/ 2602694 w 3673687"/>
              <a:gd name="connsiteY7" fmla="*/ 2360610 h 2964810"/>
              <a:gd name="connsiteX8" fmla="*/ 2818285 w 3673687"/>
              <a:gd name="connsiteY8" fmla="*/ 2791790 h 2964810"/>
              <a:gd name="connsiteX9" fmla="*/ 3189992 w 3673687"/>
              <a:gd name="connsiteY9" fmla="*/ 2962776 h 2964810"/>
              <a:gd name="connsiteX10" fmla="*/ 3621172 w 3673687"/>
              <a:gd name="connsiteY10" fmla="*/ 2858697 h 2964810"/>
              <a:gd name="connsiteX11" fmla="*/ 3643475 w 3673687"/>
              <a:gd name="connsiteY11" fmla="*/ 2479556 h 2964810"/>
              <a:gd name="connsiteX12" fmla="*/ 3413016 w 3673687"/>
              <a:gd name="connsiteY12" fmla="*/ 2197058 h 2964810"/>
              <a:gd name="connsiteX13" fmla="*/ 3056177 w 3673687"/>
              <a:gd name="connsiteY13" fmla="*/ 2085546 h 2964810"/>
              <a:gd name="connsiteX14" fmla="*/ 2706772 w 3673687"/>
              <a:gd name="connsiteY14" fmla="*/ 1654366 h 2964810"/>
              <a:gd name="connsiteX15" fmla="*/ 2424275 w 3673687"/>
              <a:gd name="connsiteY15" fmla="*/ 1312395 h 2964810"/>
              <a:gd name="connsiteX16" fmla="*/ 1926187 w 3673687"/>
              <a:gd name="connsiteY16" fmla="*/ 985293 h 2964810"/>
              <a:gd name="connsiteX17" fmla="*/ 1569348 w 3673687"/>
              <a:gd name="connsiteY17" fmla="*/ 896083 h 2964810"/>
              <a:gd name="connsiteX18" fmla="*/ 1160470 w 3673687"/>
              <a:gd name="connsiteY18" fmla="*/ 613584 h 2964810"/>
              <a:gd name="connsiteX19" fmla="*/ 877972 w 3673687"/>
              <a:gd name="connsiteY19" fmla="*/ 308785 h 2964810"/>
              <a:gd name="connsiteX20" fmla="*/ 654948 w 3673687"/>
              <a:gd name="connsiteY20" fmla="*/ 63458 h 2964810"/>
              <a:gd name="connsiteX21" fmla="*/ 268372 w 3673687"/>
              <a:gd name="connsiteY21" fmla="*/ 11419 h 2964810"/>
              <a:gd name="connsiteX22" fmla="*/ 15611 w 3673687"/>
              <a:gd name="connsiteY22" fmla="*/ 241878 h 2964810"/>
              <a:gd name="connsiteX23" fmla="*/ 67651 w 3673687"/>
              <a:gd name="connsiteY23" fmla="*/ 554112 h 29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73687" h="2964810">
                <a:moveTo>
                  <a:pt x="67651" y="554112"/>
                </a:moveTo>
                <a:cubicBezTo>
                  <a:pt x="125885" y="650756"/>
                  <a:pt x="252265" y="753595"/>
                  <a:pt x="365016" y="821741"/>
                </a:cubicBezTo>
                <a:cubicBezTo>
                  <a:pt x="477767" y="889887"/>
                  <a:pt x="604148" y="904756"/>
                  <a:pt x="744158" y="962990"/>
                </a:cubicBezTo>
                <a:cubicBezTo>
                  <a:pt x="884168" y="1021224"/>
                  <a:pt x="1065064" y="1089371"/>
                  <a:pt x="1205074" y="1171147"/>
                </a:cubicBezTo>
                <a:cubicBezTo>
                  <a:pt x="1345084" y="1252923"/>
                  <a:pt x="1497484" y="1361956"/>
                  <a:pt x="1584216" y="1453644"/>
                </a:cubicBezTo>
                <a:cubicBezTo>
                  <a:pt x="1670948" y="1545332"/>
                  <a:pt x="1620148" y="1630824"/>
                  <a:pt x="1725465" y="1721273"/>
                </a:cubicBezTo>
                <a:cubicBezTo>
                  <a:pt x="1830782" y="1811722"/>
                  <a:pt x="2069914" y="1889781"/>
                  <a:pt x="2216119" y="1996337"/>
                </a:cubicBezTo>
                <a:cubicBezTo>
                  <a:pt x="2362324" y="2102893"/>
                  <a:pt x="2502333" y="2228035"/>
                  <a:pt x="2602694" y="2360610"/>
                </a:cubicBezTo>
                <a:cubicBezTo>
                  <a:pt x="2703055" y="2493185"/>
                  <a:pt x="2720402" y="2691429"/>
                  <a:pt x="2818285" y="2791790"/>
                </a:cubicBezTo>
                <a:cubicBezTo>
                  <a:pt x="2916168" y="2892151"/>
                  <a:pt x="3056177" y="2951625"/>
                  <a:pt x="3189992" y="2962776"/>
                </a:cubicBezTo>
                <a:cubicBezTo>
                  <a:pt x="3323807" y="2973927"/>
                  <a:pt x="3545592" y="2939234"/>
                  <a:pt x="3621172" y="2858697"/>
                </a:cubicBezTo>
                <a:cubicBezTo>
                  <a:pt x="3696752" y="2778160"/>
                  <a:pt x="3678168" y="2589829"/>
                  <a:pt x="3643475" y="2479556"/>
                </a:cubicBezTo>
                <a:cubicBezTo>
                  <a:pt x="3608782" y="2369283"/>
                  <a:pt x="3510899" y="2262726"/>
                  <a:pt x="3413016" y="2197058"/>
                </a:cubicBezTo>
                <a:cubicBezTo>
                  <a:pt x="3315133" y="2131390"/>
                  <a:pt x="3173884" y="2175995"/>
                  <a:pt x="3056177" y="2085546"/>
                </a:cubicBezTo>
                <a:cubicBezTo>
                  <a:pt x="2938470" y="1995097"/>
                  <a:pt x="2812089" y="1783225"/>
                  <a:pt x="2706772" y="1654366"/>
                </a:cubicBezTo>
                <a:cubicBezTo>
                  <a:pt x="2601455" y="1525508"/>
                  <a:pt x="2554373" y="1423907"/>
                  <a:pt x="2424275" y="1312395"/>
                </a:cubicBezTo>
                <a:cubicBezTo>
                  <a:pt x="2294178" y="1200883"/>
                  <a:pt x="2068675" y="1054678"/>
                  <a:pt x="1926187" y="985293"/>
                </a:cubicBezTo>
                <a:cubicBezTo>
                  <a:pt x="1783699" y="915908"/>
                  <a:pt x="1696967" y="958034"/>
                  <a:pt x="1569348" y="896083"/>
                </a:cubicBezTo>
                <a:cubicBezTo>
                  <a:pt x="1441729" y="834132"/>
                  <a:pt x="1275699" y="711467"/>
                  <a:pt x="1160470" y="613584"/>
                </a:cubicBezTo>
                <a:cubicBezTo>
                  <a:pt x="1045241" y="515701"/>
                  <a:pt x="962226" y="400473"/>
                  <a:pt x="877972" y="308785"/>
                </a:cubicBezTo>
                <a:cubicBezTo>
                  <a:pt x="793718" y="217097"/>
                  <a:pt x="756548" y="113019"/>
                  <a:pt x="654948" y="63458"/>
                </a:cubicBezTo>
                <a:cubicBezTo>
                  <a:pt x="553348" y="13897"/>
                  <a:pt x="374928" y="-18318"/>
                  <a:pt x="268372" y="11419"/>
                </a:cubicBezTo>
                <a:cubicBezTo>
                  <a:pt x="161816" y="41156"/>
                  <a:pt x="51543" y="158863"/>
                  <a:pt x="15611" y="241878"/>
                </a:cubicBezTo>
                <a:cubicBezTo>
                  <a:pt x="-20321" y="324893"/>
                  <a:pt x="9417" y="457468"/>
                  <a:pt x="67651" y="554112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C59B9D88-B9AB-0322-0D34-5874EAE4674A}"/>
              </a:ext>
            </a:extLst>
          </p:cNvPr>
          <p:cNvSpPr/>
          <p:nvPr/>
        </p:nvSpPr>
        <p:spPr>
          <a:xfrm>
            <a:off x="4607132" y="2576211"/>
            <a:ext cx="3815869" cy="3425012"/>
          </a:xfrm>
          <a:custGeom>
            <a:avLst/>
            <a:gdLst>
              <a:gd name="connsiteX0" fmla="*/ 194215 w 3859362"/>
              <a:gd name="connsiteY0" fmla="*/ 635340 h 3425012"/>
              <a:gd name="connsiteX1" fmla="*/ 588224 w 3859362"/>
              <a:gd name="connsiteY1" fmla="*/ 873233 h 3425012"/>
              <a:gd name="connsiteX2" fmla="*/ 759210 w 3859362"/>
              <a:gd name="connsiteY2" fmla="*/ 1200335 h 3425012"/>
              <a:gd name="connsiteX3" fmla="*/ 900459 w 3859362"/>
              <a:gd name="connsiteY3" fmla="*/ 1482833 h 3425012"/>
              <a:gd name="connsiteX4" fmla="*/ 1175522 w 3859362"/>
              <a:gd name="connsiteY4" fmla="*/ 1690989 h 3425012"/>
              <a:gd name="connsiteX5" fmla="*/ 1673610 w 3859362"/>
              <a:gd name="connsiteY5" fmla="*/ 1839672 h 3425012"/>
              <a:gd name="connsiteX6" fmla="*/ 1933805 w 3859362"/>
              <a:gd name="connsiteY6" fmla="*/ 2070130 h 3425012"/>
              <a:gd name="connsiteX7" fmla="*/ 2112224 w 3859362"/>
              <a:gd name="connsiteY7" fmla="*/ 2322891 h 3425012"/>
              <a:gd name="connsiteX8" fmla="*/ 2506234 w 3859362"/>
              <a:gd name="connsiteY8" fmla="*/ 2508745 h 3425012"/>
              <a:gd name="connsiteX9" fmla="*/ 2729259 w 3859362"/>
              <a:gd name="connsiteY9" fmla="*/ 2828413 h 3425012"/>
              <a:gd name="connsiteX10" fmla="*/ 2959717 w 3859362"/>
              <a:gd name="connsiteY10" fmla="*/ 3133213 h 3425012"/>
              <a:gd name="connsiteX11" fmla="*/ 3123268 w 3859362"/>
              <a:gd name="connsiteY11" fmla="*/ 3393409 h 3425012"/>
              <a:gd name="connsiteX12" fmla="*/ 3539581 w 3859362"/>
              <a:gd name="connsiteY12" fmla="*/ 3408277 h 3425012"/>
              <a:gd name="connsiteX13" fmla="*/ 3770039 w 3859362"/>
              <a:gd name="connsiteY13" fmla="*/ 3281896 h 3425012"/>
              <a:gd name="connsiteX14" fmla="*/ 3859249 w 3859362"/>
              <a:gd name="connsiteY14" fmla="*/ 2910189 h 3425012"/>
              <a:gd name="connsiteX15" fmla="*/ 3755171 w 3859362"/>
              <a:gd name="connsiteY15" fmla="*/ 2649994 h 3425012"/>
              <a:gd name="connsiteX16" fmla="*/ 3480107 w 3859362"/>
              <a:gd name="connsiteY16" fmla="*/ 2486443 h 3425012"/>
              <a:gd name="connsiteX17" fmla="*/ 3212478 w 3859362"/>
              <a:gd name="connsiteY17" fmla="*/ 2352628 h 3425012"/>
              <a:gd name="connsiteX18" fmla="*/ 2818468 w 3859362"/>
              <a:gd name="connsiteY18" fmla="*/ 1943750 h 3425012"/>
              <a:gd name="connsiteX19" fmla="*/ 2521102 w 3859362"/>
              <a:gd name="connsiteY19" fmla="*/ 1601779 h 3425012"/>
              <a:gd name="connsiteX20" fmla="*/ 2149395 w 3859362"/>
              <a:gd name="connsiteY20" fmla="*/ 1438228 h 3425012"/>
              <a:gd name="connsiteX21" fmla="*/ 1918937 w 3859362"/>
              <a:gd name="connsiteY21" fmla="*/ 1371321 h 3425012"/>
              <a:gd name="connsiteX22" fmla="*/ 1755385 w 3859362"/>
              <a:gd name="connsiteY22" fmla="*/ 1222638 h 3425012"/>
              <a:gd name="connsiteX23" fmla="*/ 1495190 w 3859362"/>
              <a:gd name="connsiteY23" fmla="*/ 962443 h 3425012"/>
              <a:gd name="connsiteX24" fmla="*/ 1220127 w 3859362"/>
              <a:gd name="connsiteY24" fmla="*/ 798891 h 3425012"/>
              <a:gd name="connsiteX25" fmla="*/ 967366 w 3859362"/>
              <a:gd name="connsiteY25" fmla="*/ 479223 h 3425012"/>
              <a:gd name="connsiteX26" fmla="*/ 803815 w 3859362"/>
              <a:gd name="connsiteY26" fmla="*/ 189291 h 3425012"/>
              <a:gd name="connsiteX27" fmla="*/ 476712 w 3859362"/>
              <a:gd name="connsiteY27" fmla="*/ 10872 h 3425012"/>
              <a:gd name="connsiteX28" fmla="*/ 253688 w 3859362"/>
              <a:gd name="connsiteY28" fmla="*/ 33174 h 3425012"/>
              <a:gd name="connsiteX29" fmla="*/ 105005 w 3859362"/>
              <a:gd name="connsiteY29" fmla="*/ 144687 h 3425012"/>
              <a:gd name="connsiteX30" fmla="*/ 927 w 3859362"/>
              <a:gd name="connsiteY30" fmla="*/ 442052 h 3425012"/>
              <a:gd name="connsiteX31" fmla="*/ 194215 w 3859362"/>
              <a:gd name="connsiteY31" fmla="*/ 635340 h 3425012"/>
              <a:gd name="connsiteX0" fmla="*/ 150722 w 3815869"/>
              <a:gd name="connsiteY0" fmla="*/ 635340 h 3425012"/>
              <a:gd name="connsiteX1" fmla="*/ 544731 w 3815869"/>
              <a:gd name="connsiteY1" fmla="*/ 873233 h 3425012"/>
              <a:gd name="connsiteX2" fmla="*/ 715717 w 3815869"/>
              <a:gd name="connsiteY2" fmla="*/ 1200335 h 3425012"/>
              <a:gd name="connsiteX3" fmla="*/ 856966 w 3815869"/>
              <a:gd name="connsiteY3" fmla="*/ 1482833 h 3425012"/>
              <a:gd name="connsiteX4" fmla="*/ 1132029 w 3815869"/>
              <a:gd name="connsiteY4" fmla="*/ 1690989 h 3425012"/>
              <a:gd name="connsiteX5" fmla="*/ 1630117 w 3815869"/>
              <a:gd name="connsiteY5" fmla="*/ 1839672 h 3425012"/>
              <a:gd name="connsiteX6" fmla="*/ 1890312 w 3815869"/>
              <a:gd name="connsiteY6" fmla="*/ 2070130 h 3425012"/>
              <a:gd name="connsiteX7" fmla="*/ 2068731 w 3815869"/>
              <a:gd name="connsiteY7" fmla="*/ 2322891 h 3425012"/>
              <a:gd name="connsiteX8" fmla="*/ 2462741 w 3815869"/>
              <a:gd name="connsiteY8" fmla="*/ 2508745 h 3425012"/>
              <a:gd name="connsiteX9" fmla="*/ 2685766 w 3815869"/>
              <a:gd name="connsiteY9" fmla="*/ 2828413 h 3425012"/>
              <a:gd name="connsiteX10" fmla="*/ 2916224 w 3815869"/>
              <a:gd name="connsiteY10" fmla="*/ 3133213 h 3425012"/>
              <a:gd name="connsiteX11" fmla="*/ 3079775 w 3815869"/>
              <a:gd name="connsiteY11" fmla="*/ 3393409 h 3425012"/>
              <a:gd name="connsiteX12" fmla="*/ 3496088 w 3815869"/>
              <a:gd name="connsiteY12" fmla="*/ 3408277 h 3425012"/>
              <a:gd name="connsiteX13" fmla="*/ 3726546 w 3815869"/>
              <a:gd name="connsiteY13" fmla="*/ 3281896 h 3425012"/>
              <a:gd name="connsiteX14" fmla="*/ 3815756 w 3815869"/>
              <a:gd name="connsiteY14" fmla="*/ 2910189 h 3425012"/>
              <a:gd name="connsiteX15" fmla="*/ 3711678 w 3815869"/>
              <a:gd name="connsiteY15" fmla="*/ 2649994 h 3425012"/>
              <a:gd name="connsiteX16" fmla="*/ 3436614 w 3815869"/>
              <a:gd name="connsiteY16" fmla="*/ 2486443 h 3425012"/>
              <a:gd name="connsiteX17" fmla="*/ 3168985 w 3815869"/>
              <a:gd name="connsiteY17" fmla="*/ 2352628 h 3425012"/>
              <a:gd name="connsiteX18" fmla="*/ 2774975 w 3815869"/>
              <a:gd name="connsiteY18" fmla="*/ 1943750 h 3425012"/>
              <a:gd name="connsiteX19" fmla="*/ 2477609 w 3815869"/>
              <a:gd name="connsiteY19" fmla="*/ 1601779 h 3425012"/>
              <a:gd name="connsiteX20" fmla="*/ 2105902 w 3815869"/>
              <a:gd name="connsiteY20" fmla="*/ 1438228 h 3425012"/>
              <a:gd name="connsiteX21" fmla="*/ 1875444 w 3815869"/>
              <a:gd name="connsiteY21" fmla="*/ 1371321 h 3425012"/>
              <a:gd name="connsiteX22" fmla="*/ 1711892 w 3815869"/>
              <a:gd name="connsiteY22" fmla="*/ 1222638 h 3425012"/>
              <a:gd name="connsiteX23" fmla="*/ 1451697 w 3815869"/>
              <a:gd name="connsiteY23" fmla="*/ 962443 h 3425012"/>
              <a:gd name="connsiteX24" fmla="*/ 1176634 w 3815869"/>
              <a:gd name="connsiteY24" fmla="*/ 798891 h 3425012"/>
              <a:gd name="connsiteX25" fmla="*/ 923873 w 3815869"/>
              <a:gd name="connsiteY25" fmla="*/ 479223 h 3425012"/>
              <a:gd name="connsiteX26" fmla="*/ 760322 w 3815869"/>
              <a:gd name="connsiteY26" fmla="*/ 189291 h 3425012"/>
              <a:gd name="connsiteX27" fmla="*/ 433219 w 3815869"/>
              <a:gd name="connsiteY27" fmla="*/ 10872 h 3425012"/>
              <a:gd name="connsiteX28" fmla="*/ 210195 w 3815869"/>
              <a:gd name="connsiteY28" fmla="*/ 33174 h 3425012"/>
              <a:gd name="connsiteX29" fmla="*/ 61512 w 3815869"/>
              <a:gd name="connsiteY29" fmla="*/ 144687 h 3425012"/>
              <a:gd name="connsiteX30" fmla="*/ 2039 w 3815869"/>
              <a:gd name="connsiteY30" fmla="*/ 419750 h 3425012"/>
              <a:gd name="connsiteX31" fmla="*/ 150722 w 3815869"/>
              <a:gd name="connsiteY31" fmla="*/ 635340 h 3425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15869" h="3425012">
                <a:moveTo>
                  <a:pt x="150722" y="635340"/>
                </a:moveTo>
                <a:cubicBezTo>
                  <a:pt x="241171" y="710920"/>
                  <a:pt x="450565" y="779067"/>
                  <a:pt x="544731" y="873233"/>
                </a:cubicBezTo>
                <a:cubicBezTo>
                  <a:pt x="638897" y="967399"/>
                  <a:pt x="663678" y="1098735"/>
                  <a:pt x="715717" y="1200335"/>
                </a:cubicBezTo>
                <a:cubicBezTo>
                  <a:pt x="767756" y="1301935"/>
                  <a:pt x="787581" y="1401057"/>
                  <a:pt x="856966" y="1482833"/>
                </a:cubicBezTo>
                <a:cubicBezTo>
                  <a:pt x="926351" y="1564609"/>
                  <a:pt x="1003171" y="1631516"/>
                  <a:pt x="1132029" y="1690989"/>
                </a:cubicBezTo>
                <a:cubicBezTo>
                  <a:pt x="1260887" y="1750462"/>
                  <a:pt x="1503737" y="1776482"/>
                  <a:pt x="1630117" y="1839672"/>
                </a:cubicBezTo>
                <a:cubicBezTo>
                  <a:pt x="1756497" y="1902862"/>
                  <a:pt x="1817210" y="1989594"/>
                  <a:pt x="1890312" y="2070130"/>
                </a:cubicBezTo>
                <a:cubicBezTo>
                  <a:pt x="1963414" y="2150666"/>
                  <a:pt x="1973326" y="2249789"/>
                  <a:pt x="2068731" y="2322891"/>
                </a:cubicBezTo>
                <a:cubicBezTo>
                  <a:pt x="2164136" y="2395993"/>
                  <a:pt x="2359902" y="2424491"/>
                  <a:pt x="2462741" y="2508745"/>
                </a:cubicBezTo>
                <a:cubicBezTo>
                  <a:pt x="2565580" y="2592999"/>
                  <a:pt x="2610186" y="2724335"/>
                  <a:pt x="2685766" y="2828413"/>
                </a:cubicBezTo>
                <a:cubicBezTo>
                  <a:pt x="2761346" y="2932491"/>
                  <a:pt x="2850556" y="3039047"/>
                  <a:pt x="2916224" y="3133213"/>
                </a:cubicBezTo>
                <a:cubicBezTo>
                  <a:pt x="2981892" y="3227379"/>
                  <a:pt x="2983131" y="3347565"/>
                  <a:pt x="3079775" y="3393409"/>
                </a:cubicBezTo>
                <a:cubicBezTo>
                  <a:pt x="3176419" y="3439253"/>
                  <a:pt x="3388293" y="3426862"/>
                  <a:pt x="3496088" y="3408277"/>
                </a:cubicBezTo>
                <a:cubicBezTo>
                  <a:pt x="3603883" y="3389692"/>
                  <a:pt x="3673268" y="3364911"/>
                  <a:pt x="3726546" y="3281896"/>
                </a:cubicBezTo>
                <a:cubicBezTo>
                  <a:pt x="3779824" y="3198881"/>
                  <a:pt x="3818234" y="3015506"/>
                  <a:pt x="3815756" y="2910189"/>
                </a:cubicBezTo>
                <a:cubicBezTo>
                  <a:pt x="3813278" y="2804872"/>
                  <a:pt x="3774868" y="2720618"/>
                  <a:pt x="3711678" y="2649994"/>
                </a:cubicBezTo>
                <a:cubicBezTo>
                  <a:pt x="3648488" y="2579370"/>
                  <a:pt x="3527063" y="2536004"/>
                  <a:pt x="3436614" y="2486443"/>
                </a:cubicBezTo>
                <a:cubicBezTo>
                  <a:pt x="3346165" y="2436882"/>
                  <a:pt x="3279258" y="2443077"/>
                  <a:pt x="3168985" y="2352628"/>
                </a:cubicBezTo>
                <a:cubicBezTo>
                  <a:pt x="3058712" y="2262179"/>
                  <a:pt x="2890204" y="2068891"/>
                  <a:pt x="2774975" y="1943750"/>
                </a:cubicBezTo>
                <a:cubicBezTo>
                  <a:pt x="2659746" y="1818609"/>
                  <a:pt x="2589121" y="1686033"/>
                  <a:pt x="2477609" y="1601779"/>
                </a:cubicBezTo>
                <a:cubicBezTo>
                  <a:pt x="2366097" y="1517525"/>
                  <a:pt x="2206263" y="1476638"/>
                  <a:pt x="2105902" y="1438228"/>
                </a:cubicBezTo>
                <a:cubicBezTo>
                  <a:pt x="2005541" y="1399818"/>
                  <a:pt x="1941112" y="1407253"/>
                  <a:pt x="1875444" y="1371321"/>
                </a:cubicBezTo>
                <a:cubicBezTo>
                  <a:pt x="1809776" y="1335389"/>
                  <a:pt x="1782517" y="1290784"/>
                  <a:pt x="1711892" y="1222638"/>
                </a:cubicBezTo>
                <a:cubicBezTo>
                  <a:pt x="1641268" y="1154492"/>
                  <a:pt x="1540907" y="1033067"/>
                  <a:pt x="1451697" y="962443"/>
                </a:cubicBezTo>
                <a:cubicBezTo>
                  <a:pt x="1362487" y="891819"/>
                  <a:pt x="1264605" y="879428"/>
                  <a:pt x="1176634" y="798891"/>
                </a:cubicBezTo>
                <a:cubicBezTo>
                  <a:pt x="1088663" y="718354"/>
                  <a:pt x="993258" y="580823"/>
                  <a:pt x="923873" y="479223"/>
                </a:cubicBezTo>
                <a:cubicBezTo>
                  <a:pt x="854488" y="377623"/>
                  <a:pt x="842097" y="267349"/>
                  <a:pt x="760322" y="189291"/>
                </a:cubicBezTo>
                <a:cubicBezTo>
                  <a:pt x="678547" y="111233"/>
                  <a:pt x="524907" y="36891"/>
                  <a:pt x="433219" y="10872"/>
                </a:cubicBezTo>
                <a:cubicBezTo>
                  <a:pt x="341531" y="-15147"/>
                  <a:pt x="272146" y="10872"/>
                  <a:pt x="210195" y="33174"/>
                </a:cubicBezTo>
                <a:cubicBezTo>
                  <a:pt x="148244" y="55476"/>
                  <a:pt x="103639" y="76541"/>
                  <a:pt x="61512" y="144687"/>
                </a:cubicBezTo>
                <a:cubicBezTo>
                  <a:pt x="19385" y="212833"/>
                  <a:pt x="-7873" y="334257"/>
                  <a:pt x="2039" y="419750"/>
                </a:cubicBezTo>
                <a:cubicBezTo>
                  <a:pt x="11951" y="505243"/>
                  <a:pt x="60273" y="559760"/>
                  <a:pt x="150722" y="635340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C160642D-1989-3CCE-DCA3-143D3D017642}"/>
              </a:ext>
            </a:extLst>
          </p:cNvPr>
          <p:cNvSpPr/>
          <p:nvPr/>
        </p:nvSpPr>
        <p:spPr>
          <a:xfrm>
            <a:off x="2552232" y="3025698"/>
            <a:ext cx="4413627" cy="2988726"/>
          </a:xfrm>
          <a:custGeom>
            <a:avLst/>
            <a:gdLst>
              <a:gd name="connsiteX0" fmla="*/ 324783 w 4413627"/>
              <a:gd name="connsiteY0" fmla="*/ 840058 h 2988726"/>
              <a:gd name="connsiteX1" fmla="*/ 755963 w 4413627"/>
              <a:gd name="connsiteY1" fmla="*/ 944136 h 2988726"/>
              <a:gd name="connsiteX2" fmla="*/ 1477075 w 4413627"/>
              <a:gd name="connsiteY2" fmla="*/ 1070517 h 2988726"/>
              <a:gd name="connsiteX3" fmla="*/ 1826480 w 4413627"/>
              <a:gd name="connsiteY3" fmla="*/ 1397619 h 2988726"/>
              <a:gd name="connsiteX4" fmla="*/ 2004900 w 4413627"/>
              <a:gd name="connsiteY4" fmla="*/ 1761892 h 2988726"/>
              <a:gd name="connsiteX5" fmla="*/ 2138714 w 4413627"/>
              <a:gd name="connsiteY5" fmla="*/ 2103863 h 2988726"/>
              <a:gd name="connsiteX6" fmla="*/ 2421212 w 4413627"/>
              <a:gd name="connsiteY6" fmla="*/ 2416097 h 2988726"/>
              <a:gd name="connsiteX7" fmla="*/ 3067983 w 4413627"/>
              <a:gd name="connsiteY7" fmla="*/ 2639122 h 2988726"/>
              <a:gd name="connsiteX8" fmla="*/ 3387651 w 4413627"/>
              <a:gd name="connsiteY8" fmla="*/ 2847278 h 2988726"/>
              <a:gd name="connsiteX9" fmla="*/ 3922909 w 4413627"/>
              <a:gd name="connsiteY9" fmla="*/ 2988526 h 2988726"/>
              <a:gd name="connsiteX10" fmla="*/ 4316919 w 4413627"/>
              <a:gd name="connsiteY10" fmla="*/ 2817541 h 2988726"/>
              <a:gd name="connsiteX11" fmla="*/ 4413563 w 4413627"/>
              <a:gd name="connsiteY11" fmla="*/ 2438400 h 2988726"/>
              <a:gd name="connsiteX12" fmla="*/ 4309485 w 4413627"/>
              <a:gd name="connsiteY12" fmla="*/ 2245112 h 2988726"/>
              <a:gd name="connsiteX13" fmla="*/ 4019553 w 4413627"/>
              <a:gd name="connsiteY13" fmla="*/ 2029522 h 2988726"/>
              <a:gd name="connsiteX14" fmla="*/ 3521466 w 4413627"/>
              <a:gd name="connsiteY14" fmla="*/ 1970048 h 2988726"/>
              <a:gd name="connsiteX15" fmla="*/ 3172061 w 4413627"/>
              <a:gd name="connsiteY15" fmla="*/ 1836234 h 2988726"/>
              <a:gd name="connsiteX16" fmla="*/ 2882129 w 4413627"/>
              <a:gd name="connsiteY16" fmla="*/ 1613209 h 2988726"/>
              <a:gd name="connsiteX17" fmla="*/ 2428646 w 4413627"/>
              <a:gd name="connsiteY17" fmla="*/ 1226634 h 2988726"/>
              <a:gd name="connsiteX18" fmla="*/ 2272529 w 4413627"/>
              <a:gd name="connsiteY18" fmla="*/ 862361 h 2988726"/>
              <a:gd name="connsiteX19" fmla="*/ 2168451 w 4413627"/>
              <a:gd name="connsiteY19" fmla="*/ 475785 h 2988726"/>
              <a:gd name="connsiteX20" fmla="*/ 1863651 w 4413627"/>
              <a:gd name="connsiteY20" fmla="*/ 208156 h 2988726"/>
              <a:gd name="connsiteX21" fmla="*/ 1410168 w 4413627"/>
              <a:gd name="connsiteY21" fmla="*/ 163551 h 2988726"/>
              <a:gd name="connsiteX22" fmla="*/ 1179709 w 4413627"/>
              <a:gd name="connsiteY22" fmla="*/ 156117 h 2988726"/>
              <a:gd name="connsiteX23" fmla="*/ 800568 w 4413627"/>
              <a:gd name="connsiteY23" fmla="*/ 52039 h 2988726"/>
              <a:gd name="connsiteX24" fmla="*/ 421427 w 4413627"/>
              <a:gd name="connsiteY24" fmla="*/ 0 h 2988726"/>
              <a:gd name="connsiteX25" fmla="*/ 243007 w 4413627"/>
              <a:gd name="connsiteY25" fmla="*/ 52039 h 2988726"/>
              <a:gd name="connsiteX26" fmla="*/ 19983 w 4413627"/>
              <a:gd name="connsiteY26" fmla="*/ 252761 h 2988726"/>
              <a:gd name="connsiteX27" fmla="*/ 19983 w 4413627"/>
              <a:gd name="connsiteY27" fmla="*/ 572429 h 2988726"/>
              <a:gd name="connsiteX28" fmla="*/ 101758 w 4413627"/>
              <a:gd name="connsiteY28" fmla="*/ 750848 h 2988726"/>
              <a:gd name="connsiteX29" fmla="*/ 324783 w 4413627"/>
              <a:gd name="connsiteY29" fmla="*/ 840058 h 298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413627" h="2988726">
                <a:moveTo>
                  <a:pt x="324783" y="840058"/>
                </a:moveTo>
                <a:cubicBezTo>
                  <a:pt x="433817" y="872273"/>
                  <a:pt x="563914" y="905726"/>
                  <a:pt x="755963" y="944136"/>
                </a:cubicBezTo>
                <a:cubicBezTo>
                  <a:pt x="948012" y="982546"/>
                  <a:pt x="1298656" y="994937"/>
                  <a:pt x="1477075" y="1070517"/>
                </a:cubicBezTo>
                <a:cubicBezTo>
                  <a:pt x="1655495" y="1146098"/>
                  <a:pt x="1738509" y="1282390"/>
                  <a:pt x="1826480" y="1397619"/>
                </a:cubicBezTo>
                <a:cubicBezTo>
                  <a:pt x="1914451" y="1512848"/>
                  <a:pt x="1952861" y="1644185"/>
                  <a:pt x="2004900" y="1761892"/>
                </a:cubicBezTo>
                <a:cubicBezTo>
                  <a:pt x="2056939" y="1879599"/>
                  <a:pt x="2069329" y="1994829"/>
                  <a:pt x="2138714" y="2103863"/>
                </a:cubicBezTo>
                <a:cubicBezTo>
                  <a:pt x="2208099" y="2212897"/>
                  <a:pt x="2266334" y="2326887"/>
                  <a:pt x="2421212" y="2416097"/>
                </a:cubicBezTo>
                <a:cubicBezTo>
                  <a:pt x="2576090" y="2505307"/>
                  <a:pt x="2906910" y="2567259"/>
                  <a:pt x="3067983" y="2639122"/>
                </a:cubicBezTo>
                <a:cubicBezTo>
                  <a:pt x="3229056" y="2710986"/>
                  <a:pt x="3245163" y="2789044"/>
                  <a:pt x="3387651" y="2847278"/>
                </a:cubicBezTo>
                <a:cubicBezTo>
                  <a:pt x="3530139" y="2905512"/>
                  <a:pt x="3768031" y="2993482"/>
                  <a:pt x="3922909" y="2988526"/>
                </a:cubicBezTo>
                <a:cubicBezTo>
                  <a:pt x="4077787" y="2983570"/>
                  <a:pt x="4235143" y="2909229"/>
                  <a:pt x="4316919" y="2817541"/>
                </a:cubicBezTo>
                <a:cubicBezTo>
                  <a:pt x="4398695" y="2725853"/>
                  <a:pt x="4414802" y="2533805"/>
                  <a:pt x="4413563" y="2438400"/>
                </a:cubicBezTo>
                <a:cubicBezTo>
                  <a:pt x="4412324" y="2342995"/>
                  <a:pt x="4375153" y="2313258"/>
                  <a:pt x="4309485" y="2245112"/>
                </a:cubicBezTo>
                <a:cubicBezTo>
                  <a:pt x="4243817" y="2176966"/>
                  <a:pt x="4150890" y="2075366"/>
                  <a:pt x="4019553" y="2029522"/>
                </a:cubicBezTo>
                <a:cubicBezTo>
                  <a:pt x="3888217" y="1983678"/>
                  <a:pt x="3662715" y="2002263"/>
                  <a:pt x="3521466" y="1970048"/>
                </a:cubicBezTo>
                <a:cubicBezTo>
                  <a:pt x="3380217" y="1937833"/>
                  <a:pt x="3278617" y="1895707"/>
                  <a:pt x="3172061" y="1836234"/>
                </a:cubicBezTo>
                <a:cubicBezTo>
                  <a:pt x="3065505" y="1776761"/>
                  <a:pt x="3006032" y="1714809"/>
                  <a:pt x="2882129" y="1613209"/>
                </a:cubicBezTo>
                <a:cubicBezTo>
                  <a:pt x="2758226" y="1511609"/>
                  <a:pt x="2530246" y="1351775"/>
                  <a:pt x="2428646" y="1226634"/>
                </a:cubicBezTo>
                <a:cubicBezTo>
                  <a:pt x="2327046" y="1101493"/>
                  <a:pt x="2315895" y="987502"/>
                  <a:pt x="2272529" y="862361"/>
                </a:cubicBezTo>
                <a:cubicBezTo>
                  <a:pt x="2229163" y="737220"/>
                  <a:pt x="2236597" y="584819"/>
                  <a:pt x="2168451" y="475785"/>
                </a:cubicBezTo>
                <a:cubicBezTo>
                  <a:pt x="2100305" y="366751"/>
                  <a:pt x="1990032" y="260195"/>
                  <a:pt x="1863651" y="208156"/>
                </a:cubicBezTo>
                <a:cubicBezTo>
                  <a:pt x="1737271" y="156117"/>
                  <a:pt x="1524158" y="172224"/>
                  <a:pt x="1410168" y="163551"/>
                </a:cubicBezTo>
                <a:cubicBezTo>
                  <a:pt x="1296178" y="154878"/>
                  <a:pt x="1281309" y="174702"/>
                  <a:pt x="1179709" y="156117"/>
                </a:cubicBezTo>
                <a:cubicBezTo>
                  <a:pt x="1078109" y="137532"/>
                  <a:pt x="926948" y="78058"/>
                  <a:pt x="800568" y="52039"/>
                </a:cubicBezTo>
                <a:cubicBezTo>
                  <a:pt x="674188" y="26020"/>
                  <a:pt x="514354" y="0"/>
                  <a:pt x="421427" y="0"/>
                </a:cubicBezTo>
                <a:cubicBezTo>
                  <a:pt x="328500" y="0"/>
                  <a:pt x="309914" y="9912"/>
                  <a:pt x="243007" y="52039"/>
                </a:cubicBezTo>
                <a:cubicBezTo>
                  <a:pt x="176100" y="94166"/>
                  <a:pt x="57154" y="166029"/>
                  <a:pt x="19983" y="252761"/>
                </a:cubicBezTo>
                <a:cubicBezTo>
                  <a:pt x="-17188" y="339493"/>
                  <a:pt x="6354" y="489415"/>
                  <a:pt x="19983" y="572429"/>
                </a:cubicBezTo>
                <a:cubicBezTo>
                  <a:pt x="33612" y="655443"/>
                  <a:pt x="57153" y="706243"/>
                  <a:pt x="101758" y="750848"/>
                </a:cubicBezTo>
                <a:cubicBezTo>
                  <a:pt x="146363" y="795453"/>
                  <a:pt x="215749" y="807843"/>
                  <a:pt x="324783" y="840058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4E61A23-8597-851C-E8C5-46C035028EA6}"/>
              </a:ext>
            </a:extLst>
          </p:cNvPr>
          <p:cNvSpPr/>
          <p:nvPr/>
        </p:nvSpPr>
        <p:spPr>
          <a:xfrm>
            <a:off x="1526968" y="5232237"/>
            <a:ext cx="1036884" cy="931245"/>
          </a:xfrm>
          <a:prstGeom prst="ellipse">
            <a:avLst/>
          </a:pr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1465153F-1896-17D4-A4D4-36D3148B1E95}"/>
              </a:ext>
            </a:extLst>
          </p:cNvPr>
          <p:cNvSpPr/>
          <p:nvPr/>
        </p:nvSpPr>
        <p:spPr>
          <a:xfrm>
            <a:off x="1435934" y="3852805"/>
            <a:ext cx="2954871" cy="2471736"/>
          </a:xfrm>
          <a:custGeom>
            <a:avLst/>
            <a:gdLst>
              <a:gd name="connsiteX0" fmla="*/ 188795 w 2901289"/>
              <a:gd name="connsiteY0" fmla="*/ 844143 h 2471736"/>
              <a:gd name="connsiteX1" fmla="*/ 976815 w 2901289"/>
              <a:gd name="connsiteY1" fmla="*/ 881314 h 2471736"/>
              <a:gd name="connsiteX2" fmla="*/ 1549244 w 2901289"/>
              <a:gd name="connsiteY2" fmla="*/ 1312494 h 2471736"/>
              <a:gd name="connsiteX3" fmla="*/ 1816873 w 2901289"/>
              <a:gd name="connsiteY3" fmla="*/ 2026172 h 2471736"/>
              <a:gd name="connsiteX4" fmla="*/ 2218317 w 2901289"/>
              <a:gd name="connsiteY4" fmla="*/ 2464787 h 2471736"/>
              <a:gd name="connsiteX5" fmla="*/ 2865088 w 2901289"/>
              <a:gd name="connsiteY5" fmla="*/ 2249197 h 2471736"/>
              <a:gd name="connsiteX6" fmla="*/ 2775878 w 2901289"/>
              <a:gd name="connsiteY6" fmla="*/ 1654465 h 2471736"/>
              <a:gd name="connsiteX7" fmla="*/ 2411605 w 2901289"/>
              <a:gd name="connsiteY7" fmla="*/ 1253021 h 2471736"/>
              <a:gd name="connsiteX8" fmla="*/ 2218317 w 2901289"/>
              <a:gd name="connsiteY8" fmla="*/ 777236 h 2471736"/>
              <a:gd name="connsiteX9" fmla="*/ 2099371 w 2901289"/>
              <a:gd name="connsiteY9" fmla="*/ 517041 h 2471736"/>
              <a:gd name="connsiteX10" fmla="*/ 1727664 w 2901289"/>
              <a:gd name="connsiteY10" fmla="*/ 323753 h 2471736"/>
              <a:gd name="connsiteX11" fmla="*/ 1207273 w 2901289"/>
              <a:gd name="connsiteY11" fmla="*/ 271714 h 2471736"/>
              <a:gd name="connsiteX12" fmla="*/ 843000 w 2901289"/>
              <a:gd name="connsiteY12" fmla="*/ 78426 h 2471736"/>
              <a:gd name="connsiteX13" fmla="*/ 315176 w 2901289"/>
              <a:gd name="connsiteY13" fmla="*/ 4085 h 2471736"/>
              <a:gd name="connsiteX14" fmla="*/ 10376 w 2901289"/>
              <a:gd name="connsiteY14" fmla="*/ 189938 h 2471736"/>
              <a:gd name="connsiteX15" fmla="*/ 84717 w 2901289"/>
              <a:gd name="connsiteY15" fmla="*/ 747499 h 2471736"/>
              <a:gd name="connsiteX16" fmla="*/ 188795 w 2901289"/>
              <a:gd name="connsiteY16" fmla="*/ 844143 h 2471736"/>
              <a:gd name="connsiteX0" fmla="*/ 242377 w 2954871"/>
              <a:gd name="connsiteY0" fmla="*/ 844143 h 2471736"/>
              <a:gd name="connsiteX1" fmla="*/ 1030397 w 2954871"/>
              <a:gd name="connsiteY1" fmla="*/ 881314 h 2471736"/>
              <a:gd name="connsiteX2" fmla="*/ 1602826 w 2954871"/>
              <a:gd name="connsiteY2" fmla="*/ 1312494 h 2471736"/>
              <a:gd name="connsiteX3" fmla="*/ 1870455 w 2954871"/>
              <a:gd name="connsiteY3" fmla="*/ 2026172 h 2471736"/>
              <a:gd name="connsiteX4" fmla="*/ 2271899 w 2954871"/>
              <a:gd name="connsiteY4" fmla="*/ 2464787 h 2471736"/>
              <a:gd name="connsiteX5" fmla="*/ 2918670 w 2954871"/>
              <a:gd name="connsiteY5" fmla="*/ 2249197 h 2471736"/>
              <a:gd name="connsiteX6" fmla="*/ 2829460 w 2954871"/>
              <a:gd name="connsiteY6" fmla="*/ 1654465 h 2471736"/>
              <a:gd name="connsiteX7" fmla="*/ 2465187 w 2954871"/>
              <a:gd name="connsiteY7" fmla="*/ 1253021 h 2471736"/>
              <a:gd name="connsiteX8" fmla="*/ 2271899 w 2954871"/>
              <a:gd name="connsiteY8" fmla="*/ 777236 h 2471736"/>
              <a:gd name="connsiteX9" fmla="*/ 2152953 w 2954871"/>
              <a:gd name="connsiteY9" fmla="*/ 517041 h 2471736"/>
              <a:gd name="connsiteX10" fmla="*/ 1781246 w 2954871"/>
              <a:gd name="connsiteY10" fmla="*/ 323753 h 2471736"/>
              <a:gd name="connsiteX11" fmla="*/ 1260855 w 2954871"/>
              <a:gd name="connsiteY11" fmla="*/ 271714 h 2471736"/>
              <a:gd name="connsiteX12" fmla="*/ 896582 w 2954871"/>
              <a:gd name="connsiteY12" fmla="*/ 78426 h 2471736"/>
              <a:gd name="connsiteX13" fmla="*/ 368758 w 2954871"/>
              <a:gd name="connsiteY13" fmla="*/ 4085 h 2471736"/>
              <a:gd name="connsiteX14" fmla="*/ 63958 w 2954871"/>
              <a:gd name="connsiteY14" fmla="*/ 189938 h 2471736"/>
              <a:gd name="connsiteX15" fmla="*/ 11919 w 2954871"/>
              <a:gd name="connsiteY15" fmla="*/ 613684 h 2471736"/>
              <a:gd name="connsiteX16" fmla="*/ 242377 w 2954871"/>
              <a:gd name="connsiteY16" fmla="*/ 844143 h 247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54871" h="2471736">
                <a:moveTo>
                  <a:pt x="242377" y="844143"/>
                </a:moveTo>
                <a:cubicBezTo>
                  <a:pt x="412123" y="888748"/>
                  <a:pt x="803656" y="803255"/>
                  <a:pt x="1030397" y="881314"/>
                </a:cubicBezTo>
                <a:cubicBezTo>
                  <a:pt x="1257139" y="959373"/>
                  <a:pt x="1462816" y="1121684"/>
                  <a:pt x="1602826" y="1312494"/>
                </a:cubicBezTo>
                <a:cubicBezTo>
                  <a:pt x="1742836" y="1503304"/>
                  <a:pt x="1758943" y="1834123"/>
                  <a:pt x="1870455" y="2026172"/>
                </a:cubicBezTo>
                <a:cubicBezTo>
                  <a:pt x="1981967" y="2218221"/>
                  <a:pt x="2097197" y="2427616"/>
                  <a:pt x="2271899" y="2464787"/>
                </a:cubicBezTo>
                <a:cubicBezTo>
                  <a:pt x="2446601" y="2501958"/>
                  <a:pt x="2825743" y="2384251"/>
                  <a:pt x="2918670" y="2249197"/>
                </a:cubicBezTo>
                <a:cubicBezTo>
                  <a:pt x="3011597" y="2114143"/>
                  <a:pt x="2905040" y="1820494"/>
                  <a:pt x="2829460" y="1654465"/>
                </a:cubicBezTo>
                <a:cubicBezTo>
                  <a:pt x="2753880" y="1488436"/>
                  <a:pt x="2558114" y="1399226"/>
                  <a:pt x="2465187" y="1253021"/>
                </a:cubicBezTo>
                <a:cubicBezTo>
                  <a:pt x="2372260" y="1106816"/>
                  <a:pt x="2323938" y="899899"/>
                  <a:pt x="2271899" y="777236"/>
                </a:cubicBezTo>
                <a:cubicBezTo>
                  <a:pt x="2219860" y="654573"/>
                  <a:pt x="2234728" y="592621"/>
                  <a:pt x="2152953" y="517041"/>
                </a:cubicBezTo>
                <a:cubicBezTo>
                  <a:pt x="2071178" y="441461"/>
                  <a:pt x="1929929" y="364641"/>
                  <a:pt x="1781246" y="323753"/>
                </a:cubicBezTo>
                <a:cubicBezTo>
                  <a:pt x="1632563" y="282865"/>
                  <a:pt x="1408299" y="312602"/>
                  <a:pt x="1260855" y="271714"/>
                </a:cubicBezTo>
                <a:cubicBezTo>
                  <a:pt x="1113411" y="230826"/>
                  <a:pt x="1045265" y="123031"/>
                  <a:pt x="896582" y="78426"/>
                </a:cubicBezTo>
                <a:cubicBezTo>
                  <a:pt x="747899" y="33821"/>
                  <a:pt x="507529" y="-14500"/>
                  <a:pt x="368758" y="4085"/>
                </a:cubicBezTo>
                <a:cubicBezTo>
                  <a:pt x="229987" y="22670"/>
                  <a:pt x="102368" y="66036"/>
                  <a:pt x="63958" y="189938"/>
                </a:cubicBezTo>
                <a:cubicBezTo>
                  <a:pt x="25548" y="313840"/>
                  <a:pt x="-22774" y="504650"/>
                  <a:pt x="11919" y="613684"/>
                </a:cubicBezTo>
                <a:cubicBezTo>
                  <a:pt x="46612" y="722718"/>
                  <a:pt x="72631" y="799538"/>
                  <a:pt x="242377" y="844143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F828E-61C8-42B1-8FF8-2B224A1B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Breadth-first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70543-53C3-619A-2167-9B2622BB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C5F466F-97AA-7E5E-8572-4030BF5A9203}"/>
                  </a:ext>
                </a:extLst>
              </p:cNvPr>
              <p:cNvSpPr/>
              <p:nvPr/>
            </p:nvSpPr>
            <p:spPr>
              <a:xfrm>
                <a:off x="709031" y="1690688"/>
                <a:ext cx="10773938" cy="673371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91440" bIns="91440"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Given a graph and a start vertex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label each vertex with its distance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C5F466F-97AA-7E5E-8572-4030BF5A9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31" y="1690688"/>
                <a:ext cx="10773938" cy="673371"/>
              </a:xfrm>
              <a:prstGeom prst="roundRect">
                <a:avLst/>
              </a:prstGeom>
              <a:blipFill>
                <a:blip r:embed="rId2"/>
                <a:stretch>
                  <a:fillRect l="-566" b="-3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EBFD03-0EC7-5917-894B-55843981067F}"/>
                  </a:ext>
                </a:extLst>
              </p:cNvPr>
              <p:cNvSpPr/>
              <p:nvPr/>
            </p:nvSpPr>
            <p:spPr>
              <a:xfrm>
                <a:off x="1782336" y="5449230"/>
                <a:ext cx="468351" cy="468351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EBFD03-0EC7-5917-894B-558439810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36" y="5449230"/>
                <a:ext cx="468351" cy="46835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F4C547D-E597-8D44-06FD-6152C726E5E7}"/>
              </a:ext>
            </a:extLst>
          </p:cNvPr>
          <p:cNvSpPr/>
          <p:nvPr/>
        </p:nvSpPr>
        <p:spPr>
          <a:xfrm>
            <a:off x="1782336" y="4088781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31BCCB-478A-4DAE-55D3-31A18ED2B90F}"/>
              </a:ext>
            </a:extLst>
          </p:cNvPr>
          <p:cNvSpPr/>
          <p:nvPr/>
        </p:nvSpPr>
        <p:spPr>
          <a:xfrm>
            <a:off x="3049858" y="4508810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F0BC5D-A87B-468E-18FB-6F71E7A52A7F}"/>
              </a:ext>
            </a:extLst>
          </p:cNvPr>
          <p:cNvSpPr/>
          <p:nvPr/>
        </p:nvSpPr>
        <p:spPr>
          <a:xfrm>
            <a:off x="3611136" y="5646234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C2053A-B27C-6F57-4B72-15899DDC423B}"/>
              </a:ext>
            </a:extLst>
          </p:cNvPr>
          <p:cNvSpPr/>
          <p:nvPr/>
        </p:nvSpPr>
        <p:spPr>
          <a:xfrm>
            <a:off x="2815682" y="3250581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7F2986-DBC0-8DC8-FE2B-2C7407D3BF4F}"/>
              </a:ext>
            </a:extLst>
          </p:cNvPr>
          <p:cNvSpPr/>
          <p:nvPr/>
        </p:nvSpPr>
        <p:spPr>
          <a:xfrm>
            <a:off x="4179848" y="3585117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69FEE3-DE51-9768-E3DA-66E70D7C3A12}"/>
              </a:ext>
            </a:extLst>
          </p:cNvPr>
          <p:cNvSpPr/>
          <p:nvPr/>
        </p:nvSpPr>
        <p:spPr>
          <a:xfrm>
            <a:off x="4822902" y="4674220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3BCA90-EFF1-1A7D-44D9-7B18510397DE}"/>
              </a:ext>
            </a:extLst>
          </p:cNvPr>
          <p:cNvSpPr/>
          <p:nvPr/>
        </p:nvSpPr>
        <p:spPr>
          <a:xfrm>
            <a:off x="6135029" y="5324708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386305-7F71-7CAA-8008-7C76831C18A5}"/>
              </a:ext>
            </a:extLst>
          </p:cNvPr>
          <p:cNvSpPr/>
          <p:nvPr/>
        </p:nvSpPr>
        <p:spPr>
          <a:xfrm>
            <a:off x="5544014" y="3633440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54A2D15-09B0-9253-4AD6-91543F393C0A}"/>
              </a:ext>
            </a:extLst>
          </p:cNvPr>
          <p:cNvSpPr/>
          <p:nvPr/>
        </p:nvSpPr>
        <p:spPr>
          <a:xfrm>
            <a:off x="4893526" y="2806390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39824F-53E6-5019-B1C8-DE0A06CA38DA}"/>
              </a:ext>
            </a:extLst>
          </p:cNvPr>
          <p:cNvSpPr/>
          <p:nvPr/>
        </p:nvSpPr>
        <p:spPr>
          <a:xfrm>
            <a:off x="6674005" y="4356410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CD61A9-4940-0F32-219D-A9F0D92E9DB9}"/>
              </a:ext>
            </a:extLst>
          </p:cNvPr>
          <p:cNvSpPr/>
          <p:nvPr/>
        </p:nvSpPr>
        <p:spPr>
          <a:xfrm>
            <a:off x="7729653" y="5352586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307347-8E2D-B563-B126-A09573B4D1F3}"/>
              </a:ext>
            </a:extLst>
          </p:cNvPr>
          <p:cNvSpPr/>
          <p:nvPr/>
        </p:nvSpPr>
        <p:spPr>
          <a:xfrm>
            <a:off x="6439829" y="2985159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975C34-1EAD-8C4D-D033-42B056072717}"/>
              </a:ext>
            </a:extLst>
          </p:cNvPr>
          <p:cNvSpPr/>
          <p:nvPr/>
        </p:nvSpPr>
        <p:spPr>
          <a:xfrm>
            <a:off x="8056757" y="4040459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FB42A8-ED26-3934-3215-332EEA91931B}"/>
              </a:ext>
            </a:extLst>
          </p:cNvPr>
          <p:cNvSpPr/>
          <p:nvPr/>
        </p:nvSpPr>
        <p:spPr>
          <a:xfrm>
            <a:off x="9175595" y="5109117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A1C587-66AA-4D51-6280-73481521709F}"/>
              </a:ext>
            </a:extLst>
          </p:cNvPr>
          <p:cNvSpPr/>
          <p:nvPr/>
        </p:nvSpPr>
        <p:spPr>
          <a:xfrm>
            <a:off x="9528717" y="3891853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FDF0C4-D80F-7BC3-CD1C-26AEEE07B329}"/>
              </a:ext>
            </a:extLst>
          </p:cNvPr>
          <p:cNvSpPr/>
          <p:nvPr/>
        </p:nvSpPr>
        <p:spPr>
          <a:xfrm>
            <a:off x="8077200" y="3016405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556D2E-2BB6-2089-2226-50F881851818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2016512" y="4557132"/>
            <a:ext cx="0" cy="892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9B7D31-39C4-8191-5C76-427AB883C757}"/>
              </a:ext>
            </a:extLst>
          </p:cNvPr>
          <p:cNvCxnSpPr>
            <a:cxnSpLocks/>
            <a:stCxn id="6" idx="7"/>
            <a:endCxn id="8" idx="3"/>
          </p:cNvCxnSpPr>
          <p:nvPr/>
        </p:nvCxnSpPr>
        <p:spPr>
          <a:xfrm flipV="1">
            <a:off x="2182099" y="4908573"/>
            <a:ext cx="936347" cy="6092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6F0DE2-BAF4-956A-B275-35C1E7AAE615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2250687" y="5683406"/>
            <a:ext cx="1360449" cy="1970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52FC9C-48A8-7F8D-5CB4-E22EA67EB317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2250687" y="4322957"/>
            <a:ext cx="867759" cy="2544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EBD426-84D3-8C31-2AFE-A00E36BAB94B}"/>
              </a:ext>
            </a:extLst>
          </p:cNvPr>
          <p:cNvCxnSpPr>
            <a:cxnSpLocks/>
            <a:stCxn id="7" idx="7"/>
            <a:endCxn id="10" idx="2"/>
          </p:cNvCxnSpPr>
          <p:nvPr/>
        </p:nvCxnSpPr>
        <p:spPr>
          <a:xfrm flipV="1">
            <a:off x="2182099" y="3484757"/>
            <a:ext cx="633583" cy="67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315EE4-0081-29FB-A048-0BFF41F01492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3284033" y="3484757"/>
            <a:ext cx="895815" cy="334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1DEEBD7-22CC-357C-EE8C-5D0633DA6B11}"/>
              </a:ext>
            </a:extLst>
          </p:cNvPr>
          <p:cNvCxnSpPr>
            <a:cxnSpLocks/>
            <a:stCxn id="8" idx="7"/>
            <a:endCxn id="11" idx="3"/>
          </p:cNvCxnSpPr>
          <p:nvPr/>
        </p:nvCxnSpPr>
        <p:spPr>
          <a:xfrm flipV="1">
            <a:off x="3449621" y="3984880"/>
            <a:ext cx="798815" cy="59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C28CDE-59EF-DC24-8D8A-D7F21DF56CA8}"/>
              </a:ext>
            </a:extLst>
          </p:cNvPr>
          <p:cNvCxnSpPr>
            <a:cxnSpLocks/>
            <a:stCxn id="9" idx="0"/>
            <a:endCxn id="11" idx="4"/>
          </p:cNvCxnSpPr>
          <p:nvPr/>
        </p:nvCxnSpPr>
        <p:spPr>
          <a:xfrm flipV="1">
            <a:off x="3845312" y="4053468"/>
            <a:ext cx="568712" cy="15927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69DD97-8914-EB49-4910-AF67EEE65755}"/>
              </a:ext>
            </a:extLst>
          </p:cNvPr>
          <p:cNvCxnSpPr>
            <a:cxnSpLocks/>
            <a:stCxn id="9" idx="6"/>
            <a:endCxn id="12" idx="3"/>
          </p:cNvCxnSpPr>
          <p:nvPr/>
        </p:nvCxnSpPr>
        <p:spPr>
          <a:xfrm flipV="1">
            <a:off x="4079487" y="5073983"/>
            <a:ext cx="812003" cy="806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CFA675-2DED-796F-E431-C85123E8D998}"/>
              </a:ext>
            </a:extLst>
          </p:cNvPr>
          <p:cNvCxnSpPr>
            <a:cxnSpLocks/>
            <a:stCxn id="9" idx="6"/>
            <a:endCxn id="13" idx="3"/>
          </p:cNvCxnSpPr>
          <p:nvPr/>
        </p:nvCxnSpPr>
        <p:spPr>
          <a:xfrm flipV="1">
            <a:off x="4079487" y="5724471"/>
            <a:ext cx="2124130" cy="155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E1943B4-E1CF-CFAF-E85E-C42566E99153}"/>
              </a:ext>
            </a:extLst>
          </p:cNvPr>
          <p:cNvCxnSpPr>
            <a:cxnSpLocks/>
            <a:stCxn id="12" idx="5"/>
            <a:endCxn id="13" idx="2"/>
          </p:cNvCxnSpPr>
          <p:nvPr/>
        </p:nvCxnSpPr>
        <p:spPr>
          <a:xfrm>
            <a:off x="5222665" y="5073983"/>
            <a:ext cx="912364" cy="484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5861D5-BC95-6636-1C15-018A5B2BE6F5}"/>
              </a:ext>
            </a:extLst>
          </p:cNvPr>
          <p:cNvCxnSpPr>
            <a:cxnSpLocks/>
            <a:stCxn id="12" idx="0"/>
            <a:endCxn id="14" idx="3"/>
          </p:cNvCxnSpPr>
          <p:nvPr/>
        </p:nvCxnSpPr>
        <p:spPr>
          <a:xfrm flipV="1">
            <a:off x="5057078" y="4033203"/>
            <a:ext cx="555524" cy="641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926757-1789-88CA-2C2E-EE4FDBCA35AE}"/>
              </a:ext>
            </a:extLst>
          </p:cNvPr>
          <p:cNvCxnSpPr>
            <a:cxnSpLocks/>
            <a:stCxn id="11" idx="7"/>
            <a:endCxn id="15" idx="3"/>
          </p:cNvCxnSpPr>
          <p:nvPr/>
        </p:nvCxnSpPr>
        <p:spPr>
          <a:xfrm flipV="1">
            <a:off x="4579611" y="3206153"/>
            <a:ext cx="382503" cy="447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63560D2-848C-156C-A743-4E4772F1DB8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5361877" y="3040566"/>
            <a:ext cx="1077952" cy="17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C2CDCC-4914-24C1-70C6-769F38836409}"/>
              </a:ext>
            </a:extLst>
          </p:cNvPr>
          <p:cNvCxnSpPr>
            <a:cxnSpLocks/>
            <a:stCxn id="14" idx="7"/>
            <a:endCxn id="18" idx="3"/>
          </p:cNvCxnSpPr>
          <p:nvPr/>
        </p:nvCxnSpPr>
        <p:spPr>
          <a:xfrm flipV="1">
            <a:off x="5943777" y="3384922"/>
            <a:ext cx="564640" cy="317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AAF4EB0-D31B-62C8-F25C-4CCEF963A818}"/>
              </a:ext>
            </a:extLst>
          </p:cNvPr>
          <p:cNvCxnSpPr>
            <a:cxnSpLocks/>
            <a:stCxn id="14" idx="5"/>
            <a:endCxn id="16" idx="1"/>
          </p:cNvCxnSpPr>
          <p:nvPr/>
        </p:nvCxnSpPr>
        <p:spPr>
          <a:xfrm>
            <a:off x="5943777" y="4033203"/>
            <a:ext cx="798816" cy="3917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2B76E7F-5F14-B6E7-6691-762C9E1C5427}"/>
              </a:ext>
            </a:extLst>
          </p:cNvPr>
          <p:cNvCxnSpPr>
            <a:cxnSpLocks/>
            <a:stCxn id="13" idx="7"/>
            <a:endCxn id="16" idx="4"/>
          </p:cNvCxnSpPr>
          <p:nvPr/>
        </p:nvCxnSpPr>
        <p:spPr>
          <a:xfrm flipV="1">
            <a:off x="6534792" y="4824761"/>
            <a:ext cx="373389" cy="568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30F492E-6433-2F8F-AF55-E7D479F97FDF}"/>
              </a:ext>
            </a:extLst>
          </p:cNvPr>
          <p:cNvCxnSpPr>
            <a:cxnSpLocks/>
            <a:stCxn id="18" idx="6"/>
            <a:endCxn id="22" idx="2"/>
          </p:cNvCxnSpPr>
          <p:nvPr/>
        </p:nvCxnSpPr>
        <p:spPr>
          <a:xfrm>
            <a:off x="6908180" y="3219335"/>
            <a:ext cx="1169020" cy="31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B6A5F8D-BF5F-9514-7910-13FDA8812A2B}"/>
              </a:ext>
            </a:extLst>
          </p:cNvPr>
          <p:cNvCxnSpPr>
            <a:cxnSpLocks/>
            <a:stCxn id="18" idx="5"/>
            <a:endCxn id="19" idx="1"/>
          </p:cNvCxnSpPr>
          <p:nvPr/>
        </p:nvCxnSpPr>
        <p:spPr>
          <a:xfrm>
            <a:off x="6839592" y="3384922"/>
            <a:ext cx="1285753" cy="724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CCDC651-2C82-EE60-E697-80AC9614ABB3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 flipV="1">
            <a:off x="7142356" y="4274635"/>
            <a:ext cx="914401" cy="315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D319C0E-3929-3059-A5FD-905C1647E863}"/>
              </a:ext>
            </a:extLst>
          </p:cNvPr>
          <p:cNvCxnSpPr>
            <a:cxnSpLocks/>
            <a:stCxn id="16" idx="5"/>
            <a:endCxn id="17" idx="1"/>
          </p:cNvCxnSpPr>
          <p:nvPr/>
        </p:nvCxnSpPr>
        <p:spPr>
          <a:xfrm>
            <a:off x="7073768" y="4756173"/>
            <a:ext cx="724473" cy="665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D7DE3A1-7023-FB72-703F-4F9912A27BA8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 flipV="1">
            <a:off x="8198004" y="5343293"/>
            <a:ext cx="977591" cy="243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429760C-5A23-D696-CDE6-EA94463CBA92}"/>
              </a:ext>
            </a:extLst>
          </p:cNvPr>
          <p:cNvCxnSpPr>
            <a:cxnSpLocks/>
            <a:stCxn id="20" idx="0"/>
            <a:endCxn id="21" idx="4"/>
          </p:cNvCxnSpPr>
          <p:nvPr/>
        </p:nvCxnSpPr>
        <p:spPr>
          <a:xfrm flipV="1">
            <a:off x="9409771" y="4360204"/>
            <a:ext cx="353122" cy="748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FFF2F67-2320-7581-4CA3-BC716D162DFC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 flipV="1">
            <a:off x="8525108" y="4126029"/>
            <a:ext cx="1003609" cy="148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47468F-7207-959D-3561-1B2EB76BD174}"/>
              </a:ext>
            </a:extLst>
          </p:cNvPr>
          <p:cNvCxnSpPr>
            <a:cxnSpLocks/>
            <a:stCxn id="22" idx="5"/>
            <a:endCxn id="21" idx="1"/>
          </p:cNvCxnSpPr>
          <p:nvPr/>
        </p:nvCxnSpPr>
        <p:spPr>
          <a:xfrm>
            <a:off x="8476963" y="3416168"/>
            <a:ext cx="1120342" cy="5442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974C010-C29A-930A-799A-02C21C56A834}"/>
              </a:ext>
            </a:extLst>
          </p:cNvPr>
          <p:cNvSpPr txBox="1"/>
          <p:nvPr/>
        </p:nvSpPr>
        <p:spPr>
          <a:xfrm>
            <a:off x="1869777" y="416497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B8EE0C3-B63C-F2BD-0147-EE70DC60E28C}"/>
              </a:ext>
            </a:extLst>
          </p:cNvPr>
          <p:cNvSpPr txBox="1"/>
          <p:nvPr/>
        </p:nvSpPr>
        <p:spPr>
          <a:xfrm>
            <a:off x="3143162" y="457757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02F4DEB-7D8F-7B65-889E-4F3097D9B80D}"/>
              </a:ext>
            </a:extLst>
          </p:cNvPr>
          <p:cNvSpPr txBox="1"/>
          <p:nvPr/>
        </p:nvSpPr>
        <p:spPr>
          <a:xfrm>
            <a:off x="3712999" y="5690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AB3875D-4D9E-AEAA-EA41-1F9D897F5B9E}"/>
              </a:ext>
            </a:extLst>
          </p:cNvPr>
          <p:cNvSpPr txBox="1"/>
          <p:nvPr/>
        </p:nvSpPr>
        <p:spPr>
          <a:xfrm>
            <a:off x="2894205" y="331750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CBBA0D-8289-F4A7-6529-BF13CBA93433}"/>
              </a:ext>
            </a:extLst>
          </p:cNvPr>
          <p:cNvSpPr txBox="1"/>
          <p:nvPr/>
        </p:nvSpPr>
        <p:spPr>
          <a:xfrm>
            <a:off x="4265696" y="36578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80E0713-E2F1-D61C-37DF-EBCCB300A7A7}"/>
              </a:ext>
            </a:extLst>
          </p:cNvPr>
          <p:cNvSpPr txBox="1"/>
          <p:nvPr/>
        </p:nvSpPr>
        <p:spPr>
          <a:xfrm>
            <a:off x="4908858" y="47448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09FC1DC-C534-AA60-5731-4583130AF4AF}"/>
              </a:ext>
            </a:extLst>
          </p:cNvPr>
          <p:cNvSpPr txBox="1"/>
          <p:nvPr/>
        </p:nvSpPr>
        <p:spPr>
          <a:xfrm>
            <a:off x="6223488" y="53941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88583DF-9335-8ACB-DF57-6E772E0297FB}"/>
              </a:ext>
            </a:extLst>
          </p:cNvPr>
          <p:cNvSpPr txBox="1"/>
          <p:nvPr/>
        </p:nvSpPr>
        <p:spPr>
          <a:xfrm>
            <a:off x="4979949" y="28704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B492837-CFC3-C22B-DCD3-4B2584E583DB}"/>
              </a:ext>
            </a:extLst>
          </p:cNvPr>
          <p:cNvSpPr txBox="1"/>
          <p:nvPr/>
        </p:nvSpPr>
        <p:spPr>
          <a:xfrm>
            <a:off x="5629862" y="37069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71BB020-0A48-B910-D798-F3A2916507B1}"/>
              </a:ext>
            </a:extLst>
          </p:cNvPr>
          <p:cNvSpPr txBox="1"/>
          <p:nvPr/>
        </p:nvSpPr>
        <p:spPr>
          <a:xfrm>
            <a:off x="6771666" y="442406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61883AD-B333-D555-959D-29E63C0D98D3}"/>
              </a:ext>
            </a:extLst>
          </p:cNvPr>
          <p:cNvSpPr txBox="1"/>
          <p:nvPr/>
        </p:nvSpPr>
        <p:spPr>
          <a:xfrm>
            <a:off x="7830879" y="540950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E4EEEFB-9F6E-90A4-71CF-87FB67419FF7}"/>
              </a:ext>
            </a:extLst>
          </p:cNvPr>
          <p:cNvSpPr txBox="1"/>
          <p:nvPr/>
        </p:nvSpPr>
        <p:spPr>
          <a:xfrm>
            <a:off x="6515066" y="306231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B754A78-5903-CB67-DC40-B962A1D0886E}"/>
              </a:ext>
            </a:extLst>
          </p:cNvPr>
          <p:cNvSpPr txBox="1"/>
          <p:nvPr/>
        </p:nvSpPr>
        <p:spPr>
          <a:xfrm>
            <a:off x="8130815" y="41055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8133AA3-8EC4-132A-876C-B203ED508336}"/>
              </a:ext>
            </a:extLst>
          </p:cNvPr>
          <p:cNvSpPr txBox="1"/>
          <p:nvPr/>
        </p:nvSpPr>
        <p:spPr>
          <a:xfrm>
            <a:off x="9255741" y="51646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8A4210E-1372-1A4B-CE0B-0685DCD9DE4E}"/>
              </a:ext>
            </a:extLst>
          </p:cNvPr>
          <p:cNvSpPr txBox="1"/>
          <p:nvPr/>
        </p:nvSpPr>
        <p:spPr>
          <a:xfrm>
            <a:off x="8162751" y="30741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6F5E9CB-E940-D365-2993-0994CCF508B4}"/>
              </a:ext>
            </a:extLst>
          </p:cNvPr>
          <p:cNvSpPr txBox="1"/>
          <p:nvPr/>
        </p:nvSpPr>
        <p:spPr>
          <a:xfrm>
            <a:off x="9623114" y="39554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285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1" grpId="0" animBg="1"/>
      <p:bldP spid="121" grpId="1" animBg="1"/>
      <p:bldP spid="116" grpId="0" animBg="1"/>
      <p:bldP spid="116" grpId="1" animBg="1"/>
      <p:bldP spid="111" grpId="0" animBg="1"/>
      <p:bldP spid="111" grpId="1" animBg="1"/>
      <p:bldP spid="107" grpId="0" animBg="1"/>
      <p:bldP spid="107" grpId="1" animBg="1"/>
      <p:bldP spid="106" grpId="0" animBg="1"/>
      <p:bldP spid="106" grpId="1" animBg="1"/>
      <p:bldP spid="108" grpId="0"/>
      <p:bldP spid="109" grpId="0"/>
      <p:bldP spid="110" grpId="0"/>
      <p:bldP spid="112" grpId="0"/>
      <p:bldP spid="113" grpId="0"/>
      <p:bldP spid="114" grpId="0"/>
      <p:bldP spid="115" grpId="0"/>
      <p:bldP spid="117" grpId="0"/>
      <p:bldP spid="118" grpId="0"/>
      <p:bldP spid="119" grpId="0"/>
      <p:bldP spid="120" grpId="0"/>
      <p:bldP spid="122" grpId="0"/>
      <p:bldP spid="123" grpId="0"/>
      <p:bldP spid="124" grpId="0"/>
      <p:bldP spid="126" grpId="0"/>
      <p:bldP spid="1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AC20-B263-1902-EB0E-DD917F65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BFS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511EB-DC5F-830E-2D2F-6B56ADC18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8127"/>
              </a:xfrm>
            </p:spPr>
            <p:txBody>
              <a:bodyPr/>
              <a:lstStyle/>
              <a:p>
                <a:r>
                  <a:rPr lang="en-US" dirty="0"/>
                  <a:t>Each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has an </a:t>
                </a:r>
                <a:r>
                  <a:rPr lang="en-US" b="1" dirty="0"/>
                  <a:t>atomic</a:t>
                </a:r>
                <a:r>
                  <a:rPr lang="en-US" dirty="0"/>
                  <a:t> label, </a:t>
                </a:r>
                <a:r>
                  <a:rPr lang="en-US" b="1" dirty="0">
                    <a:latin typeface="Consolas" panose="020B0609020204030204" pitchFamily="49" charset="0"/>
                  </a:rPr>
                  <a:t>label[u]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511EB-DC5F-830E-2D2F-6B56ADC18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8127"/>
              </a:xfrm>
              <a:blipFill>
                <a:blip r:embed="rId3"/>
                <a:stretch>
                  <a:fillRect l="-1043" t="-22619" b="-27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7D8F-8EC1-7E49-8F91-F4078BBC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32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96979B-265C-C0D1-44A1-CE1185CEE322}"/>
              </a:ext>
            </a:extLst>
          </p:cNvPr>
          <p:cNvSpPr/>
          <p:nvPr/>
        </p:nvSpPr>
        <p:spPr>
          <a:xfrm>
            <a:off x="1682373" y="2975205"/>
            <a:ext cx="4413627" cy="2988726"/>
          </a:xfrm>
          <a:custGeom>
            <a:avLst/>
            <a:gdLst>
              <a:gd name="connsiteX0" fmla="*/ 324783 w 4413627"/>
              <a:gd name="connsiteY0" fmla="*/ 840058 h 2988726"/>
              <a:gd name="connsiteX1" fmla="*/ 755963 w 4413627"/>
              <a:gd name="connsiteY1" fmla="*/ 944136 h 2988726"/>
              <a:gd name="connsiteX2" fmla="*/ 1477075 w 4413627"/>
              <a:gd name="connsiteY2" fmla="*/ 1070517 h 2988726"/>
              <a:gd name="connsiteX3" fmla="*/ 1826480 w 4413627"/>
              <a:gd name="connsiteY3" fmla="*/ 1397619 h 2988726"/>
              <a:gd name="connsiteX4" fmla="*/ 2004900 w 4413627"/>
              <a:gd name="connsiteY4" fmla="*/ 1761892 h 2988726"/>
              <a:gd name="connsiteX5" fmla="*/ 2138714 w 4413627"/>
              <a:gd name="connsiteY5" fmla="*/ 2103863 h 2988726"/>
              <a:gd name="connsiteX6" fmla="*/ 2421212 w 4413627"/>
              <a:gd name="connsiteY6" fmla="*/ 2416097 h 2988726"/>
              <a:gd name="connsiteX7" fmla="*/ 3067983 w 4413627"/>
              <a:gd name="connsiteY7" fmla="*/ 2639122 h 2988726"/>
              <a:gd name="connsiteX8" fmla="*/ 3387651 w 4413627"/>
              <a:gd name="connsiteY8" fmla="*/ 2847278 h 2988726"/>
              <a:gd name="connsiteX9" fmla="*/ 3922909 w 4413627"/>
              <a:gd name="connsiteY9" fmla="*/ 2988526 h 2988726"/>
              <a:gd name="connsiteX10" fmla="*/ 4316919 w 4413627"/>
              <a:gd name="connsiteY10" fmla="*/ 2817541 h 2988726"/>
              <a:gd name="connsiteX11" fmla="*/ 4413563 w 4413627"/>
              <a:gd name="connsiteY11" fmla="*/ 2438400 h 2988726"/>
              <a:gd name="connsiteX12" fmla="*/ 4309485 w 4413627"/>
              <a:gd name="connsiteY12" fmla="*/ 2245112 h 2988726"/>
              <a:gd name="connsiteX13" fmla="*/ 4019553 w 4413627"/>
              <a:gd name="connsiteY13" fmla="*/ 2029522 h 2988726"/>
              <a:gd name="connsiteX14" fmla="*/ 3521466 w 4413627"/>
              <a:gd name="connsiteY14" fmla="*/ 1970048 h 2988726"/>
              <a:gd name="connsiteX15" fmla="*/ 3172061 w 4413627"/>
              <a:gd name="connsiteY15" fmla="*/ 1836234 h 2988726"/>
              <a:gd name="connsiteX16" fmla="*/ 2882129 w 4413627"/>
              <a:gd name="connsiteY16" fmla="*/ 1613209 h 2988726"/>
              <a:gd name="connsiteX17" fmla="*/ 2428646 w 4413627"/>
              <a:gd name="connsiteY17" fmla="*/ 1226634 h 2988726"/>
              <a:gd name="connsiteX18" fmla="*/ 2272529 w 4413627"/>
              <a:gd name="connsiteY18" fmla="*/ 862361 h 2988726"/>
              <a:gd name="connsiteX19" fmla="*/ 2168451 w 4413627"/>
              <a:gd name="connsiteY19" fmla="*/ 475785 h 2988726"/>
              <a:gd name="connsiteX20" fmla="*/ 1863651 w 4413627"/>
              <a:gd name="connsiteY20" fmla="*/ 208156 h 2988726"/>
              <a:gd name="connsiteX21" fmla="*/ 1410168 w 4413627"/>
              <a:gd name="connsiteY21" fmla="*/ 163551 h 2988726"/>
              <a:gd name="connsiteX22" fmla="*/ 1179709 w 4413627"/>
              <a:gd name="connsiteY22" fmla="*/ 156117 h 2988726"/>
              <a:gd name="connsiteX23" fmla="*/ 800568 w 4413627"/>
              <a:gd name="connsiteY23" fmla="*/ 52039 h 2988726"/>
              <a:gd name="connsiteX24" fmla="*/ 421427 w 4413627"/>
              <a:gd name="connsiteY24" fmla="*/ 0 h 2988726"/>
              <a:gd name="connsiteX25" fmla="*/ 243007 w 4413627"/>
              <a:gd name="connsiteY25" fmla="*/ 52039 h 2988726"/>
              <a:gd name="connsiteX26" fmla="*/ 19983 w 4413627"/>
              <a:gd name="connsiteY26" fmla="*/ 252761 h 2988726"/>
              <a:gd name="connsiteX27" fmla="*/ 19983 w 4413627"/>
              <a:gd name="connsiteY27" fmla="*/ 572429 h 2988726"/>
              <a:gd name="connsiteX28" fmla="*/ 101758 w 4413627"/>
              <a:gd name="connsiteY28" fmla="*/ 750848 h 2988726"/>
              <a:gd name="connsiteX29" fmla="*/ 324783 w 4413627"/>
              <a:gd name="connsiteY29" fmla="*/ 840058 h 298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413627" h="2988726">
                <a:moveTo>
                  <a:pt x="324783" y="840058"/>
                </a:moveTo>
                <a:cubicBezTo>
                  <a:pt x="433817" y="872273"/>
                  <a:pt x="563914" y="905726"/>
                  <a:pt x="755963" y="944136"/>
                </a:cubicBezTo>
                <a:cubicBezTo>
                  <a:pt x="948012" y="982546"/>
                  <a:pt x="1298656" y="994937"/>
                  <a:pt x="1477075" y="1070517"/>
                </a:cubicBezTo>
                <a:cubicBezTo>
                  <a:pt x="1655495" y="1146098"/>
                  <a:pt x="1738509" y="1282390"/>
                  <a:pt x="1826480" y="1397619"/>
                </a:cubicBezTo>
                <a:cubicBezTo>
                  <a:pt x="1914451" y="1512848"/>
                  <a:pt x="1952861" y="1644185"/>
                  <a:pt x="2004900" y="1761892"/>
                </a:cubicBezTo>
                <a:cubicBezTo>
                  <a:pt x="2056939" y="1879599"/>
                  <a:pt x="2069329" y="1994829"/>
                  <a:pt x="2138714" y="2103863"/>
                </a:cubicBezTo>
                <a:cubicBezTo>
                  <a:pt x="2208099" y="2212897"/>
                  <a:pt x="2266334" y="2326887"/>
                  <a:pt x="2421212" y="2416097"/>
                </a:cubicBezTo>
                <a:cubicBezTo>
                  <a:pt x="2576090" y="2505307"/>
                  <a:pt x="2906910" y="2567259"/>
                  <a:pt x="3067983" y="2639122"/>
                </a:cubicBezTo>
                <a:cubicBezTo>
                  <a:pt x="3229056" y="2710986"/>
                  <a:pt x="3245163" y="2789044"/>
                  <a:pt x="3387651" y="2847278"/>
                </a:cubicBezTo>
                <a:cubicBezTo>
                  <a:pt x="3530139" y="2905512"/>
                  <a:pt x="3768031" y="2993482"/>
                  <a:pt x="3922909" y="2988526"/>
                </a:cubicBezTo>
                <a:cubicBezTo>
                  <a:pt x="4077787" y="2983570"/>
                  <a:pt x="4235143" y="2909229"/>
                  <a:pt x="4316919" y="2817541"/>
                </a:cubicBezTo>
                <a:cubicBezTo>
                  <a:pt x="4398695" y="2725853"/>
                  <a:pt x="4414802" y="2533805"/>
                  <a:pt x="4413563" y="2438400"/>
                </a:cubicBezTo>
                <a:cubicBezTo>
                  <a:pt x="4412324" y="2342995"/>
                  <a:pt x="4375153" y="2313258"/>
                  <a:pt x="4309485" y="2245112"/>
                </a:cubicBezTo>
                <a:cubicBezTo>
                  <a:pt x="4243817" y="2176966"/>
                  <a:pt x="4150890" y="2075366"/>
                  <a:pt x="4019553" y="2029522"/>
                </a:cubicBezTo>
                <a:cubicBezTo>
                  <a:pt x="3888217" y="1983678"/>
                  <a:pt x="3662715" y="2002263"/>
                  <a:pt x="3521466" y="1970048"/>
                </a:cubicBezTo>
                <a:cubicBezTo>
                  <a:pt x="3380217" y="1937833"/>
                  <a:pt x="3278617" y="1895707"/>
                  <a:pt x="3172061" y="1836234"/>
                </a:cubicBezTo>
                <a:cubicBezTo>
                  <a:pt x="3065505" y="1776761"/>
                  <a:pt x="3006032" y="1714809"/>
                  <a:pt x="2882129" y="1613209"/>
                </a:cubicBezTo>
                <a:cubicBezTo>
                  <a:pt x="2758226" y="1511609"/>
                  <a:pt x="2530246" y="1351775"/>
                  <a:pt x="2428646" y="1226634"/>
                </a:cubicBezTo>
                <a:cubicBezTo>
                  <a:pt x="2327046" y="1101493"/>
                  <a:pt x="2315895" y="987502"/>
                  <a:pt x="2272529" y="862361"/>
                </a:cubicBezTo>
                <a:cubicBezTo>
                  <a:pt x="2229163" y="737220"/>
                  <a:pt x="2236597" y="584819"/>
                  <a:pt x="2168451" y="475785"/>
                </a:cubicBezTo>
                <a:cubicBezTo>
                  <a:pt x="2100305" y="366751"/>
                  <a:pt x="1990032" y="260195"/>
                  <a:pt x="1863651" y="208156"/>
                </a:cubicBezTo>
                <a:cubicBezTo>
                  <a:pt x="1737271" y="156117"/>
                  <a:pt x="1524158" y="172224"/>
                  <a:pt x="1410168" y="163551"/>
                </a:cubicBezTo>
                <a:cubicBezTo>
                  <a:pt x="1296178" y="154878"/>
                  <a:pt x="1281309" y="174702"/>
                  <a:pt x="1179709" y="156117"/>
                </a:cubicBezTo>
                <a:cubicBezTo>
                  <a:pt x="1078109" y="137532"/>
                  <a:pt x="926948" y="78058"/>
                  <a:pt x="800568" y="52039"/>
                </a:cubicBezTo>
                <a:cubicBezTo>
                  <a:pt x="674188" y="26020"/>
                  <a:pt x="514354" y="0"/>
                  <a:pt x="421427" y="0"/>
                </a:cubicBezTo>
                <a:cubicBezTo>
                  <a:pt x="328500" y="0"/>
                  <a:pt x="309914" y="9912"/>
                  <a:pt x="243007" y="52039"/>
                </a:cubicBezTo>
                <a:cubicBezTo>
                  <a:pt x="176100" y="94166"/>
                  <a:pt x="57154" y="166029"/>
                  <a:pt x="19983" y="252761"/>
                </a:cubicBezTo>
                <a:cubicBezTo>
                  <a:pt x="-17188" y="339493"/>
                  <a:pt x="6354" y="489415"/>
                  <a:pt x="19983" y="572429"/>
                </a:cubicBezTo>
                <a:cubicBezTo>
                  <a:pt x="33612" y="655443"/>
                  <a:pt x="57153" y="706243"/>
                  <a:pt x="101758" y="750848"/>
                </a:cubicBezTo>
                <a:cubicBezTo>
                  <a:pt x="146363" y="795453"/>
                  <a:pt x="215749" y="807843"/>
                  <a:pt x="324783" y="840058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8243632-2A67-E293-794C-3188175899E7}"/>
              </a:ext>
            </a:extLst>
          </p:cNvPr>
          <p:cNvSpPr/>
          <p:nvPr/>
        </p:nvSpPr>
        <p:spPr>
          <a:xfrm>
            <a:off x="566075" y="3802312"/>
            <a:ext cx="2954871" cy="2471736"/>
          </a:xfrm>
          <a:custGeom>
            <a:avLst/>
            <a:gdLst>
              <a:gd name="connsiteX0" fmla="*/ 188795 w 2901289"/>
              <a:gd name="connsiteY0" fmla="*/ 844143 h 2471736"/>
              <a:gd name="connsiteX1" fmla="*/ 976815 w 2901289"/>
              <a:gd name="connsiteY1" fmla="*/ 881314 h 2471736"/>
              <a:gd name="connsiteX2" fmla="*/ 1549244 w 2901289"/>
              <a:gd name="connsiteY2" fmla="*/ 1312494 h 2471736"/>
              <a:gd name="connsiteX3" fmla="*/ 1816873 w 2901289"/>
              <a:gd name="connsiteY3" fmla="*/ 2026172 h 2471736"/>
              <a:gd name="connsiteX4" fmla="*/ 2218317 w 2901289"/>
              <a:gd name="connsiteY4" fmla="*/ 2464787 h 2471736"/>
              <a:gd name="connsiteX5" fmla="*/ 2865088 w 2901289"/>
              <a:gd name="connsiteY5" fmla="*/ 2249197 h 2471736"/>
              <a:gd name="connsiteX6" fmla="*/ 2775878 w 2901289"/>
              <a:gd name="connsiteY6" fmla="*/ 1654465 h 2471736"/>
              <a:gd name="connsiteX7" fmla="*/ 2411605 w 2901289"/>
              <a:gd name="connsiteY7" fmla="*/ 1253021 h 2471736"/>
              <a:gd name="connsiteX8" fmla="*/ 2218317 w 2901289"/>
              <a:gd name="connsiteY8" fmla="*/ 777236 h 2471736"/>
              <a:gd name="connsiteX9" fmla="*/ 2099371 w 2901289"/>
              <a:gd name="connsiteY9" fmla="*/ 517041 h 2471736"/>
              <a:gd name="connsiteX10" fmla="*/ 1727664 w 2901289"/>
              <a:gd name="connsiteY10" fmla="*/ 323753 h 2471736"/>
              <a:gd name="connsiteX11" fmla="*/ 1207273 w 2901289"/>
              <a:gd name="connsiteY11" fmla="*/ 271714 h 2471736"/>
              <a:gd name="connsiteX12" fmla="*/ 843000 w 2901289"/>
              <a:gd name="connsiteY12" fmla="*/ 78426 h 2471736"/>
              <a:gd name="connsiteX13" fmla="*/ 315176 w 2901289"/>
              <a:gd name="connsiteY13" fmla="*/ 4085 h 2471736"/>
              <a:gd name="connsiteX14" fmla="*/ 10376 w 2901289"/>
              <a:gd name="connsiteY14" fmla="*/ 189938 h 2471736"/>
              <a:gd name="connsiteX15" fmla="*/ 84717 w 2901289"/>
              <a:gd name="connsiteY15" fmla="*/ 747499 h 2471736"/>
              <a:gd name="connsiteX16" fmla="*/ 188795 w 2901289"/>
              <a:gd name="connsiteY16" fmla="*/ 844143 h 2471736"/>
              <a:gd name="connsiteX0" fmla="*/ 242377 w 2954871"/>
              <a:gd name="connsiteY0" fmla="*/ 844143 h 2471736"/>
              <a:gd name="connsiteX1" fmla="*/ 1030397 w 2954871"/>
              <a:gd name="connsiteY1" fmla="*/ 881314 h 2471736"/>
              <a:gd name="connsiteX2" fmla="*/ 1602826 w 2954871"/>
              <a:gd name="connsiteY2" fmla="*/ 1312494 h 2471736"/>
              <a:gd name="connsiteX3" fmla="*/ 1870455 w 2954871"/>
              <a:gd name="connsiteY3" fmla="*/ 2026172 h 2471736"/>
              <a:gd name="connsiteX4" fmla="*/ 2271899 w 2954871"/>
              <a:gd name="connsiteY4" fmla="*/ 2464787 h 2471736"/>
              <a:gd name="connsiteX5" fmla="*/ 2918670 w 2954871"/>
              <a:gd name="connsiteY5" fmla="*/ 2249197 h 2471736"/>
              <a:gd name="connsiteX6" fmla="*/ 2829460 w 2954871"/>
              <a:gd name="connsiteY6" fmla="*/ 1654465 h 2471736"/>
              <a:gd name="connsiteX7" fmla="*/ 2465187 w 2954871"/>
              <a:gd name="connsiteY7" fmla="*/ 1253021 h 2471736"/>
              <a:gd name="connsiteX8" fmla="*/ 2271899 w 2954871"/>
              <a:gd name="connsiteY8" fmla="*/ 777236 h 2471736"/>
              <a:gd name="connsiteX9" fmla="*/ 2152953 w 2954871"/>
              <a:gd name="connsiteY9" fmla="*/ 517041 h 2471736"/>
              <a:gd name="connsiteX10" fmla="*/ 1781246 w 2954871"/>
              <a:gd name="connsiteY10" fmla="*/ 323753 h 2471736"/>
              <a:gd name="connsiteX11" fmla="*/ 1260855 w 2954871"/>
              <a:gd name="connsiteY11" fmla="*/ 271714 h 2471736"/>
              <a:gd name="connsiteX12" fmla="*/ 896582 w 2954871"/>
              <a:gd name="connsiteY12" fmla="*/ 78426 h 2471736"/>
              <a:gd name="connsiteX13" fmla="*/ 368758 w 2954871"/>
              <a:gd name="connsiteY13" fmla="*/ 4085 h 2471736"/>
              <a:gd name="connsiteX14" fmla="*/ 63958 w 2954871"/>
              <a:gd name="connsiteY14" fmla="*/ 189938 h 2471736"/>
              <a:gd name="connsiteX15" fmla="*/ 11919 w 2954871"/>
              <a:gd name="connsiteY15" fmla="*/ 613684 h 2471736"/>
              <a:gd name="connsiteX16" fmla="*/ 242377 w 2954871"/>
              <a:gd name="connsiteY16" fmla="*/ 844143 h 247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54871" h="2471736">
                <a:moveTo>
                  <a:pt x="242377" y="844143"/>
                </a:moveTo>
                <a:cubicBezTo>
                  <a:pt x="412123" y="888748"/>
                  <a:pt x="803656" y="803255"/>
                  <a:pt x="1030397" y="881314"/>
                </a:cubicBezTo>
                <a:cubicBezTo>
                  <a:pt x="1257139" y="959373"/>
                  <a:pt x="1462816" y="1121684"/>
                  <a:pt x="1602826" y="1312494"/>
                </a:cubicBezTo>
                <a:cubicBezTo>
                  <a:pt x="1742836" y="1503304"/>
                  <a:pt x="1758943" y="1834123"/>
                  <a:pt x="1870455" y="2026172"/>
                </a:cubicBezTo>
                <a:cubicBezTo>
                  <a:pt x="1981967" y="2218221"/>
                  <a:pt x="2097197" y="2427616"/>
                  <a:pt x="2271899" y="2464787"/>
                </a:cubicBezTo>
                <a:cubicBezTo>
                  <a:pt x="2446601" y="2501958"/>
                  <a:pt x="2825743" y="2384251"/>
                  <a:pt x="2918670" y="2249197"/>
                </a:cubicBezTo>
                <a:cubicBezTo>
                  <a:pt x="3011597" y="2114143"/>
                  <a:pt x="2905040" y="1820494"/>
                  <a:pt x="2829460" y="1654465"/>
                </a:cubicBezTo>
                <a:cubicBezTo>
                  <a:pt x="2753880" y="1488436"/>
                  <a:pt x="2558114" y="1399226"/>
                  <a:pt x="2465187" y="1253021"/>
                </a:cubicBezTo>
                <a:cubicBezTo>
                  <a:pt x="2372260" y="1106816"/>
                  <a:pt x="2323938" y="899899"/>
                  <a:pt x="2271899" y="777236"/>
                </a:cubicBezTo>
                <a:cubicBezTo>
                  <a:pt x="2219860" y="654573"/>
                  <a:pt x="2234728" y="592621"/>
                  <a:pt x="2152953" y="517041"/>
                </a:cubicBezTo>
                <a:cubicBezTo>
                  <a:pt x="2071178" y="441461"/>
                  <a:pt x="1929929" y="364641"/>
                  <a:pt x="1781246" y="323753"/>
                </a:cubicBezTo>
                <a:cubicBezTo>
                  <a:pt x="1632563" y="282865"/>
                  <a:pt x="1408299" y="312602"/>
                  <a:pt x="1260855" y="271714"/>
                </a:cubicBezTo>
                <a:cubicBezTo>
                  <a:pt x="1113411" y="230826"/>
                  <a:pt x="1045265" y="123031"/>
                  <a:pt x="896582" y="78426"/>
                </a:cubicBezTo>
                <a:cubicBezTo>
                  <a:pt x="747899" y="33821"/>
                  <a:pt x="507529" y="-14500"/>
                  <a:pt x="368758" y="4085"/>
                </a:cubicBezTo>
                <a:cubicBezTo>
                  <a:pt x="229987" y="22670"/>
                  <a:pt x="102368" y="66036"/>
                  <a:pt x="63958" y="189938"/>
                </a:cubicBezTo>
                <a:cubicBezTo>
                  <a:pt x="25548" y="313840"/>
                  <a:pt x="-22774" y="504650"/>
                  <a:pt x="11919" y="613684"/>
                </a:cubicBezTo>
                <a:cubicBezTo>
                  <a:pt x="46612" y="722718"/>
                  <a:pt x="72631" y="799538"/>
                  <a:pt x="242377" y="844143"/>
                </a:cubicBezTo>
                <a:close/>
              </a:path>
            </a:pathLst>
          </a:cu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ADCC91-DF67-9BF8-1699-7C5ACD83BEE4}"/>
              </a:ext>
            </a:extLst>
          </p:cNvPr>
          <p:cNvSpPr/>
          <p:nvPr/>
        </p:nvSpPr>
        <p:spPr>
          <a:xfrm>
            <a:off x="912477" y="4038288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87FD89-D6E9-0378-AC05-4D02474DC617}"/>
              </a:ext>
            </a:extLst>
          </p:cNvPr>
          <p:cNvSpPr/>
          <p:nvPr/>
        </p:nvSpPr>
        <p:spPr>
          <a:xfrm>
            <a:off x="2179999" y="4458317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6892181-EEC2-ABFA-817E-9564A3706E8C}"/>
              </a:ext>
            </a:extLst>
          </p:cNvPr>
          <p:cNvSpPr/>
          <p:nvPr/>
        </p:nvSpPr>
        <p:spPr>
          <a:xfrm>
            <a:off x="2741277" y="5595741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5F004D-D417-B483-44A0-231408A21F6A}"/>
              </a:ext>
            </a:extLst>
          </p:cNvPr>
          <p:cNvSpPr/>
          <p:nvPr/>
        </p:nvSpPr>
        <p:spPr>
          <a:xfrm>
            <a:off x="1945823" y="3200088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0AE203-836B-5610-BC73-3CD271EDD614}"/>
              </a:ext>
            </a:extLst>
          </p:cNvPr>
          <p:cNvSpPr/>
          <p:nvPr/>
        </p:nvSpPr>
        <p:spPr>
          <a:xfrm>
            <a:off x="3309989" y="3534624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BED56B-31C2-A2EB-DD27-D95CE618B724}"/>
              </a:ext>
            </a:extLst>
          </p:cNvPr>
          <p:cNvSpPr/>
          <p:nvPr/>
        </p:nvSpPr>
        <p:spPr>
          <a:xfrm>
            <a:off x="3953043" y="4623727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5402391-8ACF-44AF-F6B8-03195B39265E}"/>
              </a:ext>
            </a:extLst>
          </p:cNvPr>
          <p:cNvSpPr/>
          <p:nvPr/>
        </p:nvSpPr>
        <p:spPr>
          <a:xfrm>
            <a:off x="5265170" y="5274215"/>
            <a:ext cx="468351" cy="468351"/>
          </a:xfrm>
          <a:prstGeom prst="ellipse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311219-99E8-2C38-0748-74BBEDF808AF}"/>
              </a:ext>
            </a:extLst>
          </p:cNvPr>
          <p:cNvCxnSpPr>
            <a:cxnSpLocks/>
            <a:stCxn id="23" idx="6"/>
            <a:endCxn id="24" idx="1"/>
          </p:cNvCxnSpPr>
          <p:nvPr/>
        </p:nvCxnSpPr>
        <p:spPr>
          <a:xfrm>
            <a:off x="1380828" y="4272464"/>
            <a:ext cx="867759" cy="2544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9A58F0-F760-4C6F-0EE2-5FC3D19F5D16}"/>
              </a:ext>
            </a:extLst>
          </p:cNvPr>
          <p:cNvCxnSpPr>
            <a:cxnSpLocks/>
            <a:stCxn id="23" idx="7"/>
            <a:endCxn id="26" idx="2"/>
          </p:cNvCxnSpPr>
          <p:nvPr/>
        </p:nvCxnSpPr>
        <p:spPr>
          <a:xfrm flipV="1">
            <a:off x="1312240" y="3434264"/>
            <a:ext cx="633583" cy="67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C79BBE0-BD05-E3D3-B902-E7938B9F8B84}"/>
              </a:ext>
            </a:extLst>
          </p:cNvPr>
          <p:cNvCxnSpPr>
            <a:cxnSpLocks/>
            <a:stCxn id="24" idx="7"/>
            <a:endCxn id="27" idx="3"/>
          </p:cNvCxnSpPr>
          <p:nvPr/>
        </p:nvCxnSpPr>
        <p:spPr>
          <a:xfrm flipV="1">
            <a:off x="2579762" y="3934387"/>
            <a:ext cx="798815" cy="59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A0CC718-EE2A-3CA6-3F42-5FF9C0773353}"/>
              </a:ext>
            </a:extLst>
          </p:cNvPr>
          <p:cNvCxnSpPr>
            <a:cxnSpLocks/>
            <a:stCxn id="25" idx="0"/>
            <a:endCxn id="27" idx="4"/>
          </p:cNvCxnSpPr>
          <p:nvPr/>
        </p:nvCxnSpPr>
        <p:spPr>
          <a:xfrm flipV="1">
            <a:off x="2975453" y="4002975"/>
            <a:ext cx="568712" cy="15927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24AE9CC-2521-2726-25DD-A448026B3755}"/>
              </a:ext>
            </a:extLst>
          </p:cNvPr>
          <p:cNvCxnSpPr>
            <a:cxnSpLocks/>
            <a:stCxn id="25" idx="6"/>
            <a:endCxn id="28" idx="3"/>
          </p:cNvCxnSpPr>
          <p:nvPr/>
        </p:nvCxnSpPr>
        <p:spPr>
          <a:xfrm flipV="1">
            <a:off x="3209628" y="5023490"/>
            <a:ext cx="812003" cy="806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3E00EB-7A3C-4ACF-1313-B94D9AC8E47D}"/>
              </a:ext>
            </a:extLst>
          </p:cNvPr>
          <p:cNvCxnSpPr>
            <a:cxnSpLocks/>
            <a:stCxn id="25" idx="6"/>
            <a:endCxn id="29" idx="3"/>
          </p:cNvCxnSpPr>
          <p:nvPr/>
        </p:nvCxnSpPr>
        <p:spPr>
          <a:xfrm flipV="1">
            <a:off x="3209628" y="5673978"/>
            <a:ext cx="2124130" cy="155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A7180E1-ED24-6833-3D07-1343B0BF0B87}"/>
              </a:ext>
            </a:extLst>
          </p:cNvPr>
          <p:cNvSpPr txBox="1"/>
          <p:nvPr/>
        </p:nvSpPr>
        <p:spPr>
          <a:xfrm>
            <a:off x="999918" y="41144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FC53D2-A9D1-B64E-0491-C41F64667B20}"/>
              </a:ext>
            </a:extLst>
          </p:cNvPr>
          <p:cNvSpPr txBox="1"/>
          <p:nvPr/>
        </p:nvSpPr>
        <p:spPr>
          <a:xfrm>
            <a:off x="2273303" y="45270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C33DCC-347B-D62B-A1CD-8DBE9FE3DBF8}"/>
              </a:ext>
            </a:extLst>
          </p:cNvPr>
          <p:cNvSpPr txBox="1"/>
          <p:nvPr/>
        </p:nvSpPr>
        <p:spPr>
          <a:xfrm>
            <a:off x="2843140" y="56395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F86291-44D3-8E53-9107-AF335638B333}"/>
              </a:ext>
            </a:extLst>
          </p:cNvPr>
          <p:cNvSpPr txBox="1"/>
          <p:nvPr/>
        </p:nvSpPr>
        <p:spPr>
          <a:xfrm>
            <a:off x="2024346" y="32670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EF0B64-6BBF-9EC3-EAC1-A150648DD829}"/>
              </a:ext>
            </a:extLst>
          </p:cNvPr>
          <p:cNvSpPr txBox="1"/>
          <p:nvPr/>
        </p:nvSpPr>
        <p:spPr>
          <a:xfrm>
            <a:off x="3395837" y="3607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6FF227-6A39-3947-9C92-095D84999BA2}"/>
              </a:ext>
            </a:extLst>
          </p:cNvPr>
          <p:cNvSpPr txBox="1"/>
          <p:nvPr/>
        </p:nvSpPr>
        <p:spPr>
          <a:xfrm>
            <a:off x="4038999" y="46943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371ACF-6A90-3524-D0C0-E5D456DFFD85}"/>
              </a:ext>
            </a:extLst>
          </p:cNvPr>
          <p:cNvSpPr txBox="1"/>
          <p:nvPr/>
        </p:nvSpPr>
        <p:spPr>
          <a:xfrm>
            <a:off x="5353629" y="53436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3" name="Content Placeholder 5">
            <a:extLst>
              <a:ext uri="{FF2B5EF4-FFF2-40B4-BE49-F238E27FC236}">
                <a16:creationId xmlns:a16="http://schemas.microsoft.com/office/drawing/2014/main" id="{73F57956-19D7-4BA7-0433-DAF331A48105}"/>
              </a:ext>
            </a:extLst>
          </p:cNvPr>
          <p:cNvSpPr txBox="1">
            <a:spLocks/>
          </p:cNvSpPr>
          <p:nvPr/>
        </p:nvSpPr>
        <p:spPr>
          <a:xfrm>
            <a:off x="5147889" y="2672793"/>
            <a:ext cx="5167446" cy="3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next_frontier</a:t>
            </a:r>
            <a:r>
              <a:rPr lang="en-US" sz="1800" dirty="0">
                <a:latin typeface="Consolas" panose="020B0609020204030204" pitchFamily="49" charset="0"/>
              </a:rPr>
              <a:t> = frontier</a:t>
            </a:r>
          </a:p>
        </p:txBody>
      </p:sp>
      <p:sp>
        <p:nvSpPr>
          <p:cNvPr id="64" name="Content Placeholder 5">
            <a:extLst>
              <a:ext uri="{FF2B5EF4-FFF2-40B4-BE49-F238E27FC236}">
                <a16:creationId xmlns:a16="http://schemas.microsoft.com/office/drawing/2014/main" id="{E412B4C9-840C-DA18-526A-EDB02C0E2A9C}"/>
              </a:ext>
            </a:extLst>
          </p:cNvPr>
          <p:cNvSpPr txBox="1">
            <a:spLocks/>
          </p:cNvSpPr>
          <p:nvPr/>
        </p:nvSpPr>
        <p:spPr>
          <a:xfrm>
            <a:off x="5216478" y="3056647"/>
            <a:ext cx="6712320" cy="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| </a:t>
            </a:r>
            <a:r>
              <a:rPr lang="en-US" sz="1800" b="1" dirty="0">
                <a:solidFill>
                  <a:schemeClr val="accent5"/>
                </a:solidFill>
                <a:latin typeface="Consolas" panose="020B0609020204030204" pitchFamily="49" charset="0"/>
              </a:rPr>
              <a:t>transform</a:t>
            </a:r>
            <a:r>
              <a:rPr lang="en-US" sz="1800" dirty="0">
                <a:latin typeface="Consolas" panose="020B0609020204030204" pitchFamily="49" charset="0"/>
              </a:rPr>
              <a:t>([&amp;](vertex u) {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neighbors(u); })</a:t>
            </a:r>
          </a:p>
        </p:txBody>
      </p:sp>
      <p:sp>
        <p:nvSpPr>
          <p:cNvPr id="65" name="Content Placeholder 5">
            <a:extLst>
              <a:ext uri="{FF2B5EF4-FFF2-40B4-BE49-F238E27FC236}">
                <a16:creationId xmlns:a16="http://schemas.microsoft.com/office/drawing/2014/main" id="{A44A0C3F-656D-3044-EA78-AF3AA0C0F0AC}"/>
              </a:ext>
            </a:extLst>
          </p:cNvPr>
          <p:cNvSpPr txBox="1">
            <a:spLocks/>
          </p:cNvSpPr>
          <p:nvPr/>
        </p:nvSpPr>
        <p:spPr>
          <a:xfrm>
            <a:off x="5216478" y="3501738"/>
            <a:ext cx="1736865" cy="379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| </a:t>
            </a:r>
            <a:r>
              <a:rPr lang="en-US" sz="1800" b="1" dirty="0">
                <a:solidFill>
                  <a:schemeClr val="accent5"/>
                </a:solidFill>
                <a:latin typeface="Consolas" panose="020B0609020204030204" pitchFamily="49" charset="0"/>
              </a:rPr>
              <a:t>flatten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089C3F0D-FF3B-CD31-F01C-F52C9DAF38A0}"/>
              </a:ext>
            </a:extLst>
          </p:cNvPr>
          <p:cNvSpPr txBox="1">
            <a:spLocks/>
          </p:cNvSpPr>
          <p:nvPr/>
        </p:nvSpPr>
        <p:spPr>
          <a:xfrm>
            <a:off x="5216477" y="3920219"/>
            <a:ext cx="6870748" cy="65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| </a:t>
            </a:r>
            <a:r>
              <a:rPr lang="en-US" sz="1800" b="1" dirty="0">
                <a:solidFill>
                  <a:schemeClr val="accent5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latin typeface="Consolas" panose="020B0609020204030204" pitchFamily="49" charset="0"/>
              </a:rPr>
              <a:t>([&amp;](vertex u)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label[u].compare_exchange(-1, distance); })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1C120DA-9A22-D337-5EC5-8F69E59006CD}"/>
              </a:ext>
            </a:extLst>
          </p:cNvPr>
          <p:cNvSpPr/>
          <p:nvPr/>
        </p:nvSpPr>
        <p:spPr>
          <a:xfrm>
            <a:off x="6601025" y="5239680"/>
            <a:ext cx="4256049" cy="1005771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This is just a composition of a few lazy adapters!</a:t>
            </a:r>
            <a:endParaRPr lang="en-US" sz="24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F484D14-2362-F316-42D5-090B1E4275AB}"/>
              </a:ext>
            </a:extLst>
          </p:cNvPr>
          <p:cNvSpPr txBox="1">
            <a:spLocks/>
          </p:cNvSpPr>
          <p:nvPr/>
        </p:nvSpPr>
        <p:spPr>
          <a:xfrm>
            <a:off x="5216477" y="4470698"/>
            <a:ext cx="6613666" cy="37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| </a:t>
            </a:r>
            <a:r>
              <a:rPr lang="en-US" sz="18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to_sequence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8235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27" grpId="0" animBg="1"/>
      <p:bldP spid="28" grpId="0" animBg="1"/>
      <p:bldP spid="29" grpId="0" animBg="1"/>
      <p:bldP spid="55" grpId="0"/>
      <p:bldP spid="56" grpId="0"/>
      <p:bldP spid="57" grpId="0"/>
      <p:bldP spid="58" grpId="0"/>
      <p:bldP spid="63" grpId="0" build="p"/>
      <p:bldP spid="64" grpId="0" build="p"/>
      <p:bldP spid="65" grpId="0" build="p"/>
      <p:bldP spid="66" grpId="0" build="p"/>
      <p:bldP spid="67" grpId="0" animBg="1"/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CB5F-F97D-1BD0-A862-EF3E119B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BFS speedup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5B3E041-014C-E560-87C6-7E0103056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36" y="1928853"/>
            <a:ext cx="6162040" cy="418933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Array-materialized pipeline: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Every stage writes an intermediate array; at least </a:t>
            </a:r>
            <a:r>
              <a:rPr lang="en-US" sz="2400" b="1" dirty="0"/>
              <a:t>four writes per vertex</a:t>
            </a:r>
            <a:r>
              <a:rPr lang="en-US" sz="2400" dirty="0"/>
              <a:t>, possibly more with duplicates</a:t>
            </a:r>
          </a:p>
          <a:p>
            <a:pPr marL="0" indent="0">
              <a:buNone/>
            </a:pPr>
            <a:r>
              <a:rPr lang="en-US" b="1" dirty="0"/>
              <a:t>Block-lazy pipeline: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Still does multiple </a:t>
            </a:r>
            <a:r>
              <a:rPr lang="en-US" sz="2400" i="1" dirty="0"/>
              <a:t>reads</a:t>
            </a:r>
            <a:r>
              <a:rPr lang="en-US" sz="2400" dirty="0"/>
              <a:t> per element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But </a:t>
            </a:r>
            <a:r>
              <a:rPr lang="en-US" sz="2400" b="1" dirty="0"/>
              <a:t>most intermediate writes are fused away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Fused version only needs </a:t>
            </a:r>
            <a:r>
              <a:rPr lang="en-US" sz="2400" b="1" dirty="0"/>
              <a:t>two writes per vertex</a:t>
            </a:r>
            <a:r>
              <a:rPr lang="en-US" sz="2400" dirty="0"/>
              <a:t> instead of four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Result is roughly 2x better scalability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B7223-56FB-B495-704D-67FF1E8B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9757D-2C8B-76A4-A654-4BC2F9E7C949}"/>
              </a:ext>
            </a:extLst>
          </p:cNvPr>
          <p:cNvSpPr txBox="1"/>
          <p:nvPr/>
        </p:nvSpPr>
        <p:spPr>
          <a:xfrm>
            <a:off x="8270488" y="1373942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Speedup vs threads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BC4A3F-6DD2-8F7E-CF9F-B71D3F061C59}"/>
              </a:ext>
            </a:extLst>
          </p:cNvPr>
          <p:cNvGrpSpPr/>
          <p:nvPr/>
        </p:nvGrpSpPr>
        <p:grpSpPr>
          <a:xfrm>
            <a:off x="7225150" y="1743274"/>
            <a:ext cx="4063531" cy="3940601"/>
            <a:chOff x="6542039" y="1887770"/>
            <a:chExt cx="4404750" cy="42714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1DC69-9FE4-0031-6C40-847863C90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2039" y="1887770"/>
              <a:ext cx="4404750" cy="427149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99B750-FA6A-A7FE-51CF-7B351F2C1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3224" y="5857253"/>
              <a:ext cx="3810893" cy="29458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E2D55D-11DC-D77B-9B33-11B142505841}"/>
              </a:ext>
            </a:extLst>
          </p:cNvPr>
          <p:cNvGrpSpPr/>
          <p:nvPr/>
        </p:nvGrpSpPr>
        <p:grpSpPr>
          <a:xfrm>
            <a:off x="7599648" y="5785986"/>
            <a:ext cx="1812516" cy="400110"/>
            <a:chOff x="1312434" y="5848665"/>
            <a:chExt cx="1812516" cy="40011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180271-DD4D-12EF-F5E6-0F08B1989B5E}"/>
                </a:ext>
              </a:extLst>
            </p:cNvPr>
            <p:cNvSpPr/>
            <p:nvPr/>
          </p:nvSpPr>
          <p:spPr>
            <a:xfrm>
              <a:off x="1312434" y="5916705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7F3534-A67A-EDB0-2AFF-684B4992D432}"/>
                </a:ext>
              </a:extLst>
            </p:cNvPr>
            <p:cNvSpPr txBox="1"/>
            <p:nvPr/>
          </p:nvSpPr>
          <p:spPr>
            <a:xfrm>
              <a:off x="1529641" y="5848665"/>
              <a:ext cx="15953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Block-lazy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133E15-80B7-46D9-3BEF-248571906A0A}"/>
              </a:ext>
            </a:extLst>
          </p:cNvPr>
          <p:cNvGrpSpPr/>
          <p:nvPr/>
        </p:nvGrpSpPr>
        <p:grpSpPr>
          <a:xfrm>
            <a:off x="9603965" y="5785986"/>
            <a:ext cx="1571547" cy="400110"/>
            <a:chOff x="9603965" y="5918066"/>
            <a:chExt cx="1571547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3FDA9D-3F61-A44B-65B0-8C0AAD2497FB}"/>
                </a:ext>
              </a:extLst>
            </p:cNvPr>
            <p:cNvSpPr txBox="1"/>
            <p:nvPr/>
          </p:nvSpPr>
          <p:spPr>
            <a:xfrm>
              <a:off x="9862332" y="5918066"/>
              <a:ext cx="13131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Non-lazy</a:t>
              </a: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082A8E17-1103-3997-C5E8-B25BB01B74D4}"/>
                </a:ext>
              </a:extLst>
            </p:cNvPr>
            <p:cNvSpPr/>
            <p:nvPr/>
          </p:nvSpPr>
          <p:spPr>
            <a:xfrm rot="10800000">
              <a:off x="9603965" y="6003467"/>
              <a:ext cx="279883" cy="251582"/>
            </a:xfrm>
            <a:prstGeom prst="triangle">
              <a:avLst/>
            </a:prstGeom>
            <a:solidFill>
              <a:srgbClr val="007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410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4597F5-0C87-C990-2CBD-85698FAB9D94}"/>
              </a:ext>
            </a:extLst>
          </p:cNvPr>
          <p:cNvSpPr/>
          <p:nvPr/>
        </p:nvSpPr>
        <p:spPr>
          <a:xfrm>
            <a:off x="6733534" y="4026740"/>
            <a:ext cx="506101" cy="409574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ED98E4-371D-8B5E-F2B7-243DDCEC66D8}"/>
              </a:ext>
            </a:extLst>
          </p:cNvPr>
          <p:cNvSpPr/>
          <p:nvPr/>
        </p:nvSpPr>
        <p:spPr>
          <a:xfrm>
            <a:off x="7643171" y="4018672"/>
            <a:ext cx="506101" cy="409574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4A93B-E4F5-523F-E0BD-AF566165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big integer addition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D3458-7AAD-BF07-460F-201AE069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CDB60A-8E9A-9362-1DF6-C6EEE42D7AFF}"/>
              </a:ext>
            </a:extLst>
          </p:cNvPr>
          <p:cNvSpPr/>
          <p:nvPr/>
        </p:nvSpPr>
        <p:spPr>
          <a:xfrm>
            <a:off x="709031" y="1690688"/>
            <a:ext cx="10773938" cy="67337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Given two integers represented as </a:t>
            </a:r>
            <a:r>
              <a:rPr lang="en-US" sz="2400" b="1" dirty="0">
                <a:solidFill>
                  <a:schemeClr val="tx1"/>
                </a:solidFill>
              </a:rPr>
              <a:t>ranges of digits</a:t>
            </a:r>
            <a:r>
              <a:rPr lang="en-US" sz="2400" dirty="0">
                <a:solidFill>
                  <a:schemeClr val="tx1"/>
                </a:solidFill>
              </a:rPr>
              <a:t>, compute their sum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9E8BF-4FD3-0B94-9C9E-AEF1FDC6F20B}"/>
              </a:ext>
            </a:extLst>
          </p:cNvPr>
          <p:cNvSpPr txBox="1"/>
          <p:nvPr/>
        </p:nvSpPr>
        <p:spPr>
          <a:xfrm>
            <a:off x="3323063" y="2675340"/>
            <a:ext cx="5835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</a:rPr>
              <a:t>3   1   6   4   2   3   2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26F18-5278-8FCA-ED18-BAA24D522F33}"/>
              </a:ext>
            </a:extLst>
          </p:cNvPr>
          <p:cNvSpPr txBox="1"/>
          <p:nvPr/>
        </p:nvSpPr>
        <p:spPr>
          <a:xfrm>
            <a:off x="2873183" y="3213808"/>
            <a:ext cx="6285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</a:rPr>
              <a:t>+ 2   7   3   5   8   8   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E86FE5-689A-2E6C-CF83-5B391F33A06E}"/>
              </a:ext>
            </a:extLst>
          </p:cNvPr>
          <p:cNvCxnSpPr>
            <a:cxnSpLocks/>
          </p:cNvCxnSpPr>
          <p:nvPr/>
        </p:nvCxnSpPr>
        <p:spPr>
          <a:xfrm>
            <a:off x="3323063" y="3912307"/>
            <a:ext cx="583525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F3E6BF-F5D0-82F2-9295-67F3F21A913C}"/>
              </a:ext>
            </a:extLst>
          </p:cNvPr>
          <p:cNvSpPr txBox="1"/>
          <p:nvPr/>
        </p:nvSpPr>
        <p:spPr>
          <a:xfrm>
            <a:off x="794636" y="4005896"/>
            <a:ext cx="2245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Pairwise add</a:t>
            </a:r>
            <a:endParaRPr lang="en-US" sz="2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EBF613-B4C1-CDA6-56FD-983B32C97D88}"/>
              </a:ext>
            </a:extLst>
          </p:cNvPr>
          <p:cNvCxnSpPr>
            <a:cxnSpLocks/>
          </p:cNvCxnSpPr>
          <p:nvPr/>
        </p:nvCxnSpPr>
        <p:spPr>
          <a:xfrm>
            <a:off x="3323063" y="5085787"/>
            <a:ext cx="5867921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D5DF2D-0B81-014A-20B9-12516A59674E}"/>
              </a:ext>
            </a:extLst>
          </p:cNvPr>
          <p:cNvSpPr txBox="1"/>
          <p:nvPr/>
        </p:nvSpPr>
        <p:spPr>
          <a:xfrm>
            <a:off x="3219564" y="5136012"/>
            <a:ext cx="586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Consolas" panose="020B0609020204030204" pitchFamily="49" charset="0"/>
              </a:rPr>
              <a:t>5 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r>
              <a:rPr lang="en-US" sz="3200" b="1" dirty="0">
                <a:latin typeface="Consolas" panose="020B0609020204030204" pitchFamily="49" charset="0"/>
              </a:rPr>
              <a:t>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0</a:t>
            </a:r>
            <a:r>
              <a:rPr lang="en-US" sz="3200" b="1" dirty="0">
                <a:latin typeface="Consolas" panose="020B0609020204030204" pitchFamily="49" charset="0"/>
              </a:rPr>
              <a:t>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0</a:t>
            </a:r>
            <a:r>
              <a:rPr lang="en-US" sz="3200" b="1" dirty="0">
                <a:latin typeface="Consolas" panose="020B0609020204030204" pitchFamily="49" charset="0"/>
              </a:rPr>
              <a:t>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1 </a:t>
            </a:r>
            <a:r>
              <a:rPr lang="en-US" sz="3200" b="1" dirty="0">
                <a:latin typeface="Consolas" panose="020B0609020204030204" pitchFamily="49" charset="0"/>
              </a:rPr>
              <a:t>  1   6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8151A3-27F0-148F-0D5B-B9ABD435680A}"/>
              </a:ext>
            </a:extLst>
          </p:cNvPr>
          <p:cNvSpPr txBox="1"/>
          <p:nvPr/>
        </p:nvSpPr>
        <p:spPr>
          <a:xfrm>
            <a:off x="1889282" y="4561150"/>
            <a:ext cx="1099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Carry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24A8D-4468-2A79-8427-7F11A70ADA6D}"/>
              </a:ext>
            </a:extLst>
          </p:cNvPr>
          <p:cNvSpPr txBox="1"/>
          <p:nvPr/>
        </p:nvSpPr>
        <p:spPr>
          <a:xfrm>
            <a:off x="1426366" y="5150846"/>
            <a:ext cx="21675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Add carry</a:t>
            </a:r>
          </a:p>
          <a:p>
            <a:r>
              <a:rPr lang="en-US" sz="2400" b="1" dirty="0"/>
              <a:t>(mod 10)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8CDB1-E5BD-642D-D9A7-72743BE77D83}"/>
              </a:ext>
            </a:extLst>
          </p:cNvPr>
          <p:cNvSpPr txBox="1"/>
          <p:nvPr/>
        </p:nvSpPr>
        <p:spPr>
          <a:xfrm>
            <a:off x="3020061" y="3912307"/>
            <a:ext cx="6067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Consolas" panose="020B0609020204030204" pitchFamily="49" charset="0"/>
              </a:rPr>
              <a:t>5   8   9   9  10  11   6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1B832A-9F01-A080-69B7-1A93705B36D4}"/>
              </a:ext>
            </a:extLst>
          </p:cNvPr>
          <p:cNvCxnSpPr>
            <a:cxnSpLocks/>
          </p:cNvCxnSpPr>
          <p:nvPr/>
        </p:nvCxnSpPr>
        <p:spPr>
          <a:xfrm>
            <a:off x="3290394" y="4513029"/>
            <a:ext cx="5867921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70D7DC-3AD8-C289-95D0-159ABD6D5D8A}"/>
              </a:ext>
            </a:extLst>
          </p:cNvPr>
          <p:cNvSpPr txBox="1"/>
          <p:nvPr/>
        </p:nvSpPr>
        <p:spPr>
          <a:xfrm>
            <a:off x="3039811" y="4513029"/>
            <a:ext cx="6067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Consolas" panose="020B0609020204030204" pitchFamily="49" charset="0"/>
              </a:rPr>
              <a:t>+0  +1  +1  +1  +1  +0  +0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4C520982-F348-7AFC-5379-8FA5FA0928AD}"/>
              </a:ext>
            </a:extLst>
          </p:cNvPr>
          <p:cNvSpPr txBox="1">
            <a:spLocks/>
          </p:cNvSpPr>
          <p:nvPr/>
        </p:nvSpPr>
        <p:spPr>
          <a:xfrm>
            <a:off x="681984" y="6342173"/>
            <a:ext cx="10263385" cy="45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Note: </a:t>
            </a:r>
            <a:r>
              <a:rPr lang="en-US" sz="1800" dirty="0"/>
              <a:t>Using base-10 for simplicity. In real life use a (much) bigger base for efficiency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F58C04-E946-B943-27E7-4732D4FB6FD4}"/>
              </a:ext>
            </a:extLst>
          </p:cNvPr>
          <p:cNvCxnSpPr/>
          <p:nvPr/>
        </p:nvCxnSpPr>
        <p:spPr>
          <a:xfrm>
            <a:off x="794636" y="6310019"/>
            <a:ext cx="100380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C2A5727A-BC0E-DFCE-AD27-E80E4E911A31}"/>
              </a:ext>
            </a:extLst>
          </p:cNvPr>
          <p:cNvSpPr/>
          <p:nvPr/>
        </p:nvSpPr>
        <p:spPr>
          <a:xfrm rot="16200000">
            <a:off x="6271172" y="4409291"/>
            <a:ext cx="656963" cy="539310"/>
          </a:xfrm>
          <a:prstGeom prst="arc">
            <a:avLst>
              <a:gd name="adj1" fmla="val 16200000"/>
              <a:gd name="adj2" fmla="val 5492099"/>
            </a:avLst>
          </a:prstGeom>
          <a:ln w="63500">
            <a:solidFill>
              <a:srgbClr val="00B0F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161D133-D43E-9CCE-ED87-394C7501DDC7}"/>
              </a:ext>
            </a:extLst>
          </p:cNvPr>
          <p:cNvSpPr/>
          <p:nvPr/>
        </p:nvSpPr>
        <p:spPr>
          <a:xfrm rot="16200000">
            <a:off x="5425890" y="4373787"/>
            <a:ext cx="656963" cy="539310"/>
          </a:xfrm>
          <a:prstGeom prst="arc">
            <a:avLst>
              <a:gd name="adj1" fmla="val 16200000"/>
              <a:gd name="adj2" fmla="val 5492099"/>
            </a:avLst>
          </a:prstGeom>
          <a:ln w="63500">
            <a:solidFill>
              <a:srgbClr val="00B0F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1B01249-710C-FAB9-CA8B-730E03193142}"/>
              </a:ext>
            </a:extLst>
          </p:cNvPr>
          <p:cNvSpPr/>
          <p:nvPr/>
        </p:nvSpPr>
        <p:spPr>
          <a:xfrm rot="16200000">
            <a:off x="4531827" y="4395877"/>
            <a:ext cx="656963" cy="539310"/>
          </a:xfrm>
          <a:prstGeom prst="arc">
            <a:avLst>
              <a:gd name="adj1" fmla="val 16200000"/>
              <a:gd name="adj2" fmla="val 5492099"/>
            </a:avLst>
          </a:prstGeom>
          <a:ln w="63500">
            <a:solidFill>
              <a:srgbClr val="00B0F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77E5DA-DF34-55DF-483F-2E1E7C0B87B7}"/>
              </a:ext>
            </a:extLst>
          </p:cNvPr>
          <p:cNvSpPr/>
          <p:nvPr/>
        </p:nvSpPr>
        <p:spPr>
          <a:xfrm>
            <a:off x="9357818" y="3609659"/>
            <a:ext cx="2011352" cy="1454760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Carries "jump" over streaks of 9s</a:t>
            </a:r>
            <a:endParaRPr lang="en-US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2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6" grpId="0"/>
      <p:bldP spid="7" grpId="0"/>
      <p:bldP spid="15" grpId="0"/>
      <p:bldP spid="17" grpId="0"/>
      <p:bldP spid="21" grpId="0"/>
      <p:bldP spid="24" grpId="0"/>
      <p:bldP spid="11" grpId="0"/>
      <p:bldP spid="26" grpId="0"/>
      <p:bldP spid="27" grpId="0" build="allAtOnce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E09E-8868-809A-07EE-6A78B7F4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integer addition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B60A6-449D-6E3F-84F1-1E0B759A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CD8CB2C-E6B4-1AC0-0D56-820AA50AFAC9}"/>
              </a:ext>
            </a:extLst>
          </p:cNvPr>
          <p:cNvSpPr txBox="1">
            <a:spLocks/>
          </p:cNvSpPr>
          <p:nvPr/>
        </p:nvSpPr>
        <p:spPr>
          <a:xfrm>
            <a:off x="4812406" y="1995198"/>
            <a:ext cx="5519935" cy="433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sums =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zip_with</a:t>
            </a:r>
            <a:r>
              <a:rPr lang="en-US" sz="1800" dirty="0">
                <a:latin typeface="Consolas" panose="020B0609020204030204" pitchFamily="49" charset="0"/>
              </a:rPr>
              <a:t>(std::plus&lt;&gt;{}, A, B);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7FD3682-57B4-3AB6-C5E0-E295ADEF985D}"/>
              </a:ext>
            </a:extLst>
          </p:cNvPr>
          <p:cNvSpPr txBox="1">
            <a:spLocks/>
          </p:cNvSpPr>
          <p:nvPr/>
        </p:nvSpPr>
        <p:spPr>
          <a:xfrm>
            <a:off x="4812406" y="2440528"/>
            <a:ext cx="6912873" cy="69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carries = sums |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scan</a:t>
            </a:r>
            <a:r>
              <a:rPr lang="en-US" sz="1800" dirty="0">
                <a:latin typeface="Consolas" panose="020B0609020204030204" pitchFamily="49" charset="0"/>
              </a:rPr>
              <a:t>(0, [](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prev, 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x)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x == 9 ? prev : x; });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7680231-5E12-9256-F6FE-FFACE54B0C89}"/>
              </a:ext>
            </a:extLst>
          </p:cNvPr>
          <p:cNvSpPr txBox="1">
            <a:spLocks/>
          </p:cNvSpPr>
          <p:nvPr/>
        </p:nvSpPr>
        <p:spPr>
          <a:xfrm>
            <a:off x="4812406" y="3131440"/>
            <a:ext cx="7005835" cy="69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result =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zip_with</a:t>
            </a:r>
            <a:r>
              <a:rPr lang="en-US" sz="1800" dirty="0">
                <a:latin typeface="Consolas" panose="020B0609020204030204" pitchFamily="49" charset="0"/>
              </a:rPr>
              <a:t>([](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carry, 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s) {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((carry &gt;= 10) + s) % 10; }, carries, sums);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3D0EB1-D31A-2C39-8DC8-3A820DD6AB9B}"/>
              </a:ext>
            </a:extLst>
          </p:cNvPr>
          <p:cNvSpPr/>
          <p:nvPr/>
        </p:nvSpPr>
        <p:spPr>
          <a:xfrm>
            <a:off x="2784319" y="4161659"/>
            <a:ext cx="6210303" cy="1438440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Complicated to understand, but its just another composition of adapters!!</a:t>
            </a:r>
            <a:endParaRPr lang="en-US" sz="24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5F1FB32-1287-7D51-3B18-DA5091A465DF}"/>
              </a:ext>
            </a:extLst>
          </p:cNvPr>
          <p:cNvSpPr txBox="1">
            <a:spLocks/>
          </p:cNvSpPr>
          <p:nvPr/>
        </p:nvSpPr>
        <p:spPr>
          <a:xfrm>
            <a:off x="903084" y="5917161"/>
            <a:ext cx="10263385" cy="8043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Note: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zip_with</a:t>
            </a:r>
            <a:r>
              <a:rPr lang="en-US" sz="1800" dirty="0">
                <a:latin typeface="Consolas" panose="020B0609020204030204" pitchFamily="49" charset="0"/>
              </a:rPr>
              <a:t>(f, A, B)</a:t>
            </a:r>
            <a:r>
              <a:rPr lang="en-US" sz="1800" dirty="0"/>
              <a:t> is syntactic sugar for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sz="1800" dirty="0">
                <a:latin typeface="Consolas" panose="020B0609020204030204" pitchFamily="49" charset="0"/>
              </a:rPr>
              <a:t>(A,B) |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transform</a:t>
            </a:r>
            <a:r>
              <a:rPr lang="en-US" sz="1800" dirty="0">
                <a:latin typeface="Consolas" panose="020B0609020204030204" pitchFamily="49" charset="0"/>
              </a:rPr>
              <a:t>([&amp;](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 t) -&gt; </a:t>
            </a:r>
            <a:r>
              <a:rPr lang="en-US" sz="1800" b="1" dirty="0" err="1">
                <a:latin typeface="Consolas" panose="020B0609020204030204" pitchFamily="49" charset="0"/>
              </a:rPr>
              <a:t>decltype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b="1" dirty="0">
                <a:latin typeface="Consolas" panose="020B0609020204030204" pitchFamily="49" charset="0"/>
              </a:rPr>
              <a:t>auto</a:t>
            </a:r>
            <a:r>
              <a:rPr lang="en-US" sz="1800" dirty="0">
                <a:latin typeface="Consolas" panose="020B0609020204030204" pitchFamily="49" charset="0"/>
              </a:rPr>
              <a:t>) {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std::apply(f, t); });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A0FF00-1F7C-297F-7197-96C59A90076B}"/>
              </a:ext>
            </a:extLst>
          </p:cNvPr>
          <p:cNvCxnSpPr/>
          <p:nvPr/>
        </p:nvCxnSpPr>
        <p:spPr>
          <a:xfrm>
            <a:off x="1001389" y="5917161"/>
            <a:ext cx="100380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C8D46C-6B2A-4D9F-1D46-0DDC559E82BE}"/>
              </a:ext>
            </a:extLst>
          </p:cNvPr>
          <p:cNvSpPr/>
          <p:nvPr/>
        </p:nvSpPr>
        <p:spPr>
          <a:xfrm>
            <a:off x="3109225" y="2088155"/>
            <a:ext cx="384915" cy="285820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Consolas" panose="020B0609020204030204" pitchFamily="49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2A26E5-74BE-DAD9-57D9-74454F3BD795}"/>
              </a:ext>
            </a:extLst>
          </p:cNvPr>
          <p:cNvSpPr/>
          <p:nvPr/>
        </p:nvSpPr>
        <p:spPr>
          <a:xfrm>
            <a:off x="3641658" y="2089107"/>
            <a:ext cx="433649" cy="303917"/>
          </a:xfrm>
          <a:prstGeom prst="roundRect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6AEE75-1C9C-D23A-527A-10BDE72047AA}"/>
              </a:ext>
            </a:extLst>
          </p:cNvPr>
          <p:cNvCxnSpPr>
            <a:cxnSpLocks/>
          </p:cNvCxnSpPr>
          <p:nvPr/>
        </p:nvCxnSpPr>
        <p:spPr>
          <a:xfrm>
            <a:off x="921674" y="2029520"/>
            <a:ext cx="3725290" cy="1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D65AB9-CEC1-5474-89EE-5ED4C473B83F}"/>
              </a:ext>
            </a:extLst>
          </p:cNvPr>
          <p:cNvCxnSpPr>
            <a:cxnSpLocks/>
          </p:cNvCxnSpPr>
          <p:nvPr/>
        </p:nvCxnSpPr>
        <p:spPr>
          <a:xfrm>
            <a:off x="933830" y="2473208"/>
            <a:ext cx="3746146" cy="1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1BCDA69-625D-6692-6B11-88939A203C00}"/>
              </a:ext>
            </a:extLst>
          </p:cNvPr>
          <p:cNvSpPr txBox="1"/>
          <p:nvPr/>
        </p:nvSpPr>
        <p:spPr>
          <a:xfrm>
            <a:off x="838200" y="3223481"/>
            <a:ext cx="3781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nsolas" panose="020B0609020204030204" pitchFamily="49" charset="0"/>
              </a:rPr>
              <a:t>5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r>
              <a:rPr lang="en-US" sz="2000" b="1" dirty="0">
                <a:latin typeface="Consolas" panose="020B0609020204030204" pitchFamily="49" charset="0"/>
              </a:rPr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2000" b="1" dirty="0">
                <a:latin typeface="Consolas" panose="020B0609020204030204" pitchFamily="49" charset="0"/>
              </a:rPr>
              <a:t>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1 </a:t>
            </a:r>
            <a:r>
              <a:rPr lang="en-US" sz="2000" b="1" dirty="0">
                <a:latin typeface="Consolas" panose="020B0609020204030204" pitchFamily="49" charset="0"/>
              </a:rPr>
              <a:t>  1   6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7CC48F7-0CE5-FCC7-8EB1-1407E8BC34A5}"/>
              </a:ext>
            </a:extLst>
          </p:cNvPr>
          <p:cNvCxnSpPr>
            <a:cxnSpLocks/>
          </p:cNvCxnSpPr>
          <p:nvPr/>
        </p:nvCxnSpPr>
        <p:spPr>
          <a:xfrm>
            <a:off x="921674" y="3151958"/>
            <a:ext cx="3746146" cy="1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1E4514-8827-126E-2920-2A659DAF29B8}"/>
              </a:ext>
            </a:extLst>
          </p:cNvPr>
          <p:cNvSpPr txBox="1"/>
          <p:nvPr/>
        </p:nvSpPr>
        <p:spPr>
          <a:xfrm>
            <a:off x="726322" y="2533637"/>
            <a:ext cx="390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nsolas" panose="020B0609020204030204" pitchFamily="49" charset="0"/>
              </a:rPr>
              <a:t>8  </a:t>
            </a:r>
            <a:r>
              <a:rPr lang="en-US" sz="2000" b="1" dirty="0">
                <a:solidFill>
                  <a:srgbClr val="D6272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D6272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D6272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D62728"/>
                </a:solidFill>
                <a:latin typeface="Consolas" panose="020B0609020204030204" pitchFamily="49" charset="0"/>
              </a:rPr>
              <a:t>11</a:t>
            </a:r>
            <a:r>
              <a:rPr lang="en-US" sz="2000" b="1" dirty="0">
                <a:latin typeface="Consolas" panose="020B0609020204030204" pitchFamily="49" charset="0"/>
              </a:rPr>
              <a:t>   6   0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9C202C-E0C6-2BA5-CC85-EA615B5A4193}"/>
              </a:ext>
            </a:extLst>
          </p:cNvPr>
          <p:cNvSpPr txBox="1"/>
          <p:nvPr/>
        </p:nvSpPr>
        <p:spPr>
          <a:xfrm>
            <a:off x="726322" y="2034293"/>
            <a:ext cx="390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nsolas" panose="020B0609020204030204" pitchFamily="49" charset="0"/>
              </a:rPr>
              <a:t>5   8   9   9  10  11   6</a:t>
            </a:r>
          </a:p>
        </p:txBody>
      </p:sp>
    </p:spTree>
    <p:extLst>
      <p:ext uri="{BB962C8B-B14F-4D97-AF65-F5344CB8AC3E}">
        <p14:creationId xmlns:p14="http://schemas.microsoft.com/office/powerpoint/2010/main" val="232095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8" grpId="0" build="p"/>
      <p:bldP spid="9" grpId="0" animBg="1"/>
      <p:bldP spid="10" grpId="0" build="allAtOnce"/>
      <p:bldP spid="28" grpId="0" animBg="1"/>
      <p:bldP spid="29" grpId="0" animBg="1"/>
      <p:bldP spid="32" grpId="0"/>
      <p:bldP spid="43" grpId="0"/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71B8-2710-FBC3-45B3-1FE9E313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integer addition speedup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FE18E-ABBB-BDEC-D71D-0EEA0674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6CCF4E-7F36-398E-7006-CD42F587287C}"/>
              </a:ext>
            </a:extLst>
          </p:cNvPr>
          <p:cNvGrpSpPr/>
          <p:nvPr/>
        </p:nvGrpSpPr>
        <p:grpSpPr>
          <a:xfrm>
            <a:off x="7599648" y="5918066"/>
            <a:ext cx="1812516" cy="400110"/>
            <a:chOff x="1312434" y="5848665"/>
            <a:chExt cx="1812516" cy="40011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D7E177-93A6-B00F-B65F-87898954E83E}"/>
                </a:ext>
              </a:extLst>
            </p:cNvPr>
            <p:cNvSpPr/>
            <p:nvPr/>
          </p:nvSpPr>
          <p:spPr>
            <a:xfrm>
              <a:off x="1312434" y="5916705"/>
              <a:ext cx="225911" cy="225911"/>
            </a:xfrm>
            <a:prstGeom prst="ellipse">
              <a:avLst/>
            </a:prstGeom>
            <a:solidFill>
              <a:srgbClr val="1F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C566DC-306B-F3E2-221D-6E74CCA4CB9C}"/>
                </a:ext>
              </a:extLst>
            </p:cNvPr>
            <p:cNvSpPr txBox="1"/>
            <p:nvPr/>
          </p:nvSpPr>
          <p:spPr>
            <a:xfrm>
              <a:off x="1529641" y="5848665"/>
              <a:ext cx="15953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1F77B4"/>
                  </a:solidFill>
                  <a:latin typeface="Consolas" panose="020B0609020204030204" pitchFamily="49" charset="0"/>
                </a:rPr>
                <a:t>Block-lazy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AA7C88-BA29-5EF4-6261-57F983E95CA5}"/>
              </a:ext>
            </a:extLst>
          </p:cNvPr>
          <p:cNvGrpSpPr/>
          <p:nvPr/>
        </p:nvGrpSpPr>
        <p:grpSpPr>
          <a:xfrm>
            <a:off x="9603965" y="5918066"/>
            <a:ext cx="1571547" cy="400110"/>
            <a:chOff x="9603965" y="5918066"/>
            <a:chExt cx="1571547" cy="40011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7A35AA-7EE4-7154-C76B-05214EE072CA}"/>
                </a:ext>
              </a:extLst>
            </p:cNvPr>
            <p:cNvSpPr txBox="1"/>
            <p:nvPr/>
          </p:nvSpPr>
          <p:spPr>
            <a:xfrm>
              <a:off x="9862332" y="5918066"/>
              <a:ext cx="13131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57B357"/>
                  </a:solidFill>
                  <a:latin typeface="Consolas" panose="020B0609020204030204" pitchFamily="49" charset="0"/>
                </a:rPr>
                <a:t>Non-lazy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0496D5C-BABC-2C87-A351-3A4783768ED4}"/>
                </a:ext>
              </a:extLst>
            </p:cNvPr>
            <p:cNvSpPr/>
            <p:nvPr/>
          </p:nvSpPr>
          <p:spPr>
            <a:xfrm rot="10800000">
              <a:off x="9603965" y="6003467"/>
              <a:ext cx="279883" cy="251582"/>
            </a:xfrm>
            <a:prstGeom prst="triangle">
              <a:avLst/>
            </a:prstGeom>
            <a:solidFill>
              <a:srgbClr val="007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87E8D1-E8DC-3493-9C97-DE22E56EC7AF}"/>
              </a:ext>
            </a:extLst>
          </p:cNvPr>
          <p:cNvGrpSpPr/>
          <p:nvPr/>
        </p:nvGrpSpPr>
        <p:grpSpPr>
          <a:xfrm>
            <a:off x="7193780" y="1839299"/>
            <a:ext cx="4138504" cy="3969798"/>
            <a:chOff x="7193780" y="1839299"/>
            <a:chExt cx="4138504" cy="396979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F7B536-8CD3-E7B1-595D-A66CE5BA2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8920" y="1839299"/>
              <a:ext cx="4103364" cy="369803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C3ABF51-18FD-E44E-CF47-94362F35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9834" y="5537337"/>
              <a:ext cx="3515678" cy="27176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0D108E-3AC0-F4B3-76C9-F6330E96E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3780" y="2002133"/>
              <a:ext cx="395788" cy="3434709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9C85021-BB36-ED12-84E7-26DC67F29C06}"/>
              </a:ext>
            </a:extLst>
          </p:cNvPr>
          <p:cNvSpPr txBox="1"/>
          <p:nvPr/>
        </p:nvSpPr>
        <p:spPr>
          <a:xfrm>
            <a:off x="8270488" y="1506022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Speedup vs threads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7AD272A9-9326-02CD-F733-7257EB998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3299"/>
            <a:ext cx="5764568" cy="398347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Array-materialized pipeline: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Every stage writes an intermediate array, so, we do three writes per digit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Block-lazy pipeline: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All intermediate writes, except tiny per-block metadata is fused away.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We just directly write the result, which is one write per digit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Result is roughly 3x better scalability</a:t>
            </a:r>
          </a:p>
        </p:txBody>
      </p:sp>
    </p:spTree>
    <p:extLst>
      <p:ext uri="{BB962C8B-B14F-4D97-AF65-F5344CB8AC3E}">
        <p14:creationId xmlns:p14="http://schemas.microsoft.com/office/powerpoint/2010/main" val="45628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9CB2-89C7-8802-AA79-3E608724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out my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3F1B-57A3-2991-8865-ED986735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7735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https://github.com/cmuparlay/parlaylib</a:t>
            </a:r>
            <a:endParaRPr lang="en-US" dirty="0"/>
          </a:p>
          <a:p>
            <a:r>
              <a:rPr lang="en-US" dirty="0">
                <a:hlinkClick r:id="rId3"/>
              </a:rPr>
              <a:t>https://cmuparlay.github.io/parlaylib/algorithms/delayed.html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999F-98B9-33E9-80AD-03F0FA94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37</a:t>
            </a:fld>
            <a:endParaRPr lang="en-US"/>
          </a:p>
        </p:txBody>
      </p:sp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19C9427-9A8E-1006-742D-2E1136BB7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286" y="3062922"/>
            <a:ext cx="3293428" cy="32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18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6FE5-EF81-DC65-D432-16D2AD3E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7C4E7-88FF-9620-88C7-C3FC3544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6E94-881E-4BEF-8C2A-2F7F029DDAA1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99DBF7-E803-840C-97AA-518174F2C23F}"/>
              </a:ext>
            </a:extLst>
          </p:cNvPr>
          <p:cNvSpPr/>
          <p:nvPr/>
        </p:nvSpPr>
        <p:spPr>
          <a:xfrm>
            <a:off x="838200" y="1690688"/>
            <a:ext cx="10515600" cy="1005771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Bandwidth</a:t>
            </a:r>
            <a:r>
              <a:rPr lang="en-US" sz="2400" dirty="0">
                <a:solidFill>
                  <a:schemeClr val="tx1"/>
                </a:solidFill>
              </a:rPr>
              <a:t> matters a lot for parallel algorithms. Writing to unnecessary intermediate arrays hurts performance and kills scalability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487241-E0DD-ED34-D7B2-DD2B6678A1B2}"/>
              </a:ext>
            </a:extLst>
          </p:cNvPr>
          <p:cNvSpPr/>
          <p:nvPr/>
        </p:nvSpPr>
        <p:spPr>
          <a:xfrm>
            <a:off x="838200" y="2796994"/>
            <a:ext cx="10515600" cy="1005771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Lazy evaluation</a:t>
            </a:r>
            <a:r>
              <a:rPr lang="en-US" sz="2400" dirty="0">
                <a:solidFill>
                  <a:schemeClr val="tx1"/>
                </a:solidFill>
              </a:rPr>
              <a:t> enables </a:t>
            </a:r>
            <a:r>
              <a:rPr lang="en-US" sz="2400" b="1" dirty="0">
                <a:solidFill>
                  <a:schemeClr val="tx1"/>
                </a:solidFill>
              </a:rPr>
              <a:t>fusion</a:t>
            </a:r>
            <a:r>
              <a:rPr lang="en-US" sz="2400" dirty="0">
                <a:solidFill>
                  <a:schemeClr val="tx1"/>
                </a:solidFill>
              </a:rPr>
              <a:t> of adjacent operations, piping the output of one directly into the next to avoid the unnecessary intermediate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E0422D-E6A9-3BDB-5BFD-B1BDF8E429F5}"/>
              </a:ext>
            </a:extLst>
          </p:cNvPr>
          <p:cNvSpPr/>
          <p:nvPr/>
        </p:nvSpPr>
        <p:spPr>
          <a:xfrm>
            <a:off x="838200" y="3903300"/>
            <a:ext cx="10515600" cy="1340553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Parallelism </a:t>
            </a:r>
            <a:r>
              <a:rPr lang="en-US" sz="2400" dirty="0">
                <a:solidFill>
                  <a:schemeClr val="tx1"/>
                </a:solidFill>
              </a:rPr>
              <a:t>and </a:t>
            </a:r>
            <a:r>
              <a:rPr lang="en-US" sz="2400" b="1" dirty="0">
                <a:solidFill>
                  <a:schemeClr val="tx1"/>
                </a:solidFill>
              </a:rPr>
              <a:t>lazy evaluation</a:t>
            </a:r>
            <a:r>
              <a:rPr lang="en-US" sz="2400" dirty="0">
                <a:solidFill>
                  <a:schemeClr val="tx1"/>
                </a:solidFill>
              </a:rPr>
              <a:t> don't play well with standard iterators. We invent </a:t>
            </a:r>
            <a:r>
              <a:rPr lang="en-US" sz="2400" b="1" dirty="0">
                <a:solidFill>
                  <a:schemeClr val="tx1"/>
                </a:solidFill>
              </a:rPr>
              <a:t>block-</a:t>
            </a:r>
            <a:r>
              <a:rPr lang="en-US" sz="2400" b="1" dirty="0" err="1">
                <a:solidFill>
                  <a:schemeClr val="tx1"/>
                </a:solidFill>
              </a:rPr>
              <a:t>iterable</a:t>
            </a:r>
            <a:r>
              <a:rPr lang="en-US" sz="2400" dirty="0">
                <a:solidFill>
                  <a:schemeClr val="tx1"/>
                </a:solidFill>
              </a:rPr>
              <a:t> ranges with their own composable adapter algorithms that can express both parallelism </a:t>
            </a:r>
            <a:r>
              <a:rPr lang="en-US" sz="2400" i="1" dirty="0">
                <a:solidFill>
                  <a:schemeClr val="tx1"/>
                </a:solidFill>
              </a:rPr>
              <a:t>and</a:t>
            </a:r>
            <a:r>
              <a:rPr lang="en-US" sz="2400" dirty="0">
                <a:solidFill>
                  <a:schemeClr val="tx1"/>
                </a:solidFill>
              </a:rPr>
              <a:t> lazy evaluation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FCBE1F-A974-1049-3891-90F5C8CA804D}"/>
              </a:ext>
            </a:extLst>
          </p:cNvPr>
          <p:cNvSpPr/>
          <p:nvPr/>
        </p:nvSpPr>
        <p:spPr>
          <a:xfrm>
            <a:off x="838200" y="5346700"/>
            <a:ext cx="10515600" cy="1009650"/>
          </a:xfrm>
          <a:prstGeom prst="roundRect">
            <a:avLst/>
          </a:prstGeom>
          <a:solidFill>
            <a:srgbClr val="BFE7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Block-</a:t>
            </a:r>
            <a:r>
              <a:rPr lang="en-US" sz="2400" b="1" dirty="0" err="1">
                <a:solidFill>
                  <a:schemeClr val="tx1"/>
                </a:solidFill>
              </a:rPr>
              <a:t>iterable</a:t>
            </a:r>
            <a:r>
              <a:rPr lang="en-US" sz="2400" b="1" dirty="0">
                <a:solidFill>
                  <a:schemeClr val="tx1"/>
                </a:solidFill>
              </a:rPr>
              <a:t> adapter algorithms</a:t>
            </a:r>
            <a:r>
              <a:rPr lang="en-US" sz="2400" dirty="0">
                <a:solidFill>
                  <a:schemeClr val="tx1"/>
                </a:solidFill>
              </a:rPr>
              <a:t> can result in a big improvement in throughput and speedup compared to their memory-inefficient counterparts</a:t>
            </a:r>
          </a:p>
        </p:txBody>
      </p:sp>
    </p:spTree>
    <p:extLst>
      <p:ext uri="{BB962C8B-B14F-4D97-AF65-F5344CB8AC3E}">
        <p14:creationId xmlns:p14="http://schemas.microsoft.com/office/powerpoint/2010/main" val="230811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Proxima Nova"/>
        <a:ea typeface="DejaVu Sans"/>
        <a:cs typeface="DejaVu Sans"/>
      </a:majorFont>
      <a:minorFont>
        <a:latin typeface="Proxima Nova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17513</TotalTime>
  <Words>2634</Words>
  <Application>Microsoft Office PowerPoint</Application>
  <PresentationFormat>Widescreen</PresentationFormat>
  <Paragraphs>563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Proxima Nova</vt:lpstr>
      <vt:lpstr>Aptos</vt:lpstr>
      <vt:lpstr>Arial</vt:lpstr>
      <vt:lpstr>Cambria Math</vt:lpstr>
      <vt:lpstr>Consolas</vt:lpstr>
      <vt:lpstr>Office Theme</vt:lpstr>
      <vt:lpstr>PowerPoint Presentation</vt:lpstr>
      <vt:lpstr>What we'll learn today</vt:lpstr>
      <vt:lpstr>Scalability</vt:lpstr>
      <vt:lpstr>Performance of parallel algorithms</vt:lpstr>
      <vt:lpstr>Performance of parallel algorithms</vt:lpstr>
      <vt:lpstr>What bottlenecks scalability?</vt:lpstr>
      <vt:lpstr>Memory-bound algorithms</vt:lpstr>
      <vt:lpstr>Memory bandwidth &amp; performance</vt:lpstr>
      <vt:lpstr>Memory bandwidth &amp; performance</vt:lpstr>
      <vt:lpstr>Fusion and Laziness</vt:lpstr>
      <vt:lpstr>Composing sequence operations</vt:lpstr>
      <vt:lpstr>"Loop fusion"</vt:lpstr>
      <vt:lpstr>Views and lazy evaluation</vt:lpstr>
      <vt:lpstr>Parallel algorithms and fusion</vt:lpstr>
      <vt:lpstr>Range Categories</vt:lpstr>
      <vt:lpstr>Range and iterator categories</vt:lpstr>
      <vt:lpstr>Laziness and random access</vt:lpstr>
      <vt:lpstr>What we need</vt:lpstr>
      <vt:lpstr>Insight from algorithms: Scan</vt:lpstr>
      <vt:lpstr>Insight from algorithms</vt:lpstr>
      <vt:lpstr>Making blocks the focus</vt:lpstr>
      <vt:lpstr>Why block-iterable ranges?</vt:lpstr>
      <vt:lpstr>Implementation</vt:lpstr>
      <vt:lpstr>Our library</vt:lpstr>
      <vt:lpstr>Typical pattern</vt:lpstr>
      <vt:lpstr>Block-iterable transform (map)</vt:lpstr>
      <vt:lpstr>Block-iterable scan</vt:lpstr>
      <vt:lpstr>Block-iterable flatten (join)</vt:lpstr>
      <vt:lpstr>Block-iterable filter</vt:lpstr>
      <vt:lpstr>Example Applications</vt:lpstr>
      <vt:lpstr>Parallel Breadth-first Search</vt:lpstr>
      <vt:lpstr>Parallel BFS algorithm</vt:lpstr>
      <vt:lpstr>Parallel BFS speedup</vt:lpstr>
      <vt:lpstr>Parallel big integer addition</vt:lpstr>
      <vt:lpstr>Big integer addition algorithm</vt:lpstr>
      <vt:lpstr>Big integer addition speedup</vt:lpstr>
      <vt:lpstr>Check out my implementation</vt:lpstr>
      <vt:lpstr>What did we learn?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Anderson</dc:creator>
  <cp:lastModifiedBy>Daniel Anderson</cp:lastModifiedBy>
  <cp:revision>663</cp:revision>
  <dcterms:created xsi:type="dcterms:W3CDTF">2025-06-20T01:31:58Z</dcterms:created>
  <dcterms:modified xsi:type="dcterms:W3CDTF">2025-09-18T00:24:38Z</dcterms:modified>
</cp:coreProperties>
</file>